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2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行间除草是芍药管理的劳力与成本瓶颈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>
                <a:solidFill>
                  <a:srgbClr val="1E1E1E"/>
                </a:solidFill>
                <a:latin typeface="Microsoft YaHei"/>
              </a:rPr>
              <a:t>1. 人工 0.3~0.5 亩/(人·天)，占种植管理总成本 40% 以上
2. 双子叶作物行内无法选择性施药，零农残下化学除草不可用
3. 芍药为多年生宿根作物，生长早期冠层覆盖度低
4. 株间除草不在范围内，只做行间，绕开单株识别难题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3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农艺约束框定了样机的设计边界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行距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30~40 cm，轮距与刀间距机械可调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地形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0~15°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目标耕深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30 mm、误差 ±5 mm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物候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多年生宿根，早期冠层覆盖度低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4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八类除草机构逐个筛，六类被排除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BODY"/>
          <p:cNvSpPr txBox="1"/>
          <p:nvPr/>
        </p:nvSpPr>
        <p:spPr>
          <a:xfrm>
            <a:off x="960120" y="2860726"/>
            <a:ext cx="10287000" cy="15388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E1E1E"/>
                </a:solidFill>
                <a:latin typeface="Microsoft YaHei"/>
              </a:rPr>
              <a:t>1. 评价维度：通过性·伤苗风险·入土稳定性·抗堵·窄行适配·造价
2. 圆盘割刀、旋转锄：需附加驱动且扰动大，易伤宿根根系
3. 立式除草轮与梳齿轮、往复切割器：面向密植株间，窄行间通过性差
4. 激光与火焰、机械臂拔草：能耗与节拍不匹配
5. 化学除草：行内无选择性，零农残要求下不可用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5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入选两类：鸭掌铲主选，弹齿作对比</a:t>
            </a:r>
          </a:p>
        </p:txBody>
      </p:sp>
      <p:sp>
        <p:nvSpPr>
          <p:cNvPr id="15" name="AGENT_COLUMN_HEAD_0"/>
          <p:cNvSpPr txBox="1"/>
          <p:nvPr/>
        </p:nvSpPr>
        <p:spPr>
          <a:xfrm>
            <a:off x="868680" y="150876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8B0D18"/>
                </a:solidFill>
                <a:latin typeface="Microsoft YaHei"/>
              </a:rPr>
              <a:t>鸭掌铲 —— 主选</a:t>
            </a:r>
          </a:p>
        </p:txBody>
      </p:sp>
      <p:sp>
        <p:nvSpPr>
          <p:cNvPr id="16" name="AGENT_BODY"/>
          <p:cNvSpPr txBox="1"/>
          <p:nvPr/>
        </p:nvSpPr>
        <p:spPr>
          <a:xfrm>
            <a:off x="868680" y="3242101"/>
            <a:ext cx="470916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dirty="0">
                <a:solidFill>
                  <a:srgbClr val="1E1E1E"/>
                </a:solidFill>
                <a:latin typeface="Microsoft YaHei"/>
              </a:rPr>
              <a:t>1. 铲刃切削，切根干净
2. 结构简单，与三梁升降兼容
</a:t>
            </a:r>
          </a:p>
        </p:txBody>
      </p:sp>
      <p:sp>
        <p:nvSpPr>
          <p:cNvPr id="17" name="AGENT_COLUMN_HEAD_1"/>
          <p:cNvSpPr txBox="1"/>
          <p:nvPr/>
        </p:nvSpPr>
        <p:spPr>
          <a:xfrm>
            <a:off x="6217920" y="150876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8B0D18"/>
                </a:solidFill>
                <a:latin typeface="Microsoft YaHei"/>
              </a:rPr>
              <a:t>弹齿 —— 作对比保留</a:t>
            </a:r>
          </a:p>
        </p:txBody>
      </p:sp>
      <p:sp>
        <p:nvSpPr>
          <p:cNvPr id="18" name="AGENT_BODY"/>
          <p:cNvSpPr txBox="1"/>
          <p:nvPr/>
        </p:nvSpPr>
        <p:spPr>
          <a:xfrm>
            <a:off x="6217920" y="3242101"/>
            <a:ext cx="470916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dirty="0">
                <a:solidFill>
                  <a:srgbClr val="1E1E1E"/>
                </a:solidFill>
                <a:latin typeface="Microsoft YaHei"/>
              </a:rPr>
              <a:t>1. 峰值阻力低，抗冲击好
2. 切根深度一致性差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6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技术路线：单一相机到刀具位移的四段链路</a:t>
            </a:r>
          </a:p>
        </p:txBody>
      </p:sp>
      <p:sp>
        <p:nvSpPr>
          <p:cNvPr id="15" name="AGENT_STEP_BOX_0"/>
          <p:cNvSpPr/>
          <p:nvPr/>
        </p:nvSpPr>
        <p:spPr>
          <a:xfrm>
            <a:off x="105156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STEP_TEXT_0"/>
          <p:cNvSpPr txBox="1"/>
          <p:nvPr/>
        </p:nvSpPr>
        <p:spPr>
          <a:xfrm>
            <a:off x="1124712" y="2880360"/>
            <a:ext cx="21991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  <a:latin typeface="Microsoft YaHei"/>
              </a:rPr>
              <a:t>语义分割 作物墙</a:t>
            </a:r>
          </a:p>
        </p:txBody>
      </p:sp>
      <p:sp>
        <p:nvSpPr>
          <p:cNvPr id="17" name="AGENT_STEP_ARROW_0"/>
          <p:cNvSpPr txBox="1"/>
          <p:nvPr/>
        </p:nvSpPr>
        <p:spPr>
          <a:xfrm>
            <a:off x="3470148" y="2935224"/>
            <a:ext cx="164592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18" name="AGENT_STEP_BOX_1"/>
          <p:cNvSpPr/>
          <p:nvPr/>
        </p:nvSpPr>
        <p:spPr>
          <a:xfrm>
            <a:off x="354330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GENT_STEP_TEXT_1"/>
          <p:cNvSpPr txBox="1"/>
          <p:nvPr/>
        </p:nvSpPr>
        <p:spPr>
          <a:xfrm>
            <a:off x="3616452" y="2880360"/>
            <a:ext cx="21991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  <a:latin typeface="Microsoft YaHei"/>
              </a:rPr>
              <a:t>双墙拟合 导航线</a:t>
            </a:r>
          </a:p>
        </p:txBody>
      </p:sp>
      <p:sp>
        <p:nvSpPr>
          <p:cNvPr id="20" name="AGENT_STEP_ARROW_1"/>
          <p:cNvSpPr txBox="1"/>
          <p:nvPr/>
        </p:nvSpPr>
        <p:spPr>
          <a:xfrm>
            <a:off x="5961888" y="2935224"/>
            <a:ext cx="164592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1" name="AGENT_STEP_BOX_2"/>
          <p:cNvSpPr/>
          <p:nvPr/>
        </p:nvSpPr>
        <p:spPr>
          <a:xfrm>
            <a:off x="603504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GENT_STEP_TEXT_2"/>
          <p:cNvSpPr txBox="1"/>
          <p:nvPr/>
        </p:nvSpPr>
        <p:spPr>
          <a:xfrm>
            <a:off x="6108192" y="2880360"/>
            <a:ext cx="21991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  <a:latin typeface="Microsoft YaHei"/>
              </a:rPr>
              <a:t>横向偏差解算</a:t>
            </a:r>
          </a:p>
        </p:txBody>
      </p:sp>
      <p:sp>
        <p:nvSpPr>
          <p:cNvPr id="23" name="AGENT_STEP_ARROW_2"/>
          <p:cNvSpPr txBox="1"/>
          <p:nvPr/>
        </p:nvSpPr>
        <p:spPr>
          <a:xfrm>
            <a:off x="8453628" y="2935224"/>
            <a:ext cx="164592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4" name="AGENT_STEP_BOX_3"/>
          <p:cNvSpPr/>
          <p:nvPr/>
        </p:nvSpPr>
        <p:spPr>
          <a:xfrm>
            <a:off x="852678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GENT_STEP_TEXT_3"/>
          <p:cNvSpPr txBox="1"/>
          <p:nvPr/>
        </p:nvSpPr>
        <p:spPr>
          <a:xfrm>
            <a:off x="8599932" y="2880360"/>
            <a:ext cx="21991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  <a:latin typeface="Microsoft YaHei"/>
              </a:rPr>
              <a:t>底盘与中间刀执行</a:t>
            </a:r>
          </a:p>
        </p:txBody>
      </p:sp>
      <p:sp>
        <p:nvSpPr>
          <p:cNvPr id="26" name="AGENT_BODY"/>
          <p:cNvSpPr txBox="1"/>
          <p:nvPr/>
        </p:nvSpPr>
        <p:spPr>
          <a:xfrm>
            <a:off x="1005840" y="4251960"/>
            <a:ext cx="9966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1. 不依赖 RTK 与激光雷达，横向位置全部来自单目相机
2. 车端只做采集与执行，PC 集中决策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7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跨 4 行作业，3 条草带由 2 侧刀加 1 中间刀清除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>
                <a:solidFill>
                  <a:srgbClr val="1E1E1E"/>
                </a:solidFill>
                <a:latin typeface="Microsoft YaHei"/>
              </a:rPr>
              <a:t>1. 底盘跨 4 行芍药通过，一次作业清除 3 条行间草带
2. 左右 2 把侧刀固定在刀梁上，只管进土不管横移
3. 中间 1 把刀装在滑台上，可左右横移做主动对行
4. 3 根电推杆分别管三个刀梁的升降（48 V，行程 200 mm）
5. 控制板 STM32F407ZGT6，48 V 输入经 DC-DC 出 24 V 与 12 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8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底盘粗纠偏加刀具细对行，比只纠底盘更可行</a:t>
            </a:r>
          </a:p>
        </p:txBody>
      </p:sp>
      <p:sp>
        <p:nvSpPr>
          <p:cNvPr id="15" name="AGENT_COLUMN_HEAD_0"/>
          <p:cNvSpPr txBox="1"/>
          <p:nvPr/>
        </p:nvSpPr>
        <p:spPr>
          <a:xfrm>
            <a:off x="868680" y="150876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8B0D18"/>
                </a:solidFill>
                <a:latin typeface="Microsoft YaHei"/>
              </a:rPr>
              <a:t>只靠底盘纠偏</a:t>
            </a:r>
          </a:p>
        </p:txBody>
      </p:sp>
      <p:sp>
        <p:nvSpPr>
          <p:cNvPr id="16" name="AGENT_BODY"/>
          <p:cNvSpPr txBox="1"/>
          <p:nvPr/>
        </p:nvSpPr>
        <p:spPr>
          <a:xfrm>
            <a:off x="868680" y="1965960"/>
            <a:ext cx="4709160" cy="3383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1. 整车惯量大、响应慢
2. 厘米级细对行会走成蛇形
3. 坡地侧滑与轮胎变形难补偿</a:t>
            </a:r>
          </a:p>
        </p:txBody>
      </p:sp>
      <p:sp>
        <p:nvSpPr>
          <p:cNvPr id="17" name="AGENT_COLUMN_HEAD_1"/>
          <p:cNvSpPr txBox="1"/>
          <p:nvPr/>
        </p:nvSpPr>
        <p:spPr>
          <a:xfrm>
            <a:off x="6217920" y="150876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8B0D18"/>
                </a:solidFill>
                <a:latin typeface="Microsoft YaHei"/>
              </a:rPr>
              <a:t>底盘纵向 + 刀具横向</a:t>
            </a:r>
          </a:p>
        </p:txBody>
      </p:sp>
      <p:sp>
        <p:nvSpPr>
          <p:cNvPr id="18" name="AGENT_BODY"/>
          <p:cNvSpPr txBox="1"/>
          <p:nvPr/>
        </p:nvSpPr>
        <p:spPr>
          <a:xfrm>
            <a:off x="6217920" y="1965960"/>
            <a:ext cx="4709160" cy="3383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1. 底盘保持沿行，只做粗纠
2. 小惯量滑台做厘米级细对行
3. 滑台 300 mm 行程，尚未接线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9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分割选 DeepLabV3+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>
                <a:solidFill>
                  <a:srgbClr val="1E1E1E"/>
                </a:solidFill>
                <a:latin typeface="Microsoft YaHei"/>
              </a:rPr>
              <a:t>1. 任务是二分类：作物 / 背景（背景含杂草与裸土）
2. 选 DeepLabV3+ 配 MobileNetV2：端侧算力与实时性优先
3. 不追高分辨率网络：要的是墙的位置，不是像素级轮廓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10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分割分数不等于能导航，评价要分三层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>
                <a:solidFill>
                  <a:srgbClr val="1E1E1E"/>
                </a:solidFill>
                <a:latin typeface="Microsoft YaHei"/>
              </a:rPr>
              <a:t>1. 大片裸土分对，不保证近作物那几十像素边界准
2. 对刀具而言，少量边界像素错就可能造成明显偏移
3. 三层评价：分割指标 / 导航线误差与失效 / 田间效果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11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行墙提取分远近两场，三条目标线要分开</a:t>
            </a:r>
          </a:p>
        </p:txBody>
      </p:sp>
      <p:sp>
        <p:nvSpPr>
          <p:cNvPr id="15" name="AGENT_STEP_BOX_0"/>
          <p:cNvSpPr/>
          <p:nvPr/>
        </p:nvSpPr>
        <p:spPr>
          <a:xfrm>
            <a:off x="1051560" y="2743200"/>
            <a:ext cx="1847088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STEP_TEXT_0"/>
          <p:cNvSpPr txBox="1"/>
          <p:nvPr/>
        </p:nvSpPr>
        <p:spPr>
          <a:xfrm>
            <a:off x="1124712" y="2880360"/>
            <a:ext cx="17007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  <a:latin typeface="Microsoft YaHei"/>
              </a:rPr>
              <a:t>去畸变</a:t>
            </a:r>
          </a:p>
        </p:txBody>
      </p:sp>
      <p:sp>
        <p:nvSpPr>
          <p:cNvPr id="17" name="AGENT_STEP_ARROW_0"/>
          <p:cNvSpPr txBox="1"/>
          <p:nvPr/>
        </p:nvSpPr>
        <p:spPr>
          <a:xfrm>
            <a:off x="2971800" y="2935224"/>
            <a:ext cx="164592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18" name="AGENT_STEP_BOX_1"/>
          <p:cNvSpPr/>
          <p:nvPr/>
        </p:nvSpPr>
        <p:spPr>
          <a:xfrm>
            <a:off x="3044952" y="2743200"/>
            <a:ext cx="1847088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GENT_STEP_TEXT_1"/>
          <p:cNvSpPr txBox="1"/>
          <p:nvPr/>
        </p:nvSpPr>
        <p:spPr>
          <a:xfrm>
            <a:off x="3118104" y="2880360"/>
            <a:ext cx="17007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  <a:latin typeface="Microsoft YaHei"/>
              </a:rPr>
              <a:t>IPM 投影</a:t>
            </a:r>
          </a:p>
        </p:txBody>
      </p:sp>
      <p:sp>
        <p:nvSpPr>
          <p:cNvPr id="20" name="AGENT_STEP_ARROW_1"/>
          <p:cNvSpPr txBox="1"/>
          <p:nvPr/>
        </p:nvSpPr>
        <p:spPr>
          <a:xfrm>
            <a:off x="4965192" y="2935224"/>
            <a:ext cx="164592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1" name="AGENT_STEP_BOX_2"/>
          <p:cNvSpPr/>
          <p:nvPr/>
        </p:nvSpPr>
        <p:spPr>
          <a:xfrm>
            <a:off x="5038344" y="2743200"/>
            <a:ext cx="1847088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GENT_STEP_TEXT_2"/>
          <p:cNvSpPr txBox="1"/>
          <p:nvPr/>
        </p:nvSpPr>
        <p:spPr>
          <a:xfrm>
            <a:off x="5111496" y="2880360"/>
            <a:ext cx="17007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  <a:latin typeface="Microsoft YaHei"/>
              </a:rPr>
              <a:t>双墙拟合</a:t>
            </a:r>
          </a:p>
        </p:txBody>
      </p:sp>
      <p:sp>
        <p:nvSpPr>
          <p:cNvPr id="23" name="AGENT_STEP_ARROW_2"/>
          <p:cNvSpPr txBox="1"/>
          <p:nvPr/>
        </p:nvSpPr>
        <p:spPr>
          <a:xfrm>
            <a:off x="6958584" y="2935224"/>
            <a:ext cx="164592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4" name="AGENT_STEP_BOX_3"/>
          <p:cNvSpPr/>
          <p:nvPr/>
        </p:nvSpPr>
        <p:spPr>
          <a:xfrm>
            <a:off x="7031736" y="2743200"/>
            <a:ext cx="1847088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GENT_STEP_TEXT_3"/>
          <p:cNvSpPr txBox="1"/>
          <p:nvPr/>
        </p:nvSpPr>
        <p:spPr>
          <a:xfrm>
            <a:off x="7104888" y="2880360"/>
            <a:ext cx="17007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  <a:latin typeface="Microsoft YaHei"/>
              </a:rPr>
              <a:t>远/近场中心线</a:t>
            </a:r>
          </a:p>
        </p:txBody>
      </p:sp>
      <p:sp>
        <p:nvSpPr>
          <p:cNvPr id="26" name="AGENT_STEP_ARROW_3"/>
          <p:cNvSpPr txBox="1"/>
          <p:nvPr/>
        </p:nvSpPr>
        <p:spPr>
          <a:xfrm>
            <a:off x="8951976" y="2935224"/>
            <a:ext cx="164592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7" name="AGENT_STEP_BOX_4"/>
          <p:cNvSpPr/>
          <p:nvPr/>
        </p:nvSpPr>
        <p:spPr>
          <a:xfrm>
            <a:off x="9025128" y="2743200"/>
            <a:ext cx="1847088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GENT_STEP_TEXT_4"/>
          <p:cNvSpPr txBox="1"/>
          <p:nvPr/>
        </p:nvSpPr>
        <p:spPr>
          <a:xfrm>
            <a:off x="9098280" y="2880360"/>
            <a:ext cx="17007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  <a:latin typeface="Microsoft YaHei"/>
              </a:rPr>
              <a:t>横向偏差</a:t>
            </a:r>
          </a:p>
        </p:txBody>
      </p:sp>
      <p:sp>
        <p:nvSpPr>
          <p:cNvPr id="29" name="AGENT_BODY"/>
          <p:cNvSpPr txBox="1"/>
          <p:nvPr/>
        </p:nvSpPr>
        <p:spPr>
          <a:xfrm>
            <a:off x="1005840" y="4251960"/>
            <a:ext cx="9966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1. 作物行中心 / 通道中心 / 作业带中心，三者可能不重合
2. 不重合的原因：农艺保护带、叶片伸展、刀具宽度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12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轨迹跟踪用 PD 加横向速率阻尼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BODY"/>
          <p:cNvSpPr txBox="1"/>
          <p:nvPr/>
        </p:nvSpPr>
        <p:spPr>
          <a:xfrm>
            <a:off x="960120" y="2860726"/>
            <a:ext cx="10287000" cy="15388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E1E1E"/>
                </a:solidFill>
                <a:latin typeface="Microsoft YaHei"/>
              </a:rPr>
              <a:t>1. 控制律 PD(e, ė)：e 为横向偏差，ė 由相邻帧估计
2. 为什么加 ė：只看 e 会振荡，阻尼项用来压超调
3. 时延补偿取 e + ė·τ，不用前移量 v·τ（两者不同源）
4. 当前 AUTO 只发左右轮速，四轮转角在 AUTO 下强制回零
5. 转向几何按前轮 Ackermann + 后轮回正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13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中间刀还不能叫闭环：刀到位了，相机看不出来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E1E1E"/>
                </a:solidFill>
                <a:latin typeface="Microsoft YaHei"/>
              </a:rPr>
              <a:t>1. 相机装在车架上，量的是“行相对车”的偏移
2. 刀在滑台上移过去了，图像里那个偏移量并不会变小
3. 现在代码把这个不变量当误差，输出会一直加到 50 mm 限幅（纯函数复现，非整车）
4. 真误差 = 目标刀位（图像给）− 刀位实测 q（现在没有）
5. 所以先补刀位测量，再谈主动对刀闭环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14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升降管三梁、横移管中间刀，两套机构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升降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3×电推杆 48 V／200 mm／10 mm/s／3000 N，被动进土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267712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37744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横移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377440"/>
            <a:ext cx="7909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48 V 直流伺服 + 300 mm 导轨 + 8 mm 导程丝杆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118104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227832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控制形态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227832"/>
            <a:ext cx="7909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固件为二值开关，仅提刀／落刀两态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3968496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078224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默认态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078224"/>
            <a:ext cx="7909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上电全提刀；急停时三梁同时提刀</a:t>
            </a:r>
          </a:p>
        </p:txBody>
      </p:sp>
      <p:sp>
        <p:nvSpPr>
          <p:cNvPr id="27" name="AGENT_SUMMARY_LINE_4"/>
          <p:cNvSpPr/>
          <p:nvPr/>
        </p:nvSpPr>
        <p:spPr>
          <a:xfrm>
            <a:off x="868680" y="4818888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15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开放问题：刀上发生了什么，机器不知道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>
                <a:solidFill>
                  <a:srgbClr val="1E1E1E"/>
                </a:solidFill>
                <a:latin typeface="Microsoft YaHei"/>
              </a:rPr>
              <a:t>1. 挂草缠绕与撞石头都要求立刻抬刀，现在两条都做不到
2. 电推杆只有通电正反转，无位置与负载反馈；协议里也没有深度字段
3. 撞石是瞬时冲击：10 mm/s 抬 50 mm 要 5 秒，靠推杆根本来不及
4. 挂草是缓变负载：可试用电流判据，但通道覆盖推杆待跟线且阈值须台架标定
5. 后果：轻则漏草，重则刀体变形、推杆烧毁、伤芍药根系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立题与约束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除草机构选型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设计与控制原理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进土深度问题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Microsoft YaHei"/>
              </a:rPr>
              <a:t>小结与讨论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Microsoft YaHei"/>
              </a:rPr>
              <a:t>16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>
                <a:solidFill>
                  <a:srgbClr val="8B0D18"/>
                </a:solidFill>
                <a:latin typeface="Microsoft YaHei"/>
              </a:rPr>
              <a:t>分两层解：先机械保机，再电流辨草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撞石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瞬时过载靠机械卸载：剪切销或弹簧避障，遇阻刀自退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挂草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缓变负载靠电机电流趋势检测，阈值须台架标定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抬刀速度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现有 10 mm/s 不够，需评估大导程或弹簧快抬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8B0D18"/>
                </a:solidFill>
                <a:latin typeface="Microsoft YaHei"/>
              </a:rPr>
              <a:t>前置条件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Microsoft YaHei"/>
              </a:rPr>
              <a:t>刀梁接入方式与推杆电流采样通道待实物确认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692</Words>
  <Application>Microsoft Office PowerPoint</Application>
  <PresentationFormat>宽屏</PresentationFormat>
  <Paragraphs>163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顶浩 杨</cp:lastModifiedBy>
  <cp:revision>6</cp:revision>
  <dcterms:created xsi:type="dcterms:W3CDTF">2013-01-27T09:14:16Z</dcterms:created>
  <dcterms:modified xsi:type="dcterms:W3CDTF">2026-09-23T02:37:59Z</dcterms:modified>
  <cp:category/>
</cp:coreProperties>
</file>