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9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创新点定稿：方法为核心，装置为载体</a:t>
            </a:r>
          </a:p>
        </p:txBody>
      </p:sp>
      <p:sp>
        <p:nvSpPr>
          <p:cNvPr id="15" name="AGENT_SUMMARY_LINE_0"/>
          <p:cNvSpPr/>
          <p:nvPr/>
        </p:nvSpPr>
        <p:spPr>
          <a:xfrm>
            <a:off x="868680" y="141732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SUMMARY_LABEL_0"/>
          <p:cNvSpPr txBox="1"/>
          <p:nvPr/>
        </p:nvSpPr>
        <p:spPr>
          <a:xfrm>
            <a:off x="960120" y="152704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创新点1</a:t>
            </a:r>
          </a:p>
        </p:txBody>
      </p:sp>
      <p:sp>
        <p:nvSpPr>
          <p:cNvPr id="17" name="AGENT_SUMMARY_VALUE_0"/>
          <p:cNvSpPr txBox="1"/>
          <p:nvPr/>
        </p:nvSpPr>
        <p:spPr>
          <a:xfrm>
            <a:off x="2926080" y="152704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三刀装置 + 双墙约束主动对行方法（核心）</a:t>
            </a:r>
          </a:p>
        </p:txBody>
      </p:sp>
      <p:sp>
        <p:nvSpPr>
          <p:cNvPr id="18" name="AGENT_SUMMARY_LINE_1"/>
          <p:cNvSpPr/>
          <p:nvPr/>
        </p:nvSpPr>
        <p:spPr>
          <a:xfrm>
            <a:off x="868680" y="248031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GENT_SUMMARY_LABEL_1"/>
          <p:cNvSpPr txBox="1"/>
          <p:nvPr/>
        </p:nvSpPr>
        <p:spPr>
          <a:xfrm>
            <a:off x="960120" y="259003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创新点2</a:t>
            </a:r>
          </a:p>
        </p:txBody>
      </p:sp>
      <p:sp>
        <p:nvSpPr>
          <p:cNvPr id="20" name="AGENT_SUMMARY_VALUE_1"/>
          <p:cNvSpPr txBox="1"/>
          <p:nvPr/>
        </p:nvSpPr>
        <p:spPr>
          <a:xfrm>
            <a:off x="2926080" y="259003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限深仿形机构设计与刀头对比优化</a:t>
            </a:r>
          </a:p>
        </p:txBody>
      </p:sp>
      <p:sp>
        <p:nvSpPr>
          <p:cNvPr id="21" name="AGENT_SUMMARY_LINE_2"/>
          <p:cNvSpPr/>
          <p:nvPr/>
        </p:nvSpPr>
        <p:spPr>
          <a:xfrm>
            <a:off x="868680" y="354330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GENT_SUMMARY_LABEL_2"/>
          <p:cNvSpPr txBox="1"/>
          <p:nvPr/>
        </p:nvSpPr>
        <p:spPr>
          <a:xfrm>
            <a:off x="960120" y="365302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后备点3</a:t>
            </a:r>
          </a:p>
        </p:txBody>
      </p:sp>
      <p:sp>
        <p:nvSpPr>
          <p:cNvPr id="23" name="AGENT_SUMMARY_VALUE_2"/>
          <p:cNvSpPr txBox="1"/>
          <p:nvPr/>
        </p:nvSpPr>
        <p:spPr>
          <a:xfrm>
            <a:off x="2926080" y="365302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时延前馈补偿，视试验显著性决定升格</a:t>
            </a:r>
          </a:p>
        </p:txBody>
      </p:sp>
      <p:sp>
        <p:nvSpPr>
          <p:cNvPr id="24" name="AGENT_SUMMARY_LINE_3"/>
          <p:cNvSpPr/>
          <p:nvPr/>
        </p:nvSpPr>
        <p:spPr>
          <a:xfrm>
            <a:off x="868680" y="4606290"/>
            <a:ext cx="10378440" cy="10972"/>
          </a:xfrm>
          <a:prstGeom prst="rect">
            <a:avLst/>
          </a:prstGeom>
          <a:solidFill>
            <a:srgbClr val="8B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GENT_SUMMARY_LABEL_3"/>
          <p:cNvSpPr txBox="1"/>
          <p:nvPr/>
        </p:nvSpPr>
        <p:spPr>
          <a:xfrm>
            <a:off x="960120" y="4716018"/>
            <a:ext cx="182880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ea="Microsoft YaHei">
                <a:solidFill>
                  <a:srgbClr val="8B0D18"/>
                </a:solidFill>
                <a:latin typeface="Microsoft YaHei"/>
              </a:rPr>
              <a:t>证据</a:t>
            </a:r>
          </a:p>
        </p:txBody>
      </p:sp>
      <p:sp>
        <p:nvSpPr>
          <p:cNvPr id="26" name="AGENT_SUMMARY_VALUE_3"/>
          <p:cNvSpPr txBox="1"/>
          <p:nvPr/>
        </p:nvSpPr>
        <p:spPr>
          <a:xfrm>
            <a:off x="2926080" y="4716018"/>
            <a:ext cx="7909560" cy="8983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ea="Microsoft YaHei">
                <a:solidFill>
                  <a:srgbClr val="1E1E1E"/>
                </a:solidFill>
                <a:latin typeface="Microsoft YaHei"/>
              </a:rPr>
              <a:t>主动 vs 固定刀对比试验直接验证方法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