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GENT_NAV_SLOT_0"/>
          <p:cNvSpPr/>
          <p:nvPr/>
        </p:nvSpPr>
        <p:spPr>
          <a:xfrm>
            <a:off x="146304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GENT_NAV_LABEL_0"/>
          <p:cNvSpPr txBox="1"/>
          <p:nvPr/>
        </p:nvSpPr>
        <p:spPr>
          <a:xfrm>
            <a:off x="146304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研究背景</a:t>
            </a:r>
          </a:p>
        </p:txBody>
      </p:sp>
      <p:sp>
        <p:nvSpPr>
          <p:cNvPr id="4" name="AGENT_NAV_SLOT_1"/>
          <p:cNvSpPr/>
          <p:nvPr/>
        </p:nvSpPr>
        <p:spPr>
          <a:xfrm>
            <a:off x="2525572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GENT_NAV_LABEL_1"/>
          <p:cNvSpPr txBox="1"/>
          <p:nvPr/>
        </p:nvSpPr>
        <p:spPr>
          <a:xfrm>
            <a:off x="2525572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总体方案</a:t>
            </a:r>
          </a:p>
        </p:txBody>
      </p:sp>
      <p:sp>
        <p:nvSpPr>
          <p:cNvPr id="6" name="AGENT_NAV_SLOT_2"/>
          <p:cNvSpPr/>
          <p:nvPr/>
        </p:nvSpPr>
        <p:spPr>
          <a:xfrm>
            <a:off x="4904841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GENT_NAV_LABEL_2"/>
          <p:cNvSpPr txBox="1"/>
          <p:nvPr/>
        </p:nvSpPr>
        <p:spPr>
          <a:xfrm>
            <a:off x="4904841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理论方法</a:t>
            </a:r>
          </a:p>
        </p:txBody>
      </p:sp>
      <p:sp>
        <p:nvSpPr>
          <p:cNvPr id="8" name="AGENT_NAV_SLOT_3"/>
          <p:cNvSpPr/>
          <p:nvPr/>
        </p:nvSpPr>
        <p:spPr>
          <a:xfrm>
            <a:off x="7284110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GENT_NAV_LABEL_3"/>
          <p:cNvSpPr txBox="1"/>
          <p:nvPr/>
        </p:nvSpPr>
        <p:spPr>
          <a:xfrm>
            <a:off x="7284110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试验设计</a:t>
            </a:r>
          </a:p>
        </p:txBody>
      </p:sp>
      <p:sp>
        <p:nvSpPr>
          <p:cNvPr id="10" name="AGENT_NAV_SLOT_4"/>
          <p:cNvSpPr/>
          <p:nvPr/>
        </p:nvSpPr>
        <p:spPr>
          <a:xfrm>
            <a:off x="9663379" y="27432"/>
            <a:ext cx="2379268" cy="347472"/>
          </a:xfrm>
          <a:prstGeom prst="rect">
            <a:avLst/>
          </a:prstGeom>
          <a:solidFill>
            <a:srgbClr val="8B0D18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GENT_NAV_LABEL_4"/>
          <p:cNvSpPr txBox="1"/>
          <p:nvPr/>
        </p:nvSpPr>
        <p:spPr>
          <a:xfrm>
            <a:off x="9663379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 ea="Microsoft YaHei">
                <a:solidFill>
                  <a:srgbClr val="FFFFFF"/>
                </a:solidFill>
                <a:latin typeface="Microsoft YaHei"/>
              </a:rPr>
              <a:t>进度与计划</a:t>
            </a:r>
          </a:p>
        </p:txBody>
      </p:sp>
      <p:sp>
        <p:nvSpPr>
          <p:cNvPr id="12" name="AGENT_FOOTER"/>
          <p:cNvSpPr txBox="1"/>
          <p:nvPr/>
        </p:nvSpPr>
        <p:spPr>
          <a:xfrm>
            <a:off x="320040" y="6510528"/>
            <a:ext cx="859536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纯视觉芍药行间除草机器人 · 组会进展汇报 · 2026-09-07</a:t>
            </a:r>
          </a:p>
        </p:txBody>
      </p:sp>
      <p:sp>
        <p:nvSpPr>
          <p:cNvPr id="13" name="AGENT_PAGE_NUMBER"/>
          <p:cNvSpPr txBox="1"/>
          <p:nvPr/>
        </p:nvSpPr>
        <p:spPr>
          <a:xfrm>
            <a:off x="11521440" y="6501384"/>
            <a:ext cx="256032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11</a:t>
            </a:r>
          </a:p>
        </p:txBody>
      </p:sp>
      <p:sp>
        <p:nvSpPr>
          <p:cNvPr id="14" name="AGENT_TITLE"/>
          <p:cNvSpPr txBox="1"/>
          <p:nvPr/>
        </p:nvSpPr>
        <p:spPr>
          <a:xfrm>
            <a:off x="320040" y="539496"/>
            <a:ext cx="1129284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0" ea="Microsoft YaHei">
                <a:solidFill>
                  <a:srgbClr val="8B0D18"/>
                </a:solidFill>
                <a:latin typeface="Microsoft YaHei"/>
              </a:rPr>
              <a:t>代码与固件侧交付已全部完成</a:t>
            </a:r>
          </a:p>
        </p:txBody>
      </p:sp>
      <p:sp>
        <p:nvSpPr>
          <p:cNvPr id="15" name="AGENT_SUMMARY_LINE_0"/>
          <p:cNvSpPr/>
          <p:nvPr/>
        </p:nvSpPr>
        <p:spPr>
          <a:xfrm>
            <a:off x="868680" y="1417320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GENT_SUMMARY_LABEL_0"/>
          <p:cNvSpPr txBox="1"/>
          <p:nvPr/>
        </p:nvSpPr>
        <p:spPr>
          <a:xfrm>
            <a:off x="960120" y="1527048"/>
            <a:ext cx="182880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ea="Microsoft YaHei">
                <a:solidFill>
                  <a:srgbClr val="8B0D18"/>
                </a:solidFill>
                <a:latin typeface="Microsoft YaHei"/>
              </a:rPr>
              <a:t>算法</a:t>
            </a:r>
          </a:p>
        </p:txBody>
      </p:sp>
      <p:sp>
        <p:nvSpPr>
          <p:cNvPr id="17" name="AGENT_SUMMARY_VALUE_0"/>
          <p:cNvSpPr txBox="1"/>
          <p:nvPr/>
        </p:nvSpPr>
        <p:spPr>
          <a:xfrm>
            <a:off x="2926080" y="1527048"/>
            <a:ext cx="790956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感知/控制/状态机/协议全链路，35 项测试通过</a:t>
            </a:r>
          </a:p>
        </p:txBody>
      </p:sp>
      <p:sp>
        <p:nvSpPr>
          <p:cNvPr id="18" name="AGENT_SUMMARY_LINE_1"/>
          <p:cNvSpPr/>
          <p:nvPr/>
        </p:nvSpPr>
        <p:spPr>
          <a:xfrm>
            <a:off x="868680" y="2480310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GENT_SUMMARY_LABEL_1"/>
          <p:cNvSpPr txBox="1"/>
          <p:nvPr/>
        </p:nvSpPr>
        <p:spPr>
          <a:xfrm>
            <a:off x="960120" y="2590038"/>
            <a:ext cx="182880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ea="Microsoft YaHei">
                <a:solidFill>
                  <a:srgbClr val="8B0D18"/>
                </a:solidFill>
                <a:latin typeface="Microsoft YaHei"/>
              </a:rPr>
              <a:t>固件</a:t>
            </a:r>
          </a:p>
        </p:txBody>
      </p:sp>
      <p:sp>
        <p:nvSpPr>
          <p:cNvPr id="20" name="AGENT_SUMMARY_VALUE_1"/>
          <p:cNvSpPr txBox="1"/>
          <p:nvPr/>
        </p:nvSpPr>
        <p:spPr>
          <a:xfrm>
            <a:off x="2926080" y="2590038"/>
            <a:ext cx="790956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双指令源+三级看门狗，Keil 编译 0 错误</a:t>
            </a:r>
          </a:p>
        </p:txBody>
      </p:sp>
      <p:sp>
        <p:nvSpPr>
          <p:cNvPr id="21" name="AGENT_SUMMARY_LINE_2"/>
          <p:cNvSpPr/>
          <p:nvPr/>
        </p:nvSpPr>
        <p:spPr>
          <a:xfrm>
            <a:off x="868680" y="3543300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AGENT_SUMMARY_LABEL_2"/>
          <p:cNvSpPr txBox="1"/>
          <p:nvPr/>
        </p:nvSpPr>
        <p:spPr>
          <a:xfrm>
            <a:off x="960120" y="3653028"/>
            <a:ext cx="182880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ea="Microsoft YaHei">
                <a:solidFill>
                  <a:srgbClr val="8B0D18"/>
                </a:solidFill>
                <a:latin typeface="Microsoft YaHei"/>
              </a:rPr>
              <a:t>安全</a:t>
            </a:r>
          </a:p>
        </p:txBody>
      </p:sp>
      <p:sp>
        <p:nvSpPr>
          <p:cNvPr id="23" name="AGENT_SUMMARY_VALUE_2"/>
          <p:cNvSpPr txBox="1"/>
          <p:nvPr/>
        </p:nvSpPr>
        <p:spPr>
          <a:xfrm>
            <a:off x="2926080" y="3653028"/>
            <a:ext cx="790956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驱动门控接入真实路径，急停帧显式下发</a:t>
            </a:r>
          </a:p>
        </p:txBody>
      </p:sp>
      <p:sp>
        <p:nvSpPr>
          <p:cNvPr id="24" name="AGENT_SUMMARY_LINE_3"/>
          <p:cNvSpPr/>
          <p:nvPr/>
        </p:nvSpPr>
        <p:spPr>
          <a:xfrm>
            <a:off x="868680" y="4606290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AGENT_SUMMARY_LABEL_3"/>
          <p:cNvSpPr txBox="1"/>
          <p:nvPr/>
        </p:nvSpPr>
        <p:spPr>
          <a:xfrm>
            <a:off x="960120" y="4716018"/>
            <a:ext cx="182880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ea="Microsoft YaHei">
                <a:solidFill>
                  <a:srgbClr val="8B0D18"/>
                </a:solidFill>
                <a:latin typeface="Microsoft YaHei"/>
              </a:rPr>
              <a:t>评审</a:t>
            </a:r>
          </a:p>
        </p:txBody>
      </p:sp>
      <p:sp>
        <p:nvSpPr>
          <p:cNvPr id="26" name="AGENT_SUMMARY_VALUE_3"/>
          <p:cNvSpPr txBox="1"/>
          <p:nvPr/>
        </p:nvSpPr>
        <p:spPr>
          <a:xfrm>
            <a:off x="2926080" y="4716018"/>
            <a:ext cx="790956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外部 12 条意见逐条采纳/驳回并留档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