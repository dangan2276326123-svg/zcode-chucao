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GENT_NAV_SLOT_0"/>
          <p:cNvSpPr/>
          <p:nvPr/>
        </p:nvSpPr>
        <p:spPr>
          <a:xfrm>
            <a:off x="146304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GENT_NAV_LABEL_0"/>
          <p:cNvSpPr txBox="1"/>
          <p:nvPr/>
        </p:nvSpPr>
        <p:spPr>
          <a:xfrm>
            <a:off x="146304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研究背景</a:t>
            </a:r>
          </a:p>
        </p:txBody>
      </p:sp>
      <p:sp>
        <p:nvSpPr>
          <p:cNvPr id="4" name="AGENT_NAV_SLOT_1"/>
          <p:cNvSpPr/>
          <p:nvPr/>
        </p:nvSpPr>
        <p:spPr>
          <a:xfrm>
            <a:off x="2525572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GENT_NAV_LABEL_1"/>
          <p:cNvSpPr txBox="1"/>
          <p:nvPr/>
        </p:nvSpPr>
        <p:spPr>
          <a:xfrm>
            <a:off x="2525572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总体方案</a:t>
            </a:r>
          </a:p>
        </p:txBody>
      </p:sp>
      <p:sp>
        <p:nvSpPr>
          <p:cNvPr id="6" name="AGENT_NAV_SLOT_2"/>
          <p:cNvSpPr/>
          <p:nvPr/>
        </p:nvSpPr>
        <p:spPr>
          <a:xfrm>
            <a:off x="4904841" y="27432"/>
            <a:ext cx="2379268" cy="347472"/>
          </a:xfrm>
          <a:prstGeom prst="rect">
            <a:avLst/>
          </a:prstGeom>
          <a:solidFill>
            <a:srgbClr val="8B0D18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GENT_NAV_LABEL_2"/>
          <p:cNvSpPr txBox="1"/>
          <p:nvPr/>
        </p:nvSpPr>
        <p:spPr>
          <a:xfrm>
            <a:off x="4904841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1" ea="Microsoft YaHei">
                <a:solidFill>
                  <a:srgbClr val="FFFFFF"/>
                </a:solidFill>
                <a:latin typeface="Microsoft YaHei"/>
              </a:rPr>
              <a:t>理论方法</a:t>
            </a:r>
          </a:p>
        </p:txBody>
      </p:sp>
      <p:sp>
        <p:nvSpPr>
          <p:cNvPr id="8" name="AGENT_NAV_SLOT_3"/>
          <p:cNvSpPr/>
          <p:nvPr/>
        </p:nvSpPr>
        <p:spPr>
          <a:xfrm>
            <a:off x="7284110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GENT_NAV_LABEL_3"/>
          <p:cNvSpPr txBox="1"/>
          <p:nvPr/>
        </p:nvSpPr>
        <p:spPr>
          <a:xfrm>
            <a:off x="7284110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试验设计</a:t>
            </a:r>
          </a:p>
        </p:txBody>
      </p:sp>
      <p:sp>
        <p:nvSpPr>
          <p:cNvPr id="10" name="AGENT_NAV_SLOT_4"/>
          <p:cNvSpPr/>
          <p:nvPr/>
        </p:nvSpPr>
        <p:spPr>
          <a:xfrm>
            <a:off x="9663379" y="27432"/>
            <a:ext cx="2379268" cy="347472"/>
          </a:xfrm>
          <a:prstGeom prst="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GENT_NAV_LABEL_4"/>
          <p:cNvSpPr txBox="1"/>
          <p:nvPr/>
        </p:nvSpPr>
        <p:spPr>
          <a:xfrm>
            <a:off x="9663379" y="59436"/>
            <a:ext cx="2379268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ea="Microsoft YaHei">
                <a:solidFill>
                  <a:srgbClr val="1E1E1E"/>
                </a:solidFill>
                <a:latin typeface="Microsoft YaHei"/>
              </a:rPr>
              <a:t>进度与计划</a:t>
            </a:r>
          </a:p>
        </p:txBody>
      </p:sp>
      <p:sp>
        <p:nvSpPr>
          <p:cNvPr id="12" name="AGENT_FOOTER"/>
          <p:cNvSpPr txBox="1"/>
          <p:nvPr/>
        </p:nvSpPr>
        <p:spPr>
          <a:xfrm>
            <a:off x="320040" y="6510528"/>
            <a:ext cx="8595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纯视觉芍药行间除草机器人 · 组会进展汇报 · 2026-09-07</a:t>
            </a:r>
          </a:p>
        </p:txBody>
      </p:sp>
      <p:sp>
        <p:nvSpPr>
          <p:cNvPr id="13" name="AGENT_PAGE_NUMBER"/>
          <p:cNvSpPr txBox="1"/>
          <p:nvPr/>
        </p:nvSpPr>
        <p:spPr>
          <a:xfrm>
            <a:off x="11521440" y="6501384"/>
            <a:ext cx="25603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800" b="0" ea="Microsoft YaHei">
                <a:solidFill>
                  <a:srgbClr val="696969"/>
                </a:solidFill>
                <a:latin typeface="Microsoft YaHei"/>
              </a:rPr>
              <a:t>5</a:t>
            </a:r>
          </a:p>
        </p:txBody>
      </p:sp>
      <p:sp>
        <p:nvSpPr>
          <p:cNvPr id="14" name="AGENT_TITLE"/>
          <p:cNvSpPr txBox="1"/>
          <p:nvPr/>
        </p:nvSpPr>
        <p:spPr>
          <a:xfrm>
            <a:off x="320040" y="539496"/>
            <a:ext cx="11292840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0" ea="Microsoft YaHei">
                <a:solidFill>
                  <a:srgbClr val="8B0D18"/>
                </a:solidFill>
                <a:latin typeface="Microsoft YaHei"/>
              </a:rPr>
              <a:t>理论一：单目视觉双墙约束的对行方法</a:t>
            </a:r>
          </a:p>
        </p:txBody>
      </p:sp>
      <p:sp>
        <p:nvSpPr>
          <p:cNvPr id="15" name="AGENT_TEXT_PANEL"/>
          <p:cNvSpPr/>
          <p:nvPr/>
        </p:nvSpPr>
        <p:spPr>
          <a:xfrm>
            <a:off x="685800" y="1417320"/>
            <a:ext cx="10835640" cy="4434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AGENT_BODY"/>
          <p:cNvSpPr txBox="1"/>
          <p:nvPr/>
        </p:nvSpPr>
        <p:spPr>
          <a:xfrm>
            <a:off x="960120" y="1664208"/>
            <a:ext cx="10287000" cy="3931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0" ea="Microsoft YaHei">
                <a:solidFill>
                  <a:srgbClr val="1E1E1E"/>
                </a:solidFill>
                <a:latin typeface="Microsoft YaHei"/>
              </a:rPr>
              <a:t>1. 分割出左右行墙，各自最小二乘拟合 x = a·y + b
2. 中心线取两墙加权中点，权重按拟合内点率门控
3. 遮挡场景引入像素密度偏置，改用按行投票裁剪拟合
4. 消融验证：稠密遮挡下中心线误差 25.5px 降至 0.5px
5. 远场中心线供底盘导航，近场供中间刀，双预视点分工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