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10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三组对比试验覆盖方法、机构与工程三层</a:t>
            </a:r>
          </a:p>
        </p:txBody>
      </p:sp>
      <p:sp>
        <p:nvSpPr>
          <p:cNvPr id="15" name="AGENT_COLUMN_HEAD_0"/>
          <p:cNvSpPr txBox="1"/>
          <p:nvPr/>
        </p:nvSpPr>
        <p:spPr>
          <a:xfrm>
            <a:off x="868680" y="150876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ea="Microsoft YaHei">
                <a:solidFill>
                  <a:srgbClr val="8B0D18"/>
                </a:solidFill>
                <a:latin typeface="Microsoft YaHei"/>
              </a:rPr>
              <a:t>三组对比试验</a:t>
            </a:r>
          </a:p>
        </p:txBody>
      </p:sp>
      <p:sp>
        <p:nvSpPr>
          <p:cNvPr id="16" name="AGENT_BODY"/>
          <p:cNvSpPr txBox="1"/>
          <p:nvPr/>
        </p:nvSpPr>
        <p:spPr>
          <a:xfrm>
            <a:off x="868680" y="1965960"/>
            <a:ext cx="4709160" cy="3383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方法层：主动对行 vs 固定刀（各 5 趟）
2. 机构层：鸭掌铲 vs 弹齿（各 3 趟）
3. 工程层：时延补偿开 vs 关（RMS 偏差）</a:t>
            </a:r>
          </a:p>
        </p:txBody>
      </p:sp>
      <p:sp>
        <p:nvSpPr>
          <p:cNvPr id="17" name="AGENT_COLUMN_HEAD_1"/>
          <p:cNvSpPr txBox="1"/>
          <p:nvPr/>
        </p:nvSpPr>
        <p:spPr>
          <a:xfrm>
            <a:off x="6217920" y="150876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ea="Microsoft YaHei">
                <a:solidFill>
                  <a:srgbClr val="8B0D18"/>
                </a:solidFill>
                <a:latin typeface="Microsoft YaHei"/>
              </a:rPr>
              <a:t>统一工况与统计</a:t>
            </a:r>
          </a:p>
        </p:txBody>
      </p:sp>
      <p:sp>
        <p:nvSpPr>
          <p:cNvPr id="18" name="AGENT_BODY"/>
          <p:cNvSpPr txBox="1"/>
          <p:nvPr/>
        </p:nvSpPr>
        <p:spPr>
          <a:xfrm>
            <a:off x="6217920" y="1965960"/>
            <a:ext cx="4709160" cy="3383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0.5km/h、耕深 3cm、20m 试验段
2. 样方前后拍照，数据全部入 CSV
3. 均值±标准差 + 单因素方差分析
4. 结论边界：坡度≤15° 壤土芍药田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