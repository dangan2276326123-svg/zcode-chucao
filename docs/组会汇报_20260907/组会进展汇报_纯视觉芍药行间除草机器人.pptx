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2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COVER_TITLE"/>
          <p:cNvSpPr txBox="1"/>
          <p:nvPr/>
        </p:nvSpPr>
        <p:spPr>
          <a:xfrm>
            <a:off x="822960" y="1865376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0">
                <a:solidFill>
                  <a:srgbClr val="8B0D18"/>
                </a:solidFill>
                <a:latin typeface="Microsoft YaHei"/>
              </a:rPr>
              <a:t>纯视觉芍药行间除草机器人</a:t>
            </a:r>
          </a:p>
        </p:txBody>
      </p:sp>
      <p:sp>
        <p:nvSpPr>
          <p:cNvPr id="3" name="AGENT_COVER_DIVIDER"/>
          <p:cNvSpPr/>
          <p:nvPr/>
        </p:nvSpPr>
        <p:spPr>
          <a:xfrm>
            <a:off x="914400" y="2578608"/>
            <a:ext cx="10360152" cy="16459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GENT_COVER_META_LEFT"/>
          <p:cNvSpPr txBox="1"/>
          <p:nvPr/>
        </p:nvSpPr>
        <p:spPr>
          <a:xfrm>
            <a:off x="1371600" y="32461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1E1E1E"/>
                </a:solidFill>
                <a:latin typeface="Microsoft YaHei"/>
              </a:rPr>
              <a:t>方案设计与研究进展汇报</a:t>
            </a:r>
          </a:p>
        </p:txBody>
      </p:sp>
      <p:sp>
        <p:nvSpPr>
          <p:cNvPr id="5" name="AGENT_COVER_META_RIGHT"/>
          <p:cNvSpPr txBox="1"/>
          <p:nvPr/>
        </p:nvSpPr>
        <p:spPr>
          <a:xfrm>
            <a:off x="6766560" y="32461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1E1E1E"/>
                </a:solidFill>
                <a:latin typeface="Microsoft YaHei"/>
              </a:rPr>
              <a:t>面向中草药零农残要求的机械中耕方案</a:t>
            </a:r>
          </a:p>
        </p:txBody>
      </p:sp>
      <p:sp>
        <p:nvSpPr>
          <p:cNvPr id="6" name="AGENT_COVER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研究问题：行间除草不伤苗，且不依赖 RTK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2860726"/>
            <a:ext cx="10287000" cy="15388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dirty="0">
                <a:solidFill>
                  <a:srgbClr val="1E1E1E"/>
                </a:solidFill>
                <a:latin typeface="Microsoft YaHei"/>
              </a:rPr>
              <a:t>1. 芍药大田种植要求零农残，化学除草不可用
2. 底盘跨 4 行芍药，一次作业清除 3 条行间草带
3. 不使用 GNSS/RTK，导航与对行完全依赖单目相机
4. 目标：0.5 km/h 作业，除草率≥80%，伤苗率≤</a:t>
            </a:r>
            <a:r>
              <a:rPr lang="en-US" sz="2000" dirty="0">
                <a:solidFill>
                  <a:srgbClr val="1E1E1E"/>
                </a:solidFill>
                <a:latin typeface="Microsoft YaHei"/>
              </a:rPr>
              <a:t>3</a:t>
            </a:r>
            <a:r>
              <a:rPr sz="2000" b="0" dirty="0">
                <a:solidFill>
                  <a:srgbClr val="1E1E1E"/>
                </a:solidFill>
                <a:latin typeface="Microsoft YaHei"/>
              </a:rPr>
              <a:t>%
5. 株间除草不在范围内，只做行间（绕开单株识别难题）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系统闭环：相机到执行的五段数据流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相机采集推流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PC 分割+中心线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导航与刀控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UDP 下发执行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闭环目标周期 50-100ms
2. 车端只采集执行，PC 集中决策
3. 三级看门狗兜底安全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任务边界与刀头：每个选择都来自机理排除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只做行间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837747"/>
            <a:ext cx="7909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zh-CN" altLang="en-US" sz="1800" b="0" dirty="0">
                <a:solidFill>
                  <a:srgbClr val="1E1E1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避开</a:t>
            </a:r>
            <a:r>
              <a:rPr sz="1800" b="0" dirty="0">
                <a:solidFill>
                  <a:srgbClr val="1E1E1E"/>
                </a:solidFill>
                <a:latin typeface="Microsoft YaHei"/>
              </a:rPr>
              <a:t>株间单株识别，行墙边界把问题难度降一量级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机械中耕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零农残是硬约束，化学排除；激光/机械臂撑不起 3 亩/日效率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鸭掌铲主选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切根+阻力小+有文献支撑；圆盘/旋转锄等 6 种按机理排除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弹齿对比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伤苗低与鸭掌铲构成除草率-伤苗率权衡，为论文提供数据张力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运动学与场景：模型必须与执行机构一致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4WS 模型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实车四轮独立驱动+四轮独立转向（UART4 舵机），Ackermann 绕 ICC 几何可解析推导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开题调整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1E1E1E"/>
                </a:solidFill>
                <a:latin typeface="Microsoft YaHei"/>
              </a:rPr>
              <a:t>转向保持 4WS：固件撤除差速锁、恢复四轮转角输出；林下→大田：光影鲁棒性保留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双预视点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远场供导航容忍噪声，近场供刀具要求精确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IPM 单应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4 点标定把安装误差吸收进 H，田间可随时重做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算法设计由消融数据驱动，非直觉拍板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行投票裁剪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像素密度偏置实测 25.5px→0.5px：每行一票消除遮挡偏置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门控权重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仅单墙内点率&lt;0.5 激活，平时严格中点（多加权反引 2.2px 噪声）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时延前馈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开环补偿不依赖对象模型，无稳定性风险（弃 Smith 预估器）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抬刀保护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挂草、碰石卡滞或指令过期即抬刀，失效方向恒为安全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研究内容与开题完全对应，两处按实车调整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内容一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平台与除草装置设计 → 三刀装置+刀头选型+限深仿形（对应中）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267712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377440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内容二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377440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导航线提取 → 分割 + 行投票裁剪拟合，含霍夫/最小二乘对比（对应）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118104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22783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内容三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227832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上下位机解耦控制 → PC+STM32+协议帧+三级看门狗（对应）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3968496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078224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调整一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078224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种植场景由林下调整为大田，光影鲁棒性保留为采集维度</a:t>
            </a:r>
          </a:p>
        </p:txBody>
      </p:sp>
      <p:sp>
        <p:nvSpPr>
          <p:cNvPr id="27" name="AGENT_SUMMARY_LINE_4"/>
          <p:cNvSpPr/>
          <p:nvPr/>
        </p:nvSpPr>
        <p:spPr>
          <a:xfrm>
            <a:off x="868680" y="4818888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GENT_SUMMARY_LABEL_4"/>
          <p:cNvSpPr txBox="1"/>
          <p:nvPr/>
        </p:nvSpPr>
        <p:spPr>
          <a:xfrm>
            <a:off x="960120" y="4928616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调整二</a:t>
            </a:r>
          </a:p>
        </p:txBody>
      </p:sp>
      <p:sp>
        <p:nvSpPr>
          <p:cNvPr id="29" name="AGENT_SUMMARY_VALUE_4"/>
          <p:cNvSpPr txBox="1"/>
          <p:nvPr/>
        </p:nvSpPr>
        <p:spPr>
          <a:xfrm>
            <a:off x="2926080" y="4928616"/>
            <a:ext cx="7909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转向保持开题承诺的 4WS：NAV2 协议输出四轮转角，固件撤除差速锁，台架阶跃验证舵机品质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理论一：单目视觉双墙约束的对行方法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>
                <a:solidFill>
                  <a:srgbClr val="1E1E1E"/>
                </a:solidFill>
                <a:latin typeface="Microsoft YaHei"/>
              </a:rPr>
              <a:t>1. 分割出左右行墙，各自最小二乘拟合 x = a·y + b
2. 中心线取两墙加权中点，权重按拟合内点率门控
3. 遮挡场景引入像素密度偏置，改用按行投票裁剪拟合
4. 消融验证：稠密遮挡下中心线误差 25.5px 降至 0.5px
5. 远场中心线供底盘导航，近场供中间刀，双预视点分工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理论二：4WS 底盘横向误差模型与 PD 控制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>
                <a:solidFill>
                  <a:srgbClr val="1E1E1E"/>
                </a:solidFill>
                <a:latin typeface="Microsoft YaHei"/>
              </a:rPr>
              <a:t>1. 运动学：四轮转角按 Ackermann 几何绕 ICC 分配（二轮简化 ψ̇ = v·δ/L）
2. 横向误差动态：ė = v·ψ，ψ 由转向执行滞后决定
3. 控制量 δ = k_p·e + k_d·ė，四轮目标角经 NAV2 帧下发
4. 执行滞后 τ≈0.1s 时增益上限由相位裕度反算
5. 转向角由 AD_angle 反馈实测，四轮零位田间标定修正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理论三：无线链路时延的前馈补偿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>
                <a:solidFill>
                  <a:srgbClr val="1E1E1E"/>
                </a:solidFill>
                <a:latin typeface="Microsoft YaHei"/>
              </a:rPr>
              <a:t>1. 补偿律：e_exec = e_meas + ė·τ，开环前馈不改特征方程
2. 时延统计取滚动中位数，对 Wi-Fi 重尾分布稳健
3. p95 超过 50ms 触发告警，500ms 断链强制急停
4. 可验证预言：关补偿时 RMS 偏差恶化量应正比于 τ·v
5. 补偿置于工程实现章节，方法贡献聚焦在对行本身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IPM 投影误差已分解，对策覆盖主要误差源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安装高度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0.9m 机位下约 1.1cm，一次标定消除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俯仰角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误差随距离二次增长——远场只用于导航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畸变/垄形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先校正再投影；起伏交由 Kalman 滤波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验收线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标记点重投影误差 ≤2cm，工具链已备好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创新点定稿：方法为核心，装置为载体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创新点1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三刀装置 + 双墙约束主动对行方法（核心）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创新点2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限深仿形机构（进土深度 ±5 mm）与挂草/碰石抬刀策略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后备点3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时延前馈补偿，视试验显著性决定升格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>
                <a:solidFill>
                  <a:srgbClr val="8B0D18"/>
                </a:solidFill>
                <a:latin typeface="Microsoft YaHei"/>
              </a:rPr>
              <a:t>证据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主动 vs 固定刀对比试验直接验证方法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三组对比试验覆盖方法、机构与工程三层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8B0D18"/>
                </a:solidFill>
                <a:latin typeface="Microsoft YaHei"/>
              </a:rPr>
              <a:t>三组对比试验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方法层：主动对行 vs 固定刀（各 5 趟）
2. 机构层：鸭掌铲 vs 弹齿（各 3 趟）
3. 工程层：时延补偿开 vs 关（RMS 偏差）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8B0D18"/>
                </a:solidFill>
                <a:latin typeface="Microsoft YaHei"/>
              </a:rPr>
              <a:t>统一工况与统计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0.5km/h、耕深 3cm、20m 试验段
2. 样方前后拍照，数据全部入 CSV
3. 均值±标准差 + 单因素方差分析
4. 结论边界：坡度≤15° 壤土芍药田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>
                <a:solidFill>
                  <a:srgbClr val="696969"/>
                </a:solidFill>
                <a:latin typeface="Microsoft YaHei"/>
              </a:rPr>
              <a:t>14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0">
                <a:solidFill>
                  <a:srgbClr val="8B0D18"/>
                </a:solidFill>
                <a:latin typeface="Microsoft YaHei"/>
              </a:rPr>
              <a:t>后续四周：从台架到下田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W1-W2 烧录对拍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W3-W4 链路测试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W5-W6 采样微调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1E1E1E"/>
                </a:solidFill>
                <a:latin typeface="Microsoft YaHei"/>
              </a:rPr>
              <a:t>W7 起田间联调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E1E1E"/>
                </a:solidFill>
                <a:latin typeface="Microsoft YaHei"/>
              </a:rPr>
              <a:t>1. 机械收尾与整机装配并行
2. 限深标定与舵机阶跃达标后下田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T_CLOSING"/>
          <p:cNvSpPr txBox="1"/>
          <p:nvPr/>
        </p:nvSpPr>
        <p:spPr>
          <a:xfrm>
            <a:off x="868680" y="2697480"/>
            <a:ext cx="1045159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0">
                <a:solidFill>
                  <a:srgbClr val="1E1E1E"/>
                </a:solidFill>
                <a:latin typeface="Microsoft YaHei"/>
              </a:rPr>
              <a:t>汇报完毕，敬请批评指正！</a:t>
            </a:r>
          </a:p>
        </p:txBody>
      </p:sp>
      <p:sp>
        <p:nvSpPr>
          <p:cNvPr id="3" name="AGENT_CLOSING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729</Words>
  <Application>Microsoft Office PowerPoint</Application>
  <PresentationFormat>宽屏</PresentationFormat>
  <Paragraphs>182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微软雅黑</vt:lpstr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顶浩 杨</cp:lastModifiedBy>
  <cp:revision>6</cp:revision>
  <dcterms:created xsi:type="dcterms:W3CDTF">2013-01-27T09:14:16Z</dcterms:created>
  <dcterms:modified xsi:type="dcterms:W3CDTF">2026-09-09T06:14:56Z</dcterms:modified>
  <cp:category/>
</cp:coreProperties>
</file>