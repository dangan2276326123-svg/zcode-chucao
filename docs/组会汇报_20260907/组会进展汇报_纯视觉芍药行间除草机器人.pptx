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COVER_TITLE"/>
          <p:cNvSpPr txBox="1"/>
          <p:nvPr/>
        </p:nvSpPr>
        <p:spPr>
          <a:xfrm>
            <a:off x="822960" y="1865376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纯视觉芍药行间除草机器人</a:t>
            </a:r>
          </a:p>
        </p:txBody>
      </p:sp>
      <p:sp>
        <p:nvSpPr>
          <p:cNvPr id="3" name="AGENT_COVER_DIVIDER"/>
          <p:cNvSpPr/>
          <p:nvPr/>
        </p:nvSpPr>
        <p:spPr>
          <a:xfrm>
            <a:off x="914400" y="2578608"/>
            <a:ext cx="10360152" cy="16459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GENT_COVER_META_LEFT"/>
          <p:cNvSpPr txBox="1"/>
          <p:nvPr/>
        </p:nvSpPr>
        <p:spPr>
          <a:xfrm>
            <a:off x="1371600" y="32461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ea="Microsoft YaHei">
                <a:solidFill>
                  <a:srgbClr val="1E1E1E"/>
                </a:solidFill>
                <a:latin typeface="Microsoft YaHei"/>
              </a:rPr>
              <a:t>方案设计与研究进展汇报</a:t>
            </a:r>
          </a:p>
        </p:txBody>
      </p:sp>
      <p:sp>
        <p:nvSpPr>
          <p:cNvPr id="5" name="AGENT_COVER_META_RIGHT"/>
          <p:cNvSpPr txBox="1"/>
          <p:nvPr/>
        </p:nvSpPr>
        <p:spPr>
          <a:xfrm>
            <a:off x="6766560" y="32461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ea="Microsoft YaHei">
                <a:solidFill>
                  <a:srgbClr val="1E1E1E"/>
                </a:solidFill>
                <a:latin typeface="Microsoft YaHei"/>
              </a:rPr>
              <a:t>面向中草药零农残要求的机械中耕方案</a:t>
            </a:r>
          </a:p>
        </p:txBody>
      </p:sp>
      <p:sp>
        <p:nvSpPr>
          <p:cNvPr id="6" name="AGENT_COVER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研究问题：行间除草不伤苗，且不依赖 RTK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芍药林下种植要求零农残，化学除草不可用
2. 底盘跨 4 行芍药，一次作业清除 3 条行间草带
3. 不使用 GNSS/RTK，导航与对行完全依赖单目相机
4. 目标：0.5 km/h 作业，除草率≥80%，伤苗率≤1%
5. 株间除草不在范围内，只做行间（绕开单株识别难题）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系统闭环：相机到执行的五段数据流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相机采集推流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347014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54330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TEP_TEXT_1"/>
          <p:cNvSpPr txBox="1"/>
          <p:nvPr/>
        </p:nvSpPr>
        <p:spPr>
          <a:xfrm>
            <a:off x="361645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PC 分割+中心线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596188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603504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TEP_TEXT_2"/>
          <p:cNvSpPr txBox="1"/>
          <p:nvPr/>
        </p:nvSpPr>
        <p:spPr>
          <a:xfrm>
            <a:off x="610819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导航与刀控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845362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852678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TEP_TEXT_3"/>
          <p:cNvSpPr txBox="1"/>
          <p:nvPr/>
        </p:nvSpPr>
        <p:spPr>
          <a:xfrm>
            <a:off x="859993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UDP 下发执行</a:t>
            </a:r>
          </a:p>
        </p:txBody>
      </p:sp>
      <p:sp>
        <p:nvSpPr>
          <p:cNvPr id="26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闭环目标周期 50-100ms
2. 车端只采集执行，PC 集中决策
3. 三级看门狗兜底安全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4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四个关键决策均已论证并固化为设计基线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刀头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鸭掌铲主选 + 弹齿对比：除草率与伤苗率的权衡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算力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PC 集中计算：一期固定算力变量，验证方法本身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线控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固件 SBUS/UDP 双指令源：遥控保留为备份通道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运动学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四轮差速滑移转向：与实车四轮独立驱动一致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5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理论一：单目视觉双墙约束的对行方法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分割出左右行墙，各自最小二乘拟合 x = a·y + b
2. 中心线取两墙加权中点，权重按拟合内点率门控
3. 遮挡场景引入像素密度偏置，改用按行投票裁剪拟合
4. 消融验证：稠密遮挡下中心线误差 25.5px 降至 0.5px
5. 远场中心线供底盘导航，近场供中间刀，双预视点分工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6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理论二：差速底盘横向误差模型与 PD 控制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运动学：v=(vR+vL)/2，ω=(vR−vL)/W_eff（滑移转向）
2. 横向误差动态：ė = v·ψ，ψ̇ = 2Δv/W_eff
3. 控制量 Δv = k_p·e + k_d·ė，闭环三阶可作稳定性分析
4. 执行滞后 τ≈0.1s 时 k_lat 上限由相位裕度反算
5. 轮速由 TIM3 输入捕获实测，打滑系数田间标定修正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7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理论三：无线链路时延的前馈补偿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补偿律：e_exec = e_meas + ė·τ，开环前馈不改特征方程
2. 时延统计取滚动中位数，对 Wi-Fi 重尾分布稳健
3. p95 超过 50ms 触发告警，500ms 断链强制急停
4. 可验证预言：关补偿时 RMS 偏差恶化量应正比于 τ·v
5. 补偿置于工程实现章节，方法贡献聚焦在对行本身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8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IPM 投影误差已分解，对策覆盖主要误差源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安装高度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0.9m 机位下约 1.1cm，一次标定消除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俯仰角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误差随距离二次增长——远场只用于导航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畸变/垄形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先校正再投影；起伏交由 Kalman 滤波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验收线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标记点重投影误差 ≤2cm，工具链已备好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9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创新点定稿：方法为核心，装置为载体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创新点1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三刀装置 + 双墙约束主动对行方法（核心）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创新点2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限深仿形机构设计与刀头对比优化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后备点3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时延前馈补偿，视试验显著性决定升格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证据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主动 vs 固定刀对比试验直接验证方法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10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三组对比试验覆盖方法、机构与工程三层</a:t>
            </a:r>
          </a:p>
        </p:txBody>
      </p:sp>
      <p:sp>
        <p:nvSpPr>
          <p:cNvPr id="15" name="AGENT_COLUMN_HEAD_0"/>
          <p:cNvSpPr txBox="1"/>
          <p:nvPr/>
        </p:nvSpPr>
        <p:spPr>
          <a:xfrm>
            <a:off x="86868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三组对比试验</a:t>
            </a:r>
          </a:p>
        </p:txBody>
      </p:sp>
      <p:sp>
        <p:nvSpPr>
          <p:cNvPr id="16" name="AGENT_BODY"/>
          <p:cNvSpPr txBox="1"/>
          <p:nvPr/>
        </p:nvSpPr>
        <p:spPr>
          <a:xfrm>
            <a:off x="86868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方法层：主动对行 vs 固定刀（各 5 趟）
2. 机构层：鸭掌铲 vs 弹齿（各 3 趟）
3. 工程层：时延补偿开 vs 关（RMS 偏差）</a:t>
            </a:r>
          </a:p>
        </p:txBody>
      </p:sp>
      <p:sp>
        <p:nvSpPr>
          <p:cNvPr id="17" name="AGENT_COLUMN_HEAD_1"/>
          <p:cNvSpPr txBox="1"/>
          <p:nvPr/>
        </p:nvSpPr>
        <p:spPr>
          <a:xfrm>
            <a:off x="6217920" y="15087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 ea="Microsoft YaHei">
                <a:solidFill>
                  <a:srgbClr val="8B0D18"/>
                </a:solidFill>
                <a:latin typeface="Microsoft YaHei"/>
              </a:rPr>
              <a:t>统一工况与统计</a:t>
            </a:r>
          </a:p>
        </p:txBody>
      </p:sp>
      <p:sp>
        <p:nvSpPr>
          <p:cNvPr id="18" name="AGENT_BODY"/>
          <p:cNvSpPr txBox="1"/>
          <p:nvPr/>
        </p:nvSpPr>
        <p:spPr>
          <a:xfrm>
            <a:off x="6217920" y="1965960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0.5km/h、耕深 3cm、20m 试验段
2. 样方前后拍照，数据全部入 CSV
3. 均值±标准差 + 单因素方差分析
4. 结论边界：坡度≤15° 壤土芍药田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11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代码与固件侧交付已全部完成</a:t>
            </a:r>
          </a:p>
        </p:txBody>
      </p:sp>
      <p:sp>
        <p:nvSpPr>
          <p:cNvPr id="15" name="AGENT_SUMMARY_LINE_0"/>
          <p:cNvSpPr/>
          <p:nvPr/>
        </p:nvSpPr>
        <p:spPr>
          <a:xfrm>
            <a:off x="868680" y="141732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UMMARY_LABEL_0"/>
          <p:cNvSpPr txBox="1"/>
          <p:nvPr/>
        </p:nvSpPr>
        <p:spPr>
          <a:xfrm>
            <a:off x="960120" y="152704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算法</a:t>
            </a:r>
          </a:p>
        </p:txBody>
      </p:sp>
      <p:sp>
        <p:nvSpPr>
          <p:cNvPr id="17" name="AGENT_SUMMARY_VALUE_0"/>
          <p:cNvSpPr txBox="1"/>
          <p:nvPr/>
        </p:nvSpPr>
        <p:spPr>
          <a:xfrm>
            <a:off x="2926080" y="152704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感知/控制/状态机/协议全链路，35 项测试通过</a:t>
            </a:r>
          </a:p>
        </p:txBody>
      </p:sp>
      <p:sp>
        <p:nvSpPr>
          <p:cNvPr id="18" name="AGENT_SUMMARY_LINE_1"/>
          <p:cNvSpPr/>
          <p:nvPr/>
        </p:nvSpPr>
        <p:spPr>
          <a:xfrm>
            <a:off x="868680" y="248031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UMMARY_LABEL_1"/>
          <p:cNvSpPr txBox="1"/>
          <p:nvPr/>
        </p:nvSpPr>
        <p:spPr>
          <a:xfrm>
            <a:off x="960120" y="259003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固件</a:t>
            </a:r>
          </a:p>
        </p:txBody>
      </p:sp>
      <p:sp>
        <p:nvSpPr>
          <p:cNvPr id="20" name="AGENT_SUMMARY_VALUE_1"/>
          <p:cNvSpPr txBox="1"/>
          <p:nvPr/>
        </p:nvSpPr>
        <p:spPr>
          <a:xfrm>
            <a:off x="2926080" y="259003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双指令源+三级看门狗，Keil 编译 0 错误</a:t>
            </a:r>
          </a:p>
        </p:txBody>
      </p:sp>
      <p:sp>
        <p:nvSpPr>
          <p:cNvPr id="21" name="AGENT_SUMMARY_LINE_2"/>
          <p:cNvSpPr/>
          <p:nvPr/>
        </p:nvSpPr>
        <p:spPr>
          <a:xfrm>
            <a:off x="868680" y="354330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UMMARY_LABEL_2"/>
          <p:cNvSpPr txBox="1"/>
          <p:nvPr/>
        </p:nvSpPr>
        <p:spPr>
          <a:xfrm>
            <a:off x="960120" y="365302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安全</a:t>
            </a:r>
          </a:p>
        </p:txBody>
      </p:sp>
      <p:sp>
        <p:nvSpPr>
          <p:cNvPr id="23" name="AGENT_SUMMARY_VALUE_2"/>
          <p:cNvSpPr txBox="1"/>
          <p:nvPr/>
        </p:nvSpPr>
        <p:spPr>
          <a:xfrm>
            <a:off x="2926080" y="365302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驱动门控接入真实路径，急停帧显式下发</a:t>
            </a:r>
          </a:p>
        </p:txBody>
      </p:sp>
      <p:sp>
        <p:nvSpPr>
          <p:cNvPr id="24" name="AGENT_SUMMARY_LINE_3"/>
          <p:cNvSpPr/>
          <p:nvPr/>
        </p:nvSpPr>
        <p:spPr>
          <a:xfrm>
            <a:off x="868680" y="4606290"/>
            <a:ext cx="10378440" cy="10972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UMMARY_LABEL_3"/>
          <p:cNvSpPr txBox="1"/>
          <p:nvPr/>
        </p:nvSpPr>
        <p:spPr>
          <a:xfrm>
            <a:off x="960120" y="4716018"/>
            <a:ext cx="182880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 ea="Microsoft YaHei">
                <a:solidFill>
                  <a:srgbClr val="8B0D18"/>
                </a:solidFill>
                <a:latin typeface="Microsoft YaHei"/>
              </a:rPr>
              <a:t>评审</a:t>
            </a:r>
          </a:p>
        </p:txBody>
      </p:sp>
      <p:sp>
        <p:nvSpPr>
          <p:cNvPr id="26" name="AGENT_SUMMARY_VALUE_3"/>
          <p:cNvSpPr txBox="1"/>
          <p:nvPr/>
        </p:nvSpPr>
        <p:spPr>
          <a:xfrm>
            <a:off x="2926080" y="4716018"/>
            <a:ext cx="7909560" cy="8983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外部 12 条意见逐条采纳/驳回并留档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12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当前瓶颈在实物侧，不在算法侧</a:t>
            </a:r>
          </a:p>
        </p:txBody>
      </p:sp>
      <p:sp>
        <p:nvSpPr>
          <p:cNvPr id="15" name="AGENT_TEXT_PANEL"/>
          <p:cNvSpPr/>
          <p:nvPr/>
        </p:nvSpPr>
        <p:spPr>
          <a:xfrm>
            <a:off x="685800" y="1417320"/>
            <a:ext cx="1083564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BODY"/>
          <p:cNvSpPr txBox="1"/>
          <p:nvPr/>
        </p:nvSpPr>
        <p:spPr>
          <a:xfrm>
            <a:off x="960120" y="1664208"/>
            <a:ext cx="10287000" cy="3931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ea="Microsoft YaHei">
                <a:solidFill>
                  <a:srgbClr val="1E1E1E"/>
                </a:solidFill>
                <a:latin typeface="Microsoft YaHei"/>
              </a:rPr>
              <a:t>1. 待办：固件烧录、串口对拍、接线与三项系数标定
2. 待购：RDK X5 网关、CP2102×2、TB6600、CPE 网桥一对
3. 域差异风险已实测：夏季模型在当前田况过分割
4. 对策：10 月中前补采 200-300 张秋季样本并微调
5. 采集清单已定稿：光照×行况×视角矩阵，含密度分级标准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NAV_SLOT_0"/>
          <p:cNvSpPr/>
          <p:nvPr/>
        </p:nvSpPr>
        <p:spPr>
          <a:xfrm>
            <a:off x="146304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ENT_NAV_LABEL_0"/>
          <p:cNvSpPr txBox="1"/>
          <p:nvPr/>
        </p:nvSpPr>
        <p:spPr>
          <a:xfrm>
            <a:off x="146304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研究背景</a:t>
            </a:r>
          </a:p>
        </p:txBody>
      </p:sp>
      <p:sp>
        <p:nvSpPr>
          <p:cNvPr id="4" name="AGENT_NAV_SLOT_1"/>
          <p:cNvSpPr/>
          <p:nvPr/>
        </p:nvSpPr>
        <p:spPr>
          <a:xfrm>
            <a:off x="2525572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GENT_NAV_LABEL_1"/>
          <p:cNvSpPr txBox="1"/>
          <p:nvPr/>
        </p:nvSpPr>
        <p:spPr>
          <a:xfrm>
            <a:off x="2525572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总体方案</a:t>
            </a:r>
          </a:p>
        </p:txBody>
      </p:sp>
      <p:sp>
        <p:nvSpPr>
          <p:cNvPr id="6" name="AGENT_NAV_SLOT_2"/>
          <p:cNvSpPr/>
          <p:nvPr/>
        </p:nvSpPr>
        <p:spPr>
          <a:xfrm>
            <a:off x="4904841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ENT_NAV_LABEL_2"/>
          <p:cNvSpPr txBox="1"/>
          <p:nvPr/>
        </p:nvSpPr>
        <p:spPr>
          <a:xfrm>
            <a:off x="4904841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理论方法</a:t>
            </a:r>
          </a:p>
        </p:txBody>
      </p:sp>
      <p:sp>
        <p:nvSpPr>
          <p:cNvPr id="8" name="AGENT_NAV_SLOT_3"/>
          <p:cNvSpPr/>
          <p:nvPr/>
        </p:nvSpPr>
        <p:spPr>
          <a:xfrm>
            <a:off x="7284110" y="27432"/>
            <a:ext cx="23792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ENT_NAV_LABEL_3"/>
          <p:cNvSpPr txBox="1"/>
          <p:nvPr/>
        </p:nvSpPr>
        <p:spPr>
          <a:xfrm>
            <a:off x="7284110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ea="Microsoft YaHei">
                <a:solidFill>
                  <a:srgbClr val="1E1E1E"/>
                </a:solidFill>
                <a:latin typeface="Microsoft YaHei"/>
              </a:rPr>
              <a:t>试验设计</a:t>
            </a:r>
          </a:p>
        </p:txBody>
      </p:sp>
      <p:sp>
        <p:nvSpPr>
          <p:cNvPr id="10" name="AGENT_NAV_SLOT_4"/>
          <p:cNvSpPr/>
          <p:nvPr/>
        </p:nvSpPr>
        <p:spPr>
          <a:xfrm>
            <a:off x="9663379" y="27432"/>
            <a:ext cx="2379268" cy="347472"/>
          </a:xfrm>
          <a:prstGeom prst="rect">
            <a:avLst/>
          </a:prstGeom>
          <a:solidFill>
            <a:srgbClr val="8B0D18"/>
          </a:solidFill>
          <a:ln w="1016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GENT_NAV_LABEL_4"/>
          <p:cNvSpPr txBox="1"/>
          <p:nvPr/>
        </p:nvSpPr>
        <p:spPr>
          <a:xfrm>
            <a:off x="9663379" y="59436"/>
            <a:ext cx="237926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 ea="Microsoft YaHei">
                <a:solidFill>
                  <a:srgbClr val="FFFFFF"/>
                </a:solidFill>
                <a:latin typeface="Microsoft YaHei"/>
              </a:rPr>
              <a:t>进度与计划</a:t>
            </a:r>
          </a:p>
        </p:txBody>
      </p:sp>
      <p:sp>
        <p:nvSpPr>
          <p:cNvPr id="12" name="AGENT_FOOTER"/>
          <p:cNvSpPr txBox="1"/>
          <p:nvPr/>
        </p:nvSpPr>
        <p:spPr>
          <a:xfrm>
            <a:off x="320040" y="6510528"/>
            <a:ext cx="859536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纯视觉芍药行间除草机器人 · 组会进展汇报 · 2026-09-07</a:t>
            </a:r>
          </a:p>
        </p:txBody>
      </p:sp>
      <p:sp>
        <p:nvSpPr>
          <p:cNvPr id="13" name="AGENT_PAGE_NUMBER"/>
          <p:cNvSpPr txBox="1"/>
          <p:nvPr/>
        </p:nvSpPr>
        <p:spPr>
          <a:xfrm>
            <a:off x="11521440" y="6501384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 ea="Microsoft YaHei">
                <a:solidFill>
                  <a:srgbClr val="696969"/>
                </a:solidFill>
                <a:latin typeface="Microsoft YaHei"/>
              </a:rPr>
              <a:t>13</a:t>
            </a:r>
          </a:p>
        </p:txBody>
      </p:sp>
      <p:sp>
        <p:nvSpPr>
          <p:cNvPr id="14" name="AGENT_TITLE"/>
          <p:cNvSpPr txBox="1"/>
          <p:nvPr/>
        </p:nvSpPr>
        <p:spPr>
          <a:xfrm>
            <a:off x="320040" y="539496"/>
            <a:ext cx="112928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ea="Microsoft YaHei">
                <a:solidFill>
                  <a:srgbClr val="8B0D18"/>
                </a:solidFill>
                <a:latin typeface="Microsoft YaHei"/>
              </a:rPr>
              <a:t>后续四周：从台架到下田</a:t>
            </a:r>
          </a:p>
        </p:txBody>
      </p:sp>
      <p:sp>
        <p:nvSpPr>
          <p:cNvPr id="15" name="AGENT_STEP_BOX_0"/>
          <p:cNvSpPr/>
          <p:nvPr/>
        </p:nvSpPr>
        <p:spPr>
          <a:xfrm>
            <a:off x="105156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ENT_STEP_TEXT_0"/>
          <p:cNvSpPr txBox="1"/>
          <p:nvPr/>
        </p:nvSpPr>
        <p:spPr>
          <a:xfrm>
            <a:off x="112471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W1-W2 烧录对拍</a:t>
            </a:r>
          </a:p>
        </p:txBody>
      </p:sp>
      <p:sp>
        <p:nvSpPr>
          <p:cNvPr id="17" name="AGENT_STEP_ARROW_0"/>
          <p:cNvSpPr txBox="1"/>
          <p:nvPr/>
        </p:nvSpPr>
        <p:spPr>
          <a:xfrm>
            <a:off x="347014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18" name="AGENT_STEP_BOX_1"/>
          <p:cNvSpPr/>
          <p:nvPr/>
        </p:nvSpPr>
        <p:spPr>
          <a:xfrm>
            <a:off x="354330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ENT_STEP_TEXT_1"/>
          <p:cNvSpPr txBox="1"/>
          <p:nvPr/>
        </p:nvSpPr>
        <p:spPr>
          <a:xfrm>
            <a:off x="361645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W3-W4 链路测试</a:t>
            </a:r>
          </a:p>
        </p:txBody>
      </p:sp>
      <p:sp>
        <p:nvSpPr>
          <p:cNvPr id="20" name="AGENT_STEP_ARROW_1"/>
          <p:cNvSpPr txBox="1"/>
          <p:nvPr/>
        </p:nvSpPr>
        <p:spPr>
          <a:xfrm>
            <a:off x="596188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1" name="AGENT_STEP_BOX_2"/>
          <p:cNvSpPr/>
          <p:nvPr/>
        </p:nvSpPr>
        <p:spPr>
          <a:xfrm>
            <a:off x="603504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ENT_STEP_TEXT_2"/>
          <p:cNvSpPr txBox="1"/>
          <p:nvPr/>
        </p:nvSpPr>
        <p:spPr>
          <a:xfrm>
            <a:off x="610819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W5-W6 采样微调</a:t>
            </a:r>
          </a:p>
        </p:txBody>
      </p:sp>
      <p:sp>
        <p:nvSpPr>
          <p:cNvPr id="23" name="AGENT_STEP_ARROW_2"/>
          <p:cNvSpPr txBox="1"/>
          <p:nvPr/>
        </p:nvSpPr>
        <p:spPr>
          <a:xfrm>
            <a:off x="8453628" y="2935224"/>
            <a:ext cx="164592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" b="1" ea="Microsoft YaHei">
                <a:solidFill>
                  <a:srgbClr val="8B0D18"/>
                </a:solidFill>
                <a:latin typeface="Microsoft YaHei"/>
              </a:rPr>
              <a:t>→</a:t>
            </a:r>
          </a:p>
        </p:txBody>
      </p:sp>
      <p:sp>
        <p:nvSpPr>
          <p:cNvPr id="24" name="AGENT_STEP_BOX_3"/>
          <p:cNvSpPr/>
          <p:nvPr/>
        </p:nvSpPr>
        <p:spPr>
          <a:xfrm>
            <a:off x="8526780" y="2743200"/>
            <a:ext cx="2345436" cy="9144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ENT_STEP_TEXT_3"/>
          <p:cNvSpPr txBox="1"/>
          <p:nvPr/>
        </p:nvSpPr>
        <p:spPr>
          <a:xfrm>
            <a:off x="8599932" y="2880360"/>
            <a:ext cx="21991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ea="Microsoft YaHei">
                <a:solidFill>
                  <a:srgbClr val="1E1E1E"/>
                </a:solidFill>
                <a:latin typeface="Microsoft YaHei"/>
              </a:rPr>
              <a:t>W7 起田间联调</a:t>
            </a:r>
          </a:p>
        </p:txBody>
      </p:sp>
      <p:sp>
        <p:nvSpPr>
          <p:cNvPr id="26" name="AGENT_BODY"/>
          <p:cNvSpPr txBox="1"/>
          <p:nvPr/>
        </p:nvSpPr>
        <p:spPr>
          <a:xfrm>
            <a:off x="1005840" y="42519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ea="Microsoft YaHei">
                <a:solidFill>
                  <a:srgbClr val="1E1E1E"/>
                </a:solidFill>
                <a:latin typeface="Microsoft YaHei"/>
              </a:rPr>
              <a:t>1. 机械收尾与整机装配并行
2. 安全清单逐项验证后下田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ENT_CLOSING"/>
          <p:cNvSpPr txBox="1"/>
          <p:nvPr/>
        </p:nvSpPr>
        <p:spPr>
          <a:xfrm>
            <a:off x="868680" y="2697480"/>
            <a:ext cx="10451592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0" ea="Microsoft YaHei">
                <a:solidFill>
                  <a:srgbClr val="1E1E1E"/>
                </a:solidFill>
                <a:latin typeface="Microsoft YaHei"/>
              </a:rPr>
              <a:t>汇报完毕，敬请批评指正！</a:t>
            </a:r>
          </a:p>
        </p:txBody>
      </p:sp>
      <p:sp>
        <p:nvSpPr>
          <p:cNvPr id="3" name="AGENT_CLOSING_BOTTOM_BAND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8B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