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COVER_TITLE"/>
          <p:cNvSpPr txBox="1"/>
          <p:nvPr/>
        </p:nvSpPr>
        <p:spPr>
          <a:xfrm>
            <a:off x="822960" y="1865376"/>
            <a:ext cx="10561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纯视觉芍药行间除草机器人</a:t>
            </a:r>
          </a:p>
        </p:txBody>
      </p:sp>
      <p:sp>
        <p:nvSpPr>
          <p:cNvPr id="3" name="AGENT_COVER_DIVIDER"/>
          <p:cNvSpPr/>
          <p:nvPr/>
        </p:nvSpPr>
        <p:spPr>
          <a:xfrm>
            <a:off x="914400" y="2578608"/>
            <a:ext cx="10360152" cy="16459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GENT_COVER_META_LEFT"/>
          <p:cNvSpPr txBox="1"/>
          <p:nvPr/>
        </p:nvSpPr>
        <p:spPr>
          <a:xfrm>
            <a:off x="1371600" y="3246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ea="Microsoft YaHei">
                <a:solidFill>
                  <a:srgbClr val="1E1E1E"/>
                </a:solidFill>
                <a:latin typeface="Microsoft YaHei"/>
              </a:rPr>
              <a:t>方案设计与研究进展汇报</a:t>
            </a:r>
          </a:p>
        </p:txBody>
      </p:sp>
      <p:sp>
        <p:nvSpPr>
          <p:cNvPr id="5" name="AGENT_COVER_META_RIGHT"/>
          <p:cNvSpPr txBox="1"/>
          <p:nvPr/>
        </p:nvSpPr>
        <p:spPr>
          <a:xfrm>
            <a:off x="6766560" y="3246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ea="Microsoft YaHei">
                <a:solidFill>
                  <a:srgbClr val="1E1E1E"/>
                </a:solidFill>
                <a:latin typeface="Microsoft YaHei"/>
              </a:rPr>
              <a:t>面向中草药零农残要求的机械中耕方案</a:t>
            </a:r>
          </a:p>
        </p:txBody>
      </p:sp>
      <p:sp>
        <p:nvSpPr>
          <p:cNvPr id="6" name="AGENT_COVER_BOTTOM_BAND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2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研究问题：行间除草不伤苗，且不依赖 RTK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芍药林下种植要求零农残，化学除草不可用
2. 底盘跨 4 行芍药，一次作业清除 3 条行间草带
3. 不使用 GNSS/RTK，导航与对行完全依赖单目相机
4. 目标：0.5 km/h 作业，除草率≥80%，伤苗率≤1%
5. 株间除草不在范围内，只做行间（绕开单株识别难题）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3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系统闭环：相机到执行的五段数据流</a:t>
            </a:r>
          </a:p>
        </p:txBody>
      </p:sp>
      <p:sp>
        <p:nvSpPr>
          <p:cNvPr id="15" name="AGENT_STEP_BOX_0"/>
          <p:cNvSpPr/>
          <p:nvPr/>
        </p:nvSpPr>
        <p:spPr>
          <a:xfrm>
            <a:off x="105156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TEP_TEXT_0"/>
          <p:cNvSpPr txBox="1"/>
          <p:nvPr/>
        </p:nvSpPr>
        <p:spPr>
          <a:xfrm>
            <a:off x="112471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相机采集推流</a:t>
            </a:r>
          </a:p>
        </p:txBody>
      </p:sp>
      <p:sp>
        <p:nvSpPr>
          <p:cNvPr id="17" name="AGENT_STEP_ARROW_0"/>
          <p:cNvSpPr txBox="1"/>
          <p:nvPr/>
        </p:nvSpPr>
        <p:spPr>
          <a:xfrm>
            <a:off x="347014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18" name="AGENT_STEP_BOX_1"/>
          <p:cNvSpPr/>
          <p:nvPr/>
        </p:nvSpPr>
        <p:spPr>
          <a:xfrm>
            <a:off x="354330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TEP_TEXT_1"/>
          <p:cNvSpPr txBox="1"/>
          <p:nvPr/>
        </p:nvSpPr>
        <p:spPr>
          <a:xfrm>
            <a:off x="361645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PC 分割+中心线</a:t>
            </a:r>
          </a:p>
        </p:txBody>
      </p:sp>
      <p:sp>
        <p:nvSpPr>
          <p:cNvPr id="20" name="AGENT_STEP_ARROW_1"/>
          <p:cNvSpPr txBox="1"/>
          <p:nvPr/>
        </p:nvSpPr>
        <p:spPr>
          <a:xfrm>
            <a:off x="596188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1" name="AGENT_STEP_BOX_2"/>
          <p:cNvSpPr/>
          <p:nvPr/>
        </p:nvSpPr>
        <p:spPr>
          <a:xfrm>
            <a:off x="603504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TEP_TEXT_2"/>
          <p:cNvSpPr txBox="1"/>
          <p:nvPr/>
        </p:nvSpPr>
        <p:spPr>
          <a:xfrm>
            <a:off x="610819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导航与刀控</a:t>
            </a:r>
          </a:p>
        </p:txBody>
      </p:sp>
      <p:sp>
        <p:nvSpPr>
          <p:cNvPr id="23" name="AGENT_STEP_ARROW_2"/>
          <p:cNvSpPr txBox="1"/>
          <p:nvPr/>
        </p:nvSpPr>
        <p:spPr>
          <a:xfrm>
            <a:off x="845362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4" name="AGENT_STEP_BOX_3"/>
          <p:cNvSpPr/>
          <p:nvPr/>
        </p:nvSpPr>
        <p:spPr>
          <a:xfrm>
            <a:off x="852678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TEP_TEXT_3"/>
          <p:cNvSpPr txBox="1"/>
          <p:nvPr/>
        </p:nvSpPr>
        <p:spPr>
          <a:xfrm>
            <a:off x="859993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UDP 下发执行</a:t>
            </a:r>
          </a:p>
        </p:txBody>
      </p:sp>
      <p:sp>
        <p:nvSpPr>
          <p:cNvPr id="26" name="AGENT_BODY"/>
          <p:cNvSpPr txBox="1"/>
          <p:nvPr/>
        </p:nvSpPr>
        <p:spPr>
          <a:xfrm>
            <a:off x="1005840" y="4251960"/>
            <a:ext cx="9966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闭环目标周期 50-100ms
2. 车端只采集执行，PC 集中决策
3. 三级看门狗兜底安全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4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任务边界与刀头：每个选择都来自机理排除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只做行间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株间单株识别是行业未解难题，行墙边界把问题难度降一量级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机械中耕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零农残是硬约束，化学排除；激光/机械臂撑不起 3 亩/日效率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鸭掌铲主选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切根+阻力小+有文献支撑；圆盘/旋转锄等 6 种按机理排除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弹齿对比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伤苗低与鸭掌铲构成除草率-伤苗率权衡，为论文提供数据张力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5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算力与线控：分层解耦，遥控物理独立作备份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PC 集中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一期固定算力变量验证方法；真实链路即研究内容的一部分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RDK 网关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同价位多 10TOPS，二期感知下沉零二次采购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双指令源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SBUS 与协议链路物理独立，异常时拨回手动即恢复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三级看门狗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硬件复位/链路急停/桥接注入，三种故障模式三层兜底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6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运动学与场景：模型必须与执行机构一致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差速模型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实车四轮独立驱动无转向执行器，滑移转向可解析推导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开题调整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4WS→差速：代码保留可切换；林下→大田：光影鲁棒性保留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双预视点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远场供导航容忍噪声，近场供刀具要求精确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IPM 单应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4 点标定把安装误差吸收进 H，田间可随时重做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7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算法设计由消融数据驱动，非直觉拍板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行投票裁剪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像素密度偏置实测 25.5px→0.5px：每行一票消除遮挡偏置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门控权重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仅单墙内点率&lt;0.5 激活，平时严格中点（多加权反引 2.2px 噪声）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时延前馈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开环补偿不依赖对象模型，无稳定性风险（弃 Smith 预估器）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安全默认态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刀控指令 500ms 过期自动提刀，失效方向恒为安全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8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研究内容与开题完全对应，两处按实车调整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内容一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平台与除草装置设计 → 三刀装置+刀头选型+限深仿形（对应中）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267712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37744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内容二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377440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导航线提取 → 分割 + 行投票裁剪拟合，含霍夫/最小二乘对比（对应）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118104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227832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内容三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227832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上下位机解耦控制 → PC+STM32+协议帧+三级看门狗（对应）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3968496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078224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调整一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078224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种植场景由林下调整为大田，光影鲁棒性保留为采集维度</a:t>
            </a:r>
          </a:p>
        </p:txBody>
      </p:sp>
      <p:sp>
        <p:nvSpPr>
          <p:cNvPr id="27" name="AGENT_SUMMARY_LINE_4"/>
          <p:cNvSpPr/>
          <p:nvPr/>
        </p:nvSpPr>
        <p:spPr>
          <a:xfrm>
            <a:off x="868680" y="4818888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GENT_SUMMARY_LABEL_4"/>
          <p:cNvSpPr txBox="1"/>
          <p:nvPr/>
        </p:nvSpPr>
        <p:spPr>
          <a:xfrm>
            <a:off x="960120" y="4928616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调整二</a:t>
            </a:r>
          </a:p>
        </p:txBody>
      </p:sp>
      <p:sp>
        <p:nvSpPr>
          <p:cNvPr id="29" name="AGENT_SUMMARY_VALUE_4"/>
          <p:cNvSpPr txBox="1"/>
          <p:nvPr/>
        </p:nvSpPr>
        <p:spPr>
          <a:xfrm>
            <a:off x="2926080" y="4928616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底盘由四轮转向改为四轮独立驱动差速，运动学模型同步修正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9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理论一：单目视觉双墙约束的对行方法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分割出左右行墙，各自最小二乘拟合 x = a·y + b
2. 中心线取两墙加权中点，权重按拟合内点率门控
3. 遮挡场景引入像素密度偏置，改用按行投票裁剪拟合
4. 消融验证：稠密遮挡下中心线误差 25.5px 降至 0.5px
5. 远场中心线供底盘导航，近场供中间刀，双预视点分工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10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理论二：差速底盘横向误差模型与 PD 控制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运动学：v=(vR+vL)/2，ω=(vR−vL)/W_eff（滑移转向）
2. 横向误差动态：ė = v·ψ，ψ̇ = 2Δv/W_eff
3. 控制量 Δv = k_p·e + k_d·ė，闭环三阶可作稳定性分析
4. 执行滞后 τ≈0.1s 时 k_lat 上限由相位裕度反算
5. 轮速由 TIM3 输入捕获实测，打滑系数田间标定修正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11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理论三：无线链路时延的前馈补偿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补偿律：e_exec = e_meas + ė·τ，开环前馈不改特征方程
2. 时延统计取滚动中位数，对 Wi-Fi 重尾分布稳健
3. p95 超过 50ms 触发告警，500ms 断链强制急停
4. 可验证预言：关补偿时 RMS 偏差恶化量应正比于 τ·v
5. 补偿置于工程实现章节，方法贡献聚焦在对行本身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12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IPM 投影误差已分解，对策覆盖主要误差源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安装高度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0.9m 机位下约 1.1cm，一次标定消除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俯仰角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误差随距离二次增长——远场只用于导航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畸变/垄形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先校正再投影；起伏交由 Kalman 滤波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验收线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标记点重投影误差 ≤2cm，工具链已备好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13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创新点定稿：方法为核心，装置为载体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创新点1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三刀装置 + 双墙约束主动对行方法（核心）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创新点2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限深仿形机构设计与刀头对比优化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后备点3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时延前馈补偿，视试验显著性决定升格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证据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主动 vs 固定刀对比试验直接验证方法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14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三组对比试验覆盖方法、机构与工程三层</a:t>
            </a:r>
          </a:p>
        </p:txBody>
      </p:sp>
      <p:sp>
        <p:nvSpPr>
          <p:cNvPr id="15" name="AGENT_COLUMN_HEAD_0"/>
          <p:cNvSpPr txBox="1"/>
          <p:nvPr/>
        </p:nvSpPr>
        <p:spPr>
          <a:xfrm>
            <a:off x="868680" y="150876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ea="Microsoft YaHei">
                <a:solidFill>
                  <a:srgbClr val="8B0D18"/>
                </a:solidFill>
                <a:latin typeface="Microsoft YaHei"/>
              </a:rPr>
              <a:t>三组对比试验</a:t>
            </a:r>
          </a:p>
        </p:txBody>
      </p:sp>
      <p:sp>
        <p:nvSpPr>
          <p:cNvPr id="16" name="AGENT_BODY"/>
          <p:cNvSpPr txBox="1"/>
          <p:nvPr/>
        </p:nvSpPr>
        <p:spPr>
          <a:xfrm>
            <a:off x="868680" y="1965960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方法层：主动对行 vs 固定刀（各 5 趟）
2. 机构层：鸭掌铲 vs 弹齿（各 3 趟）
3. 工程层：时延补偿开 vs 关（RMS 偏差）</a:t>
            </a:r>
          </a:p>
        </p:txBody>
      </p:sp>
      <p:sp>
        <p:nvSpPr>
          <p:cNvPr id="17" name="AGENT_COLUMN_HEAD_1"/>
          <p:cNvSpPr txBox="1"/>
          <p:nvPr/>
        </p:nvSpPr>
        <p:spPr>
          <a:xfrm>
            <a:off x="6217920" y="150876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ea="Microsoft YaHei">
                <a:solidFill>
                  <a:srgbClr val="8B0D18"/>
                </a:solidFill>
                <a:latin typeface="Microsoft YaHei"/>
              </a:rPr>
              <a:t>统一工况与统计</a:t>
            </a:r>
          </a:p>
        </p:txBody>
      </p:sp>
      <p:sp>
        <p:nvSpPr>
          <p:cNvPr id="18" name="AGENT_BODY"/>
          <p:cNvSpPr txBox="1"/>
          <p:nvPr/>
        </p:nvSpPr>
        <p:spPr>
          <a:xfrm>
            <a:off x="6217920" y="1965960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0.5km/h、耕深 3cm、20m 试验段
2. 样方前后拍照，数据全部入 CSV
3. 均值±标准差 + 单因素方差分析
4. 结论边界：坡度≤15° 壤土芍药田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15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代码与固件侧交付已全部完成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算法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感知/控制/状态机/协议全链路，35 项测试通过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固件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双指令源+三级看门狗，Keil 编译 0 错误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安全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驱动门控接入真实路径，急停帧显式下发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评审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外部 12 条意见逐条采纳/驳回并留档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16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当前瓶颈在实物侧，不在算法侧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待办：固件烧录、串口对拍、接线与三项系数标定
2. 待购：RDK X5 网关、CP2102×2、TB6600、CPE 网桥一对
3. 域差异风险已实测：夏季模型在当前田况过分割
4. 对策：10 月中前补采 200-300 张秋季样本并微调
5. 采集清单已定稿：光照×行况×视角矩阵，含密度分级标准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17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后续四周：从台架到下田</a:t>
            </a:r>
          </a:p>
        </p:txBody>
      </p:sp>
      <p:sp>
        <p:nvSpPr>
          <p:cNvPr id="15" name="AGENT_STEP_BOX_0"/>
          <p:cNvSpPr/>
          <p:nvPr/>
        </p:nvSpPr>
        <p:spPr>
          <a:xfrm>
            <a:off x="105156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TEP_TEXT_0"/>
          <p:cNvSpPr txBox="1"/>
          <p:nvPr/>
        </p:nvSpPr>
        <p:spPr>
          <a:xfrm>
            <a:off x="112471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W1-W2 烧录对拍</a:t>
            </a:r>
          </a:p>
        </p:txBody>
      </p:sp>
      <p:sp>
        <p:nvSpPr>
          <p:cNvPr id="17" name="AGENT_STEP_ARROW_0"/>
          <p:cNvSpPr txBox="1"/>
          <p:nvPr/>
        </p:nvSpPr>
        <p:spPr>
          <a:xfrm>
            <a:off x="347014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18" name="AGENT_STEP_BOX_1"/>
          <p:cNvSpPr/>
          <p:nvPr/>
        </p:nvSpPr>
        <p:spPr>
          <a:xfrm>
            <a:off x="354330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TEP_TEXT_1"/>
          <p:cNvSpPr txBox="1"/>
          <p:nvPr/>
        </p:nvSpPr>
        <p:spPr>
          <a:xfrm>
            <a:off x="361645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W3-W4 链路测试</a:t>
            </a:r>
          </a:p>
        </p:txBody>
      </p:sp>
      <p:sp>
        <p:nvSpPr>
          <p:cNvPr id="20" name="AGENT_STEP_ARROW_1"/>
          <p:cNvSpPr txBox="1"/>
          <p:nvPr/>
        </p:nvSpPr>
        <p:spPr>
          <a:xfrm>
            <a:off x="596188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1" name="AGENT_STEP_BOX_2"/>
          <p:cNvSpPr/>
          <p:nvPr/>
        </p:nvSpPr>
        <p:spPr>
          <a:xfrm>
            <a:off x="603504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TEP_TEXT_2"/>
          <p:cNvSpPr txBox="1"/>
          <p:nvPr/>
        </p:nvSpPr>
        <p:spPr>
          <a:xfrm>
            <a:off x="610819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W5-W6 采样微调</a:t>
            </a:r>
          </a:p>
        </p:txBody>
      </p:sp>
      <p:sp>
        <p:nvSpPr>
          <p:cNvPr id="23" name="AGENT_STEP_ARROW_2"/>
          <p:cNvSpPr txBox="1"/>
          <p:nvPr/>
        </p:nvSpPr>
        <p:spPr>
          <a:xfrm>
            <a:off x="845362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4" name="AGENT_STEP_BOX_3"/>
          <p:cNvSpPr/>
          <p:nvPr/>
        </p:nvSpPr>
        <p:spPr>
          <a:xfrm>
            <a:off x="852678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TEP_TEXT_3"/>
          <p:cNvSpPr txBox="1"/>
          <p:nvPr/>
        </p:nvSpPr>
        <p:spPr>
          <a:xfrm>
            <a:off x="859993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W7 起田间联调</a:t>
            </a:r>
          </a:p>
        </p:txBody>
      </p:sp>
      <p:sp>
        <p:nvSpPr>
          <p:cNvPr id="26" name="AGENT_BODY"/>
          <p:cNvSpPr txBox="1"/>
          <p:nvPr/>
        </p:nvSpPr>
        <p:spPr>
          <a:xfrm>
            <a:off x="1005840" y="4251960"/>
            <a:ext cx="9966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机械收尾与整机装配并行
2. 安全清单逐项验证后下田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CLOSING"/>
          <p:cNvSpPr txBox="1"/>
          <p:nvPr/>
        </p:nvSpPr>
        <p:spPr>
          <a:xfrm>
            <a:off x="868680" y="2697480"/>
            <a:ext cx="1045159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0" ea="Microsoft YaHei">
                <a:solidFill>
                  <a:srgbClr val="1E1E1E"/>
                </a:solidFill>
                <a:latin typeface="Microsoft YaHei"/>
              </a:rPr>
              <a:t>汇报完毕，敬请批评指正！</a:t>
            </a:r>
          </a:p>
        </p:txBody>
      </p:sp>
      <p:sp>
        <p:nvSpPr>
          <p:cNvPr id="3" name="AGENT_CLOSING_BOTTOM_BAND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