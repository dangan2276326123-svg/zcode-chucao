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AGENT_COVER_ENGLISH_TITLE"/>
          <p:cNvSpPr txBox="1"/>
          <p:nvPr/>
        </p:nvSpPr>
        <p:spPr>
          <a:xfrm>
            <a:off x="822960" y="1481328"/>
            <a:ext cx="1056132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0" ea="Microsoft YaHei">
                <a:solidFill>
                  <a:srgbClr val="1E1E1E"/>
                </a:solidFill>
                <a:latin typeface="Microsoft YaHei"/>
              </a:rPr>
              <a:t>Vision-Guided Peony Interrow Weeder: Design and Prototype Validation</a:t>
            </a:r>
          </a:p>
        </p:txBody>
      </p:sp>
      <p:sp>
        <p:nvSpPr>
          <p:cNvPr id="3" name="AGENT_COVER_TITLE"/>
          <p:cNvSpPr txBox="1"/>
          <p:nvPr/>
        </p:nvSpPr>
        <p:spPr>
          <a:xfrm>
            <a:off x="822960" y="1865376"/>
            <a:ext cx="1056132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3000" b="0" ea="Microsoft YaHei">
                <a:solidFill>
                  <a:srgbClr val="8B0D18"/>
                </a:solidFill>
                <a:latin typeface="Microsoft YaHei"/>
              </a:rPr>
              <a:t>纯视觉芍药行间除草机器人</a:t>
            </a:r>
          </a:p>
        </p:txBody>
      </p:sp>
      <p:sp>
        <p:nvSpPr>
          <p:cNvPr id="4" name="AGENT_COVER_DIVIDER"/>
          <p:cNvSpPr/>
          <p:nvPr/>
        </p:nvSpPr>
        <p:spPr>
          <a:xfrm>
            <a:off x="914400" y="2578608"/>
            <a:ext cx="10360152" cy="16459"/>
          </a:xfrm>
          <a:prstGeom prst="rect">
            <a:avLst/>
          </a:prstGeom>
          <a:solidFill>
            <a:srgbClr val="8B0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AGENT_COVER_META_LEFT"/>
          <p:cNvSpPr txBox="1"/>
          <p:nvPr/>
        </p:nvSpPr>
        <p:spPr>
          <a:xfrm>
            <a:off x="1371600" y="3246120"/>
            <a:ext cx="40233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600" b="0" ea="Microsoft YaHei">
                <a:solidFill>
                  <a:srgbClr val="1E1E1E"/>
                </a:solidFill>
                <a:latin typeface="Microsoft YaHei"/>
              </a:rPr>
              <a:t>设计与样机验证 · 组会汇报 2026-09-16</a:t>
            </a:r>
          </a:p>
        </p:txBody>
      </p:sp>
      <p:sp>
        <p:nvSpPr>
          <p:cNvPr id="6" name="AGENT_COVER_META_RIGHT"/>
          <p:cNvSpPr txBox="1"/>
          <p:nvPr/>
        </p:nvSpPr>
        <p:spPr>
          <a:xfrm>
            <a:off x="6766560" y="3246120"/>
            <a:ext cx="40233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600" b="0" ea="Microsoft YaHei">
                <a:solidFill>
                  <a:srgbClr val="1E1E1E"/>
                </a:solidFill>
                <a:latin typeface="Microsoft YaHei"/>
              </a:rPr>
              <a:t>汇报人：杨顶浩</a:t>
            </a:r>
          </a:p>
        </p:txBody>
      </p:sp>
      <p:sp>
        <p:nvSpPr>
          <p:cNvPr id="7" name="AGENT_TAKEAWAY"/>
          <p:cNvSpPr txBox="1"/>
          <p:nvPr/>
        </p:nvSpPr>
        <p:spPr>
          <a:xfrm>
            <a:off x="1005840" y="4937760"/>
            <a:ext cx="1014984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0" ea="Microsoft YaHei">
                <a:solidFill>
                  <a:srgbClr val="8B0D18"/>
                </a:solidFill>
                <a:latin typeface="Microsoft YaHei"/>
              </a:rPr>
              <a:t>本周期进展：除草机构选型完成；进土深度反馈缺失，提请讨论</a:t>
            </a:r>
          </a:p>
        </p:txBody>
      </p:sp>
      <p:sp>
        <p:nvSpPr>
          <p:cNvPr id="8" name="AGENT_COVER_BOTTOM_BAND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8B0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AGENT_NAV_SLOT_0"/>
          <p:cNvSpPr/>
          <p:nvPr/>
        </p:nvSpPr>
        <p:spPr>
          <a:xfrm>
            <a:off x="146304" y="27432"/>
            <a:ext cx="2379268" cy="347472"/>
          </a:xfrm>
          <a:prstGeom prst="rect">
            <a:avLst/>
          </a:prstGeom>
          <a:solidFill>
            <a:srgbClr val="8B0D18"/>
          </a:solidFill>
          <a:ln w="1016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AGENT_NAV_LABEL_0"/>
          <p:cNvSpPr txBox="1"/>
          <p:nvPr/>
        </p:nvSpPr>
        <p:spPr>
          <a:xfrm>
            <a:off x="146304" y="59436"/>
            <a:ext cx="2379268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200" b="1" ea="Microsoft YaHei">
                <a:solidFill>
                  <a:srgbClr val="FFFFFF"/>
                </a:solidFill>
                <a:latin typeface="Microsoft YaHei"/>
              </a:rPr>
              <a:t>立题与约束</a:t>
            </a:r>
          </a:p>
        </p:txBody>
      </p:sp>
      <p:sp>
        <p:nvSpPr>
          <p:cNvPr id="4" name="AGENT_NAV_SLOT_1"/>
          <p:cNvSpPr/>
          <p:nvPr/>
        </p:nvSpPr>
        <p:spPr>
          <a:xfrm>
            <a:off x="2525572" y="27432"/>
            <a:ext cx="2379268" cy="347472"/>
          </a:xfrm>
          <a:prstGeom prst="rect">
            <a:avLst/>
          </a:prstGeom>
          <a:solidFill>
            <a:srgbClr val="FFFFFF"/>
          </a:solidFill>
          <a:ln w="1016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AGENT_NAV_LABEL_1"/>
          <p:cNvSpPr txBox="1"/>
          <p:nvPr/>
        </p:nvSpPr>
        <p:spPr>
          <a:xfrm>
            <a:off x="2525572" y="59436"/>
            <a:ext cx="2379268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200" b="0" ea="Microsoft YaHei">
                <a:solidFill>
                  <a:srgbClr val="1E1E1E"/>
                </a:solidFill>
                <a:latin typeface="Microsoft YaHei"/>
              </a:rPr>
              <a:t>除草机构选型</a:t>
            </a:r>
          </a:p>
        </p:txBody>
      </p:sp>
      <p:sp>
        <p:nvSpPr>
          <p:cNvPr id="6" name="AGENT_NAV_SLOT_2"/>
          <p:cNvSpPr/>
          <p:nvPr/>
        </p:nvSpPr>
        <p:spPr>
          <a:xfrm>
            <a:off x="4904841" y="27432"/>
            <a:ext cx="2379268" cy="347472"/>
          </a:xfrm>
          <a:prstGeom prst="rect">
            <a:avLst/>
          </a:prstGeom>
          <a:solidFill>
            <a:srgbClr val="FFFFFF"/>
          </a:solidFill>
          <a:ln w="1016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AGENT_NAV_LABEL_2"/>
          <p:cNvSpPr txBox="1"/>
          <p:nvPr/>
        </p:nvSpPr>
        <p:spPr>
          <a:xfrm>
            <a:off x="4904841" y="59436"/>
            <a:ext cx="2379268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200" b="0" ea="Microsoft YaHei">
                <a:solidFill>
                  <a:srgbClr val="1E1E1E"/>
                </a:solidFill>
                <a:latin typeface="Microsoft YaHei"/>
              </a:rPr>
              <a:t>设计与控制原理</a:t>
            </a:r>
          </a:p>
        </p:txBody>
      </p:sp>
      <p:sp>
        <p:nvSpPr>
          <p:cNvPr id="8" name="AGENT_NAV_SLOT_3"/>
          <p:cNvSpPr/>
          <p:nvPr/>
        </p:nvSpPr>
        <p:spPr>
          <a:xfrm>
            <a:off x="7284110" y="27432"/>
            <a:ext cx="2379268" cy="347472"/>
          </a:xfrm>
          <a:prstGeom prst="rect">
            <a:avLst/>
          </a:prstGeom>
          <a:solidFill>
            <a:srgbClr val="FFFFFF"/>
          </a:solidFill>
          <a:ln w="1016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AGENT_NAV_LABEL_3"/>
          <p:cNvSpPr txBox="1"/>
          <p:nvPr/>
        </p:nvSpPr>
        <p:spPr>
          <a:xfrm>
            <a:off x="7284110" y="59436"/>
            <a:ext cx="2379268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200" b="0" ea="Microsoft YaHei">
                <a:solidFill>
                  <a:srgbClr val="1E1E1E"/>
                </a:solidFill>
                <a:latin typeface="Microsoft YaHei"/>
              </a:rPr>
              <a:t>进土深度问题</a:t>
            </a:r>
          </a:p>
        </p:txBody>
      </p:sp>
      <p:sp>
        <p:nvSpPr>
          <p:cNvPr id="10" name="AGENT_NAV_SLOT_4"/>
          <p:cNvSpPr/>
          <p:nvPr/>
        </p:nvSpPr>
        <p:spPr>
          <a:xfrm>
            <a:off x="9663379" y="27432"/>
            <a:ext cx="2379268" cy="347472"/>
          </a:xfrm>
          <a:prstGeom prst="rect">
            <a:avLst/>
          </a:prstGeom>
          <a:solidFill>
            <a:srgbClr val="FFFFFF"/>
          </a:solidFill>
          <a:ln w="1016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AGENT_NAV_LABEL_4"/>
          <p:cNvSpPr txBox="1"/>
          <p:nvPr/>
        </p:nvSpPr>
        <p:spPr>
          <a:xfrm>
            <a:off x="9663379" y="59436"/>
            <a:ext cx="2379268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200" b="0" ea="Microsoft YaHei">
                <a:solidFill>
                  <a:srgbClr val="1E1E1E"/>
                </a:solidFill>
                <a:latin typeface="Microsoft YaHei"/>
              </a:rPr>
              <a:t>小结与讨论</a:t>
            </a:r>
          </a:p>
        </p:txBody>
      </p:sp>
      <p:sp>
        <p:nvSpPr>
          <p:cNvPr id="12" name="AGENT_FOOTER"/>
          <p:cNvSpPr txBox="1"/>
          <p:nvPr/>
        </p:nvSpPr>
        <p:spPr>
          <a:xfrm>
            <a:off x="320040" y="6510528"/>
            <a:ext cx="8595360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800" b="0" ea="Microsoft YaHei">
                <a:solidFill>
                  <a:srgbClr val="696969"/>
                </a:solidFill>
                <a:latin typeface="Microsoft YaHei"/>
              </a:rPr>
              <a:t>纯视觉芍药行间除草机器人 · 组会汇报 · 2026-09-16</a:t>
            </a:r>
          </a:p>
        </p:txBody>
      </p:sp>
      <p:sp>
        <p:nvSpPr>
          <p:cNvPr id="13" name="AGENT_PAGE_NUMBER"/>
          <p:cNvSpPr txBox="1"/>
          <p:nvPr/>
        </p:nvSpPr>
        <p:spPr>
          <a:xfrm>
            <a:off x="11521440" y="6501384"/>
            <a:ext cx="256032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800" b="0" ea="Microsoft YaHei">
                <a:solidFill>
                  <a:srgbClr val="696969"/>
                </a:solidFill>
                <a:latin typeface="Microsoft YaHei"/>
              </a:rPr>
              <a:t>2</a:t>
            </a:r>
          </a:p>
        </p:txBody>
      </p:sp>
      <p:sp>
        <p:nvSpPr>
          <p:cNvPr id="14" name="AGENT_TITLE"/>
          <p:cNvSpPr txBox="1"/>
          <p:nvPr/>
        </p:nvSpPr>
        <p:spPr>
          <a:xfrm>
            <a:off x="320040" y="539496"/>
            <a:ext cx="1129284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000" b="0" ea="Microsoft YaHei">
                <a:solidFill>
                  <a:srgbClr val="8B0D18"/>
                </a:solidFill>
                <a:latin typeface="Microsoft YaHei"/>
              </a:rPr>
              <a:t>行间除草是芍药管理的劳力与成本瓶颈</a:t>
            </a:r>
          </a:p>
        </p:txBody>
      </p:sp>
      <p:sp>
        <p:nvSpPr>
          <p:cNvPr id="15" name="AGENT_TEXT_PANEL"/>
          <p:cNvSpPr/>
          <p:nvPr/>
        </p:nvSpPr>
        <p:spPr>
          <a:xfrm>
            <a:off x="685800" y="1417320"/>
            <a:ext cx="10835640" cy="443484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AGENT_BODY"/>
          <p:cNvSpPr txBox="1"/>
          <p:nvPr/>
        </p:nvSpPr>
        <p:spPr>
          <a:xfrm>
            <a:off x="960120" y="1664208"/>
            <a:ext cx="10287000" cy="3931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0" ea="Microsoft YaHei">
                <a:solidFill>
                  <a:srgbClr val="1E1E1E"/>
                </a:solidFill>
                <a:latin typeface="Microsoft YaHei"/>
              </a:rPr>
              <a:t>1. 人工 0.3~0.5 亩/(人·天)，占种植管理总成本 40% 以上
2. 双子叶作物行内无法选择性施药，零农残下化学除草不可用
3. 芍药为多年生宿根作物，生长早期冠层覆盖度低
4. 株间除草不在范围内，只做行间，绕开单株识别难题</a:t>
            </a:r>
          </a:p>
        </p:txBody>
      </p:sp>
      <p:sp>
        <p:nvSpPr>
          <p:cNvPr id="17" name="AGENT_TAKEAWAY"/>
          <p:cNvSpPr txBox="1"/>
          <p:nvPr/>
        </p:nvSpPr>
        <p:spPr>
          <a:xfrm>
            <a:off x="868680" y="5989320"/>
            <a:ext cx="101955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1" ea="Microsoft YaHei">
                <a:solidFill>
                  <a:srgbClr val="8B0D18"/>
                </a:solidFill>
                <a:latin typeface="Microsoft YaHei"/>
              </a:rPr>
              <a:t>问题由农艺约束提出，不是由算力提出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AGENT_NAV_SLOT_0"/>
          <p:cNvSpPr/>
          <p:nvPr/>
        </p:nvSpPr>
        <p:spPr>
          <a:xfrm>
            <a:off x="146304" y="27432"/>
            <a:ext cx="2379268" cy="347472"/>
          </a:xfrm>
          <a:prstGeom prst="rect">
            <a:avLst/>
          </a:prstGeom>
          <a:solidFill>
            <a:srgbClr val="8B0D18"/>
          </a:solidFill>
          <a:ln w="1016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AGENT_NAV_LABEL_0"/>
          <p:cNvSpPr txBox="1"/>
          <p:nvPr/>
        </p:nvSpPr>
        <p:spPr>
          <a:xfrm>
            <a:off x="146304" y="59436"/>
            <a:ext cx="2379268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200" b="1" ea="Microsoft YaHei">
                <a:solidFill>
                  <a:srgbClr val="FFFFFF"/>
                </a:solidFill>
                <a:latin typeface="Microsoft YaHei"/>
              </a:rPr>
              <a:t>立题与约束</a:t>
            </a:r>
          </a:p>
        </p:txBody>
      </p:sp>
      <p:sp>
        <p:nvSpPr>
          <p:cNvPr id="4" name="AGENT_NAV_SLOT_1"/>
          <p:cNvSpPr/>
          <p:nvPr/>
        </p:nvSpPr>
        <p:spPr>
          <a:xfrm>
            <a:off x="2525572" y="27432"/>
            <a:ext cx="2379268" cy="347472"/>
          </a:xfrm>
          <a:prstGeom prst="rect">
            <a:avLst/>
          </a:prstGeom>
          <a:solidFill>
            <a:srgbClr val="FFFFFF"/>
          </a:solidFill>
          <a:ln w="1016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AGENT_NAV_LABEL_1"/>
          <p:cNvSpPr txBox="1"/>
          <p:nvPr/>
        </p:nvSpPr>
        <p:spPr>
          <a:xfrm>
            <a:off x="2525572" y="59436"/>
            <a:ext cx="2379268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200" b="0" ea="Microsoft YaHei">
                <a:solidFill>
                  <a:srgbClr val="1E1E1E"/>
                </a:solidFill>
                <a:latin typeface="Microsoft YaHei"/>
              </a:rPr>
              <a:t>除草机构选型</a:t>
            </a:r>
          </a:p>
        </p:txBody>
      </p:sp>
      <p:sp>
        <p:nvSpPr>
          <p:cNvPr id="6" name="AGENT_NAV_SLOT_2"/>
          <p:cNvSpPr/>
          <p:nvPr/>
        </p:nvSpPr>
        <p:spPr>
          <a:xfrm>
            <a:off x="4904841" y="27432"/>
            <a:ext cx="2379268" cy="347472"/>
          </a:xfrm>
          <a:prstGeom prst="rect">
            <a:avLst/>
          </a:prstGeom>
          <a:solidFill>
            <a:srgbClr val="FFFFFF"/>
          </a:solidFill>
          <a:ln w="1016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AGENT_NAV_LABEL_2"/>
          <p:cNvSpPr txBox="1"/>
          <p:nvPr/>
        </p:nvSpPr>
        <p:spPr>
          <a:xfrm>
            <a:off x="4904841" y="59436"/>
            <a:ext cx="2379268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200" b="0" ea="Microsoft YaHei">
                <a:solidFill>
                  <a:srgbClr val="1E1E1E"/>
                </a:solidFill>
                <a:latin typeface="Microsoft YaHei"/>
              </a:rPr>
              <a:t>设计与控制原理</a:t>
            </a:r>
          </a:p>
        </p:txBody>
      </p:sp>
      <p:sp>
        <p:nvSpPr>
          <p:cNvPr id="8" name="AGENT_NAV_SLOT_3"/>
          <p:cNvSpPr/>
          <p:nvPr/>
        </p:nvSpPr>
        <p:spPr>
          <a:xfrm>
            <a:off x="7284110" y="27432"/>
            <a:ext cx="2379268" cy="347472"/>
          </a:xfrm>
          <a:prstGeom prst="rect">
            <a:avLst/>
          </a:prstGeom>
          <a:solidFill>
            <a:srgbClr val="FFFFFF"/>
          </a:solidFill>
          <a:ln w="1016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AGENT_NAV_LABEL_3"/>
          <p:cNvSpPr txBox="1"/>
          <p:nvPr/>
        </p:nvSpPr>
        <p:spPr>
          <a:xfrm>
            <a:off x="7284110" y="59436"/>
            <a:ext cx="2379268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200" b="0" ea="Microsoft YaHei">
                <a:solidFill>
                  <a:srgbClr val="1E1E1E"/>
                </a:solidFill>
                <a:latin typeface="Microsoft YaHei"/>
              </a:rPr>
              <a:t>进土深度问题</a:t>
            </a:r>
          </a:p>
        </p:txBody>
      </p:sp>
      <p:sp>
        <p:nvSpPr>
          <p:cNvPr id="10" name="AGENT_NAV_SLOT_4"/>
          <p:cNvSpPr/>
          <p:nvPr/>
        </p:nvSpPr>
        <p:spPr>
          <a:xfrm>
            <a:off x="9663379" y="27432"/>
            <a:ext cx="2379268" cy="347472"/>
          </a:xfrm>
          <a:prstGeom prst="rect">
            <a:avLst/>
          </a:prstGeom>
          <a:solidFill>
            <a:srgbClr val="FFFFFF"/>
          </a:solidFill>
          <a:ln w="1016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AGENT_NAV_LABEL_4"/>
          <p:cNvSpPr txBox="1"/>
          <p:nvPr/>
        </p:nvSpPr>
        <p:spPr>
          <a:xfrm>
            <a:off x="9663379" y="59436"/>
            <a:ext cx="2379268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200" b="0" ea="Microsoft YaHei">
                <a:solidFill>
                  <a:srgbClr val="1E1E1E"/>
                </a:solidFill>
                <a:latin typeface="Microsoft YaHei"/>
              </a:rPr>
              <a:t>小结与讨论</a:t>
            </a:r>
          </a:p>
        </p:txBody>
      </p:sp>
      <p:sp>
        <p:nvSpPr>
          <p:cNvPr id="12" name="AGENT_FOOTER"/>
          <p:cNvSpPr txBox="1"/>
          <p:nvPr/>
        </p:nvSpPr>
        <p:spPr>
          <a:xfrm>
            <a:off x="320040" y="6510528"/>
            <a:ext cx="8595360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800" b="0" ea="Microsoft YaHei">
                <a:solidFill>
                  <a:srgbClr val="696969"/>
                </a:solidFill>
                <a:latin typeface="Microsoft YaHei"/>
              </a:rPr>
              <a:t>纯视觉芍药行间除草机器人 · 组会汇报 · 2026-09-16</a:t>
            </a:r>
          </a:p>
        </p:txBody>
      </p:sp>
      <p:sp>
        <p:nvSpPr>
          <p:cNvPr id="13" name="AGENT_PAGE_NUMBER"/>
          <p:cNvSpPr txBox="1"/>
          <p:nvPr/>
        </p:nvSpPr>
        <p:spPr>
          <a:xfrm>
            <a:off x="11521440" y="6501384"/>
            <a:ext cx="256032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800" b="0" ea="Microsoft YaHei">
                <a:solidFill>
                  <a:srgbClr val="696969"/>
                </a:solidFill>
                <a:latin typeface="Microsoft YaHei"/>
              </a:rPr>
              <a:t>3</a:t>
            </a:r>
          </a:p>
        </p:txBody>
      </p:sp>
      <p:sp>
        <p:nvSpPr>
          <p:cNvPr id="14" name="AGENT_TITLE"/>
          <p:cNvSpPr txBox="1"/>
          <p:nvPr/>
        </p:nvSpPr>
        <p:spPr>
          <a:xfrm>
            <a:off x="320040" y="539496"/>
            <a:ext cx="1129284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000" b="0" ea="Microsoft YaHei">
                <a:solidFill>
                  <a:srgbClr val="8B0D18"/>
                </a:solidFill>
                <a:latin typeface="Microsoft YaHei"/>
              </a:rPr>
              <a:t>农艺约束框定了样机的设计边界</a:t>
            </a:r>
          </a:p>
        </p:txBody>
      </p:sp>
      <p:sp>
        <p:nvSpPr>
          <p:cNvPr id="15" name="AGENT_SUMMARY_LINE_0"/>
          <p:cNvSpPr/>
          <p:nvPr/>
        </p:nvSpPr>
        <p:spPr>
          <a:xfrm>
            <a:off x="868680" y="1417320"/>
            <a:ext cx="10378440" cy="10972"/>
          </a:xfrm>
          <a:prstGeom prst="rect">
            <a:avLst/>
          </a:prstGeom>
          <a:solidFill>
            <a:srgbClr val="8B0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AGENT_SUMMARY_LABEL_0"/>
          <p:cNvSpPr txBox="1"/>
          <p:nvPr/>
        </p:nvSpPr>
        <p:spPr>
          <a:xfrm>
            <a:off x="960120" y="1527048"/>
            <a:ext cx="1828800" cy="89839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900" b="1" ea="Microsoft YaHei">
                <a:solidFill>
                  <a:srgbClr val="8B0D18"/>
                </a:solidFill>
                <a:latin typeface="Microsoft YaHei"/>
              </a:rPr>
              <a:t>行距</a:t>
            </a:r>
          </a:p>
        </p:txBody>
      </p:sp>
      <p:sp>
        <p:nvSpPr>
          <p:cNvPr id="17" name="AGENT_SUMMARY_VALUE_0"/>
          <p:cNvSpPr txBox="1"/>
          <p:nvPr/>
        </p:nvSpPr>
        <p:spPr>
          <a:xfrm>
            <a:off x="2926080" y="1527048"/>
            <a:ext cx="7909560" cy="89839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0" ea="Microsoft YaHei">
                <a:solidFill>
                  <a:srgbClr val="1E1E1E"/>
                </a:solidFill>
                <a:latin typeface="Microsoft YaHei"/>
              </a:rPr>
              <a:t>30~40 cm，轮距与刀间距机械可调</a:t>
            </a:r>
          </a:p>
        </p:txBody>
      </p:sp>
      <p:sp>
        <p:nvSpPr>
          <p:cNvPr id="18" name="AGENT_SUMMARY_LINE_1"/>
          <p:cNvSpPr/>
          <p:nvPr/>
        </p:nvSpPr>
        <p:spPr>
          <a:xfrm>
            <a:off x="868680" y="2480310"/>
            <a:ext cx="10378440" cy="10972"/>
          </a:xfrm>
          <a:prstGeom prst="rect">
            <a:avLst/>
          </a:prstGeom>
          <a:solidFill>
            <a:srgbClr val="8B0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AGENT_SUMMARY_LABEL_1"/>
          <p:cNvSpPr txBox="1"/>
          <p:nvPr/>
        </p:nvSpPr>
        <p:spPr>
          <a:xfrm>
            <a:off x="960120" y="2590038"/>
            <a:ext cx="1828800" cy="89839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900" b="1" ea="Microsoft YaHei">
                <a:solidFill>
                  <a:srgbClr val="8B0D18"/>
                </a:solidFill>
                <a:latin typeface="Microsoft YaHei"/>
              </a:rPr>
              <a:t>地形</a:t>
            </a:r>
          </a:p>
        </p:txBody>
      </p:sp>
      <p:sp>
        <p:nvSpPr>
          <p:cNvPr id="20" name="AGENT_SUMMARY_VALUE_1"/>
          <p:cNvSpPr txBox="1"/>
          <p:nvPr/>
        </p:nvSpPr>
        <p:spPr>
          <a:xfrm>
            <a:off x="2926080" y="2590038"/>
            <a:ext cx="7909560" cy="89839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0" ea="Microsoft YaHei">
                <a:solidFill>
                  <a:srgbClr val="1E1E1E"/>
                </a:solidFill>
                <a:latin typeface="Microsoft YaHei"/>
              </a:rPr>
              <a:t>0~15°</a:t>
            </a:r>
          </a:p>
        </p:txBody>
      </p:sp>
      <p:sp>
        <p:nvSpPr>
          <p:cNvPr id="21" name="AGENT_SUMMARY_LINE_2"/>
          <p:cNvSpPr/>
          <p:nvPr/>
        </p:nvSpPr>
        <p:spPr>
          <a:xfrm>
            <a:off x="868680" y="3543300"/>
            <a:ext cx="10378440" cy="10972"/>
          </a:xfrm>
          <a:prstGeom prst="rect">
            <a:avLst/>
          </a:prstGeom>
          <a:solidFill>
            <a:srgbClr val="8B0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AGENT_SUMMARY_LABEL_2"/>
          <p:cNvSpPr txBox="1"/>
          <p:nvPr/>
        </p:nvSpPr>
        <p:spPr>
          <a:xfrm>
            <a:off x="960120" y="3653028"/>
            <a:ext cx="1828800" cy="89839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900" b="1" ea="Microsoft YaHei">
                <a:solidFill>
                  <a:srgbClr val="8B0D18"/>
                </a:solidFill>
                <a:latin typeface="Microsoft YaHei"/>
              </a:rPr>
              <a:t>目标耕深</a:t>
            </a:r>
          </a:p>
        </p:txBody>
      </p:sp>
      <p:sp>
        <p:nvSpPr>
          <p:cNvPr id="23" name="AGENT_SUMMARY_VALUE_2"/>
          <p:cNvSpPr txBox="1"/>
          <p:nvPr/>
        </p:nvSpPr>
        <p:spPr>
          <a:xfrm>
            <a:off x="2926080" y="3653028"/>
            <a:ext cx="7909560" cy="89839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0" ea="Microsoft YaHei">
                <a:solidFill>
                  <a:srgbClr val="1E1E1E"/>
                </a:solidFill>
                <a:latin typeface="Microsoft YaHei"/>
              </a:rPr>
              <a:t>30 mm、误差 ±5 mm</a:t>
            </a:r>
          </a:p>
        </p:txBody>
      </p:sp>
      <p:sp>
        <p:nvSpPr>
          <p:cNvPr id="24" name="AGENT_SUMMARY_LINE_3"/>
          <p:cNvSpPr/>
          <p:nvPr/>
        </p:nvSpPr>
        <p:spPr>
          <a:xfrm>
            <a:off x="868680" y="4606290"/>
            <a:ext cx="10378440" cy="10972"/>
          </a:xfrm>
          <a:prstGeom prst="rect">
            <a:avLst/>
          </a:prstGeom>
          <a:solidFill>
            <a:srgbClr val="8B0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AGENT_SUMMARY_LABEL_3"/>
          <p:cNvSpPr txBox="1"/>
          <p:nvPr/>
        </p:nvSpPr>
        <p:spPr>
          <a:xfrm>
            <a:off x="960120" y="4716018"/>
            <a:ext cx="1828800" cy="89839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900" b="1" ea="Microsoft YaHei">
                <a:solidFill>
                  <a:srgbClr val="8B0D18"/>
                </a:solidFill>
                <a:latin typeface="Microsoft YaHei"/>
              </a:rPr>
              <a:t>物候</a:t>
            </a:r>
          </a:p>
        </p:txBody>
      </p:sp>
      <p:sp>
        <p:nvSpPr>
          <p:cNvPr id="26" name="AGENT_SUMMARY_VALUE_3"/>
          <p:cNvSpPr txBox="1"/>
          <p:nvPr/>
        </p:nvSpPr>
        <p:spPr>
          <a:xfrm>
            <a:off x="2926080" y="4716018"/>
            <a:ext cx="7909560" cy="89839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0" ea="Microsoft YaHei">
                <a:solidFill>
                  <a:srgbClr val="1E1E1E"/>
                </a:solidFill>
                <a:latin typeface="Microsoft YaHei"/>
              </a:rPr>
              <a:t>多年生宿根，早期冠层覆盖度低</a:t>
            </a:r>
          </a:p>
        </p:txBody>
      </p:sp>
      <p:sp>
        <p:nvSpPr>
          <p:cNvPr id="27" name="AGENT_TAKEAWAY"/>
          <p:cNvSpPr txBox="1"/>
          <p:nvPr/>
        </p:nvSpPr>
        <p:spPr>
          <a:xfrm>
            <a:off x="868680" y="5989320"/>
            <a:ext cx="101955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1" ea="Microsoft YaHei">
                <a:solidFill>
                  <a:srgbClr val="8B0D18"/>
                </a:solidFill>
                <a:latin typeface="Microsoft YaHei"/>
              </a:rPr>
              <a:t>凡未登记的量一律标待实测，不用常识补值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AGENT_NAV_SLOT_0"/>
          <p:cNvSpPr/>
          <p:nvPr/>
        </p:nvSpPr>
        <p:spPr>
          <a:xfrm>
            <a:off x="146304" y="27432"/>
            <a:ext cx="2379268" cy="347472"/>
          </a:xfrm>
          <a:prstGeom prst="rect">
            <a:avLst/>
          </a:prstGeom>
          <a:solidFill>
            <a:srgbClr val="FFFFFF"/>
          </a:solidFill>
          <a:ln w="1016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AGENT_NAV_LABEL_0"/>
          <p:cNvSpPr txBox="1"/>
          <p:nvPr/>
        </p:nvSpPr>
        <p:spPr>
          <a:xfrm>
            <a:off x="146304" y="59436"/>
            <a:ext cx="2379268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200" b="0" ea="Microsoft YaHei">
                <a:solidFill>
                  <a:srgbClr val="1E1E1E"/>
                </a:solidFill>
                <a:latin typeface="Microsoft YaHei"/>
              </a:rPr>
              <a:t>立题与约束</a:t>
            </a:r>
          </a:p>
        </p:txBody>
      </p:sp>
      <p:sp>
        <p:nvSpPr>
          <p:cNvPr id="4" name="AGENT_NAV_SLOT_1"/>
          <p:cNvSpPr/>
          <p:nvPr/>
        </p:nvSpPr>
        <p:spPr>
          <a:xfrm>
            <a:off x="2525572" y="27432"/>
            <a:ext cx="2379268" cy="347472"/>
          </a:xfrm>
          <a:prstGeom prst="rect">
            <a:avLst/>
          </a:prstGeom>
          <a:solidFill>
            <a:srgbClr val="8B0D18"/>
          </a:solidFill>
          <a:ln w="1016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AGENT_NAV_LABEL_1"/>
          <p:cNvSpPr txBox="1"/>
          <p:nvPr/>
        </p:nvSpPr>
        <p:spPr>
          <a:xfrm>
            <a:off x="2525572" y="59436"/>
            <a:ext cx="2379268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200" b="1" ea="Microsoft YaHei">
                <a:solidFill>
                  <a:srgbClr val="FFFFFF"/>
                </a:solidFill>
                <a:latin typeface="Microsoft YaHei"/>
              </a:rPr>
              <a:t>除草机构选型</a:t>
            </a:r>
          </a:p>
        </p:txBody>
      </p:sp>
      <p:sp>
        <p:nvSpPr>
          <p:cNvPr id="6" name="AGENT_NAV_SLOT_2"/>
          <p:cNvSpPr/>
          <p:nvPr/>
        </p:nvSpPr>
        <p:spPr>
          <a:xfrm>
            <a:off x="4904841" y="27432"/>
            <a:ext cx="2379268" cy="347472"/>
          </a:xfrm>
          <a:prstGeom prst="rect">
            <a:avLst/>
          </a:prstGeom>
          <a:solidFill>
            <a:srgbClr val="FFFFFF"/>
          </a:solidFill>
          <a:ln w="1016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AGENT_NAV_LABEL_2"/>
          <p:cNvSpPr txBox="1"/>
          <p:nvPr/>
        </p:nvSpPr>
        <p:spPr>
          <a:xfrm>
            <a:off x="4904841" y="59436"/>
            <a:ext cx="2379268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200" b="0" ea="Microsoft YaHei">
                <a:solidFill>
                  <a:srgbClr val="1E1E1E"/>
                </a:solidFill>
                <a:latin typeface="Microsoft YaHei"/>
              </a:rPr>
              <a:t>设计与控制原理</a:t>
            </a:r>
          </a:p>
        </p:txBody>
      </p:sp>
      <p:sp>
        <p:nvSpPr>
          <p:cNvPr id="8" name="AGENT_NAV_SLOT_3"/>
          <p:cNvSpPr/>
          <p:nvPr/>
        </p:nvSpPr>
        <p:spPr>
          <a:xfrm>
            <a:off x="7284110" y="27432"/>
            <a:ext cx="2379268" cy="347472"/>
          </a:xfrm>
          <a:prstGeom prst="rect">
            <a:avLst/>
          </a:prstGeom>
          <a:solidFill>
            <a:srgbClr val="FFFFFF"/>
          </a:solidFill>
          <a:ln w="1016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AGENT_NAV_LABEL_3"/>
          <p:cNvSpPr txBox="1"/>
          <p:nvPr/>
        </p:nvSpPr>
        <p:spPr>
          <a:xfrm>
            <a:off x="7284110" y="59436"/>
            <a:ext cx="2379268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200" b="0" ea="Microsoft YaHei">
                <a:solidFill>
                  <a:srgbClr val="1E1E1E"/>
                </a:solidFill>
                <a:latin typeface="Microsoft YaHei"/>
              </a:rPr>
              <a:t>进土深度问题</a:t>
            </a:r>
          </a:p>
        </p:txBody>
      </p:sp>
      <p:sp>
        <p:nvSpPr>
          <p:cNvPr id="10" name="AGENT_NAV_SLOT_4"/>
          <p:cNvSpPr/>
          <p:nvPr/>
        </p:nvSpPr>
        <p:spPr>
          <a:xfrm>
            <a:off x="9663379" y="27432"/>
            <a:ext cx="2379268" cy="347472"/>
          </a:xfrm>
          <a:prstGeom prst="rect">
            <a:avLst/>
          </a:prstGeom>
          <a:solidFill>
            <a:srgbClr val="FFFFFF"/>
          </a:solidFill>
          <a:ln w="1016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AGENT_NAV_LABEL_4"/>
          <p:cNvSpPr txBox="1"/>
          <p:nvPr/>
        </p:nvSpPr>
        <p:spPr>
          <a:xfrm>
            <a:off x="9663379" y="59436"/>
            <a:ext cx="2379268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200" b="0" ea="Microsoft YaHei">
                <a:solidFill>
                  <a:srgbClr val="1E1E1E"/>
                </a:solidFill>
                <a:latin typeface="Microsoft YaHei"/>
              </a:rPr>
              <a:t>小结与讨论</a:t>
            </a:r>
          </a:p>
        </p:txBody>
      </p:sp>
      <p:sp>
        <p:nvSpPr>
          <p:cNvPr id="12" name="AGENT_FOOTER"/>
          <p:cNvSpPr txBox="1"/>
          <p:nvPr/>
        </p:nvSpPr>
        <p:spPr>
          <a:xfrm>
            <a:off x="320040" y="6510528"/>
            <a:ext cx="8595360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800" b="0" ea="Microsoft YaHei">
                <a:solidFill>
                  <a:srgbClr val="696969"/>
                </a:solidFill>
                <a:latin typeface="Microsoft YaHei"/>
              </a:rPr>
              <a:t>纯视觉芍药行间除草机器人 · 组会汇报 · 2026-09-16</a:t>
            </a:r>
          </a:p>
        </p:txBody>
      </p:sp>
      <p:sp>
        <p:nvSpPr>
          <p:cNvPr id="13" name="AGENT_PAGE_NUMBER"/>
          <p:cNvSpPr txBox="1"/>
          <p:nvPr/>
        </p:nvSpPr>
        <p:spPr>
          <a:xfrm>
            <a:off x="11521440" y="6501384"/>
            <a:ext cx="256032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800" b="0" ea="Microsoft YaHei">
                <a:solidFill>
                  <a:srgbClr val="696969"/>
                </a:solidFill>
                <a:latin typeface="Microsoft YaHei"/>
              </a:rPr>
              <a:t>4</a:t>
            </a:r>
          </a:p>
        </p:txBody>
      </p:sp>
      <p:sp>
        <p:nvSpPr>
          <p:cNvPr id="14" name="AGENT_TITLE"/>
          <p:cNvSpPr txBox="1"/>
          <p:nvPr/>
        </p:nvSpPr>
        <p:spPr>
          <a:xfrm>
            <a:off x="320040" y="539496"/>
            <a:ext cx="1129284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000" b="0" ea="Microsoft YaHei">
                <a:solidFill>
                  <a:srgbClr val="8B0D18"/>
                </a:solidFill>
                <a:latin typeface="Microsoft YaHei"/>
              </a:rPr>
              <a:t>八类除草机构逐个筛，六类被排除</a:t>
            </a:r>
          </a:p>
        </p:txBody>
      </p:sp>
      <p:sp>
        <p:nvSpPr>
          <p:cNvPr id="15" name="AGENT_TEXT_PANEL"/>
          <p:cNvSpPr/>
          <p:nvPr/>
        </p:nvSpPr>
        <p:spPr>
          <a:xfrm>
            <a:off x="685800" y="1417320"/>
            <a:ext cx="10835640" cy="443484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AGENT_BODY"/>
          <p:cNvSpPr txBox="1"/>
          <p:nvPr/>
        </p:nvSpPr>
        <p:spPr>
          <a:xfrm>
            <a:off x="960120" y="1664208"/>
            <a:ext cx="10287000" cy="3931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0" ea="Microsoft YaHei">
                <a:solidFill>
                  <a:srgbClr val="1E1E1E"/>
                </a:solidFill>
                <a:latin typeface="Microsoft YaHei"/>
              </a:rPr>
              <a:t>1. 评价维度：通过性·伤苗风险·入土稳定性·抗堵·窄行适配·造价
2. 圆盘割刀、旋转锄：需附加驱动且扰动大，易伤宿根根系
3. 立式除草轮与梳齿轮、往复切割器：面向密植株间，窄行间通过性差
4. 激光与火焰、机械臂拔草：能耗与节拍不匹配，决策 D2 已排除
5. 化学除草：行内无选择性，零农残要求下不可用</a:t>
            </a:r>
          </a:p>
        </p:txBody>
      </p:sp>
      <p:sp>
        <p:nvSpPr>
          <p:cNvPr id="17" name="AGENT_TAKEAWAY"/>
          <p:cNvSpPr txBox="1"/>
          <p:nvPr/>
        </p:nvSpPr>
        <p:spPr>
          <a:xfrm>
            <a:off x="868680" y="5989320"/>
            <a:ext cx="101955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1" ea="Microsoft YaHei">
                <a:solidFill>
                  <a:srgbClr val="8B0D18"/>
                </a:solidFill>
                <a:latin typeface="Microsoft YaHei"/>
              </a:rPr>
              <a:t>属针对性检索而非系统综述，商品机型文献缺口已登记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AGENT_NAV_SLOT_0"/>
          <p:cNvSpPr/>
          <p:nvPr/>
        </p:nvSpPr>
        <p:spPr>
          <a:xfrm>
            <a:off x="146304" y="27432"/>
            <a:ext cx="2379268" cy="347472"/>
          </a:xfrm>
          <a:prstGeom prst="rect">
            <a:avLst/>
          </a:prstGeom>
          <a:solidFill>
            <a:srgbClr val="FFFFFF"/>
          </a:solidFill>
          <a:ln w="1016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AGENT_NAV_LABEL_0"/>
          <p:cNvSpPr txBox="1"/>
          <p:nvPr/>
        </p:nvSpPr>
        <p:spPr>
          <a:xfrm>
            <a:off x="146304" y="59436"/>
            <a:ext cx="2379268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200" b="0" ea="Microsoft YaHei">
                <a:solidFill>
                  <a:srgbClr val="1E1E1E"/>
                </a:solidFill>
                <a:latin typeface="Microsoft YaHei"/>
              </a:rPr>
              <a:t>立题与约束</a:t>
            </a:r>
          </a:p>
        </p:txBody>
      </p:sp>
      <p:sp>
        <p:nvSpPr>
          <p:cNvPr id="4" name="AGENT_NAV_SLOT_1"/>
          <p:cNvSpPr/>
          <p:nvPr/>
        </p:nvSpPr>
        <p:spPr>
          <a:xfrm>
            <a:off x="2525572" y="27432"/>
            <a:ext cx="2379268" cy="347472"/>
          </a:xfrm>
          <a:prstGeom prst="rect">
            <a:avLst/>
          </a:prstGeom>
          <a:solidFill>
            <a:srgbClr val="8B0D18"/>
          </a:solidFill>
          <a:ln w="1016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AGENT_NAV_LABEL_1"/>
          <p:cNvSpPr txBox="1"/>
          <p:nvPr/>
        </p:nvSpPr>
        <p:spPr>
          <a:xfrm>
            <a:off x="2525572" y="59436"/>
            <a:ext cx="2379268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200" b="1" ea="Microsoft YaHei">
                <a:solidFill>
                  <a:srgbClr val="FFFFFF"/>
                </a:solidFill>
                <a:latin typeface="Microsoft YaHei"/>
              </a:rPr>
              <a:t>除草机构选型</a:t>
            </a:r>
          </a:p>
        </p:txBody>
      </p:sp>
      <p:sp>
        <p:nvSpPr>
          <p:cNvPr id="6" name="AGENT_NAV_SLOT_2"/>
          <p:cNvSpPr/>
          <p:nvPr/>
        </p:nvSpPr>
        <p:spPr>
          <a:xfrm>
            <a:off x="4904841" y="27432"/>
            <a:ext cx="2379268" cy="347472"/>
          </a:xfrm>
          <a:prstGeom prst="rect">
            <a:avLst/>
          </a:prstGeom>
          <a:solidFill>
            <a:srgbClr val="FFFFFF"/>
          </a:solidFill>
          <a:ln w="1016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AGENT_NAV_LABEL_2"/>
          <p:cNvSpPr txBox="1"/>
          <p:nvPr/>
        </p:nvSpPr>
        <p:spPr>
          <a:xfrm>
            <a:off x="4904841" y="59436"/>
            <a:ext cx="2379268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200" b="0" ea="Microsoft YaHei">
                <a:solidFill>
                  <a:srgbClr val="1E1E1E"/>
                </a:solidFill>
                <a:latin typeface="Microsoft YaHei"/>
              </a:rPr>
              <a:t>设计与控制原理</a:t>
            </a:r>
          </a:p>
        </p:txBody>
      </p:sp>
      <p:sp>
        <p:nvSpPr>
          <p:cNvPr id="8" name="AGENT_NAV_SLOT_3"/>
          <p:cNvSpPr/>
          <p:nvPr/>
        </p:nvSpPr>
        <p:spPr>
          <a:xfrm>
            <a:off x="7284110" y="27432"/>
            <a:ext cx="2379268" cy="347472"/>
          </a:xfrm>
          <a:prstGeom prst="rect">
            <a:avLst/>
          </a:prstGeom>
          <a:solidFill>
            <a:srgbClr val="FFFFFF"/>
          </a:solidFill>
          <a:ln w="1016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AGENT_NAV_LABEL_3"/>
          <p:cNvSpPr txBox="1"/>
          <p:nvPr/>
        </p:nvSpPr>
        <p:spPr>
          <a:xfrm>
            <a:off x="7284110" y="59436"/>
            <a:ext cx="2379268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200" b="0" ea="Microsoft YaHei">
                <a:solidFill>
                  <a:srgbClr val="1E1E1E"/>
                </a:solidFill>
                <a:latin typeface="Microsoft YaHei"/>
              </a:rPr>
              <a:t>进土深度问题</a:t>
            </a:r>
          </a:p>
        </p:txBody>
      </p:sp>
      <p:sp>
        <p:nvSpPr>
          <p:cNvPr id="10" name="AGENT_NAV_SLOT_4"/>
          <p:cNvSpPr/>
          <p:nvPr/>
        </p:nvSpPr>
        <p:spPr>
          <a:xfrm>
            <a:off x="9663379" y="27432"/>
            <a:ext cx="2379268" cy="347472"/>
          </a:xfrm>
          <a:prstGeom prst="rect">
            <a:avLst/>
          </a:prstGeom>
          <a:solidFill>
            <a:srgbClr val="FFFFFF"/>
          </a:solidFill>
          <a:ln w="1016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AGENT_NAV_LABEL_4"/>
          <p:cNvSpPr txBox="1"/>
          <p:nvPr/>
        </p:nvSpPr>
        <p:spPr>
          <a:xfrm>
            <a:off x="9663379" y="59436"/>
            <a:ext cx="2379268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200" b="0" ea="Microsoft YaHei">
                <a:solidFill>
                  <a:srgbClr val="1E1E1E"/>
                </a:solidFill>
                <a:latin typeface="Microsoft YaHei"/>
              </a:rPr>
              <a:t>小结与讨论</a:t>
            </a:r>
          </a:p>
        </p:txBody>
      </p:sp>
      <p:sp>
        <p:nvSpPr>
          <p:cNvPr id="12" name="AGENT_FOOTER"/>
          <p:cNvSpPr txBox="1"/>
          <p:nvPr/>
        </p:nvSpPr>
        <p:spPr>
          <a:xfrm>
            <a:off x="320040" y="6510528"/>
            <a:ext cx="8595360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800" b="0" ea="Microsoft YaHei">
                <a:solidFill>
                  <a:srgbClr val="696969"/>
                </a:solidFill>
                <a:latin typeface="Microsoft YaHei"/>
              </a:rPr>
              <a:t>纯视觉芍药行间除草机器人 · 组会汇报 · 2026-09-16</a:t>
            </a:r>
          </a:p>
        </p:txBody>
      </p:sp>
      <p:sp>
        <p:nvSpPr>
          <p:cNvPr id="13" name="AGENT_PAGE_NUMBER"/>
          <p:cNvSpPr txBox="1"/>
          <p:nvPr/>
        </p:nvSpPr>
        <p:spPr>
          <a:xfrm>
            <a:off x="11521440" y="6501384"/>
            <a:ext cx="256032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800" b="0" ea="Microsoft YaHei">
                <a:solidFill>
                  <a:srgbClr val="696969"/>
                </a:solidFill>
                <a:latin typeface="Microsoft YaHei"/>
              </a:rPr>
              <a:t>5</a:t>
            </a:r>
          </a:p>
        </p:txBody>
      </p:sp>
      <p:sp>
        <p:nvSpPr>
          <p:cNvPr id="14" name="AGENT_TITLE"/>
          <p:cNvSpPr txBox="1"/>
          <p:nvPr/>
        </p:nvSpPr>
        <p:spPr>
          <a:xfrm>
            <a:off x="320040" y="539496"/>
            <a:ext cx="1129284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000" b="0" ea="Microsoft YaHei">
                <a:solidFill>
                  <a:srgbClr val="8B0D18"/>
                </a:solidFill>
                <a:latin typeface="Microsoft YaHei"/>
              </a:rPr>
              <a:t>入选两类：鸭掌铲主选，弹齿作对比</a:t>
            </a:r>
          </a:p>
        </p:txBody>
      </p:sp>
      <p:sp>
        <p:nvSpPr>
          <p:cNvPr id="15" name="AGENT_COLUMN_HEAD_0"/>
          <p:cNvSpPr txBox="1"/>
          <p:nvPr/>
        </p:nvSpPr>
        <p:spPr>
          <a:xfrm>
            <a:off x="868680" y="1508760"/>
            <a:ext cx="470916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100" b="1" ea="Microsoft YaHei">
                <a:solidFill>
                  <a:srgbClr val="8B0D18"/>
                </a:solidFill>
                <a:latin typeface="Microsoft YaHei"/>
              </a:rPr>
              <a:t>鸭掌铲 —— 主选</a:t>
            </a:r>
          </a:p>
        </p:txBody>
      </p:sp>
      <p:sp>
        <p:nvSpPr>
          <p:cNvPr id="16" name="AGENT_BODY"/>
          <p:cNvSpPr txBox="1"/>
          <p:nvPr/>
        </p:nvSpPr>
        <p:spPr>
          <a:xfrm>
            <a:off x="868680" y="1965960"/>
            <a:ext cx="4709160" cy="33832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0" ea="Microsoft YaHei">
                <a:solidFill>
                  <a:srgbClr val="1E1E1E"/>
                </a:solidFill>
                <a:latin typeface="Microsoft YaHei"/>
              </a:rPr>
              <a:t>1. 铲刃切削，切根干净
2. 结构简单，与三梁升降兼容
3. 幅宽尚未登记，需补测
4. 受力可算：铲面切削阻力模型</a:t>
            </a:r>
          </a:p>
        </p:txBody>
      </p:sp>
      <p:sp>
        <p:nvSpPr>
          <p:cNvPr id="17" name="AGENT_COLUMN_HEAD_1"/>
          <p:cNvSpPr txBox="1"/>
          <p:nvPr/>
        </p:nvSpPr>
        <p:spPr>
          <a:xfrm>
            <a:off x="6217920" y="1508760"/>
            <a:ext cx="470916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100" b="1" ea="Microsoft YaHei">
                <a:solidFill>
                  <a:srgbClr val="8B0D18"/>
                </a:solidFill>
                <a:latin typeface="Microsoft YaHei"/>
              </a:rPr>
              <a:t>弹齿 —— 作对比保留</a:t>
            </a:r>
          </a:p>
        </p:txBody>
      </p:sp>
      <p:sp>
        <p:nvSpPr>
          <p:cNvPr id="18" name="AGENT_BODY"/>
          <p:cNvSpPr txBox="1"/>
          <p:nvPr/>
        </p:nvSpPr>
        <p:spPr>
          <a:xfrm>
            <a:off x="6217920" y="1965960"/>
            <a:ext cx="4709160" cy="33832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0" ea="Microsoft YaHei">
                <a:solidFill>
                  <a:srgbClr val="1E1E1E"/>
                </a:solidFill>
                <a:latin typeface="Microsoft YaHei"/>
              </a:rPr>
              <a:t>1. 峰值阻力低，抗冲击好
2. 切根深度一致性差
3. 已登记：250 mm 五齿
4. 作对照，不当主方案</a:t>
            </a:r>
          </a:p>
        </p:txBody>
      </p:sp>
      <p:sp>
        <p:nvSpPr>
          <p:cNvPr id="19" name="AGENT_TAKEAWAY"/>
          <p:cNvSpPr txBox="1"/>
          <p:nvPr/>
        </p:nvSpPr>
        <p:spPr>
          <a:xfrm>
            <a:off x="868680" y="5989320"/>
            <a:ext cx="101955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1" ea="Microsoft YaHei">
                <a:solidFill>
                  <a:srgbClr val="8B0D18"/>
                </a:solidFill>
                <a:latin typeface="Microsoft YaHei"/>
              </a:rPr>
              <a:t>对比前须先补铲幅，否则两把刀条件不对等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AGENT_NAV_SLOT_0"/>
          <p:cNvSpPr/>
          <p:nvPr/>
        </p:nvSpPr>
        <p:spPr>
          <a:xfrm>
            <a:off x="146304" y="27432"/>
            <a:ext cx="2379268" cy="347472"/>
          </a:xfrm>
          <a:prstGeom prst="rect">
            <a:avLst/>
          </a:prstGeom>
          <a:solidFill>
            <a:srgbClr val="FFFFFF"/>
          </a:solidFill>
          <a:ln w="1016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AGENT_NAV_LABEL_0"/>
          <p:cNvSpPr txBox="1"/>
          <p:nvPr/>
        </p:nvSpPr>
        <p:spPr>
          <a:xfrm>
            <a:off x="146304" y="59436"/>
            <a:ext cx="2379268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200" b="0" ea="Microsoft YaHei">
                <a:solidFill>
                  <a:srgbClr val="1E1E1E"/>
                </a:solidFill>
                <a:latin typeface="Microsoft YaHei"/>
              </a:rPr>
              <a:t>立题与约束</a:t>
            </a:r>
          </a:p>
        </p:txBody>
      </p:sp>
      <p:sp>
        <p:nvSpPr>
          <p:cNvPr id="4" name="AGENT_NAV_SLOT_1"/>
          <p:cNvSpPr/>
          <p:nvPr/>
        </p:nvSpPr>
        <p:spPr>
          <a:xfrm>
            <a:off x="2525572" y="27432"/>
            <a:ext cx="2379268" cy="347472"/>
          </a:xfrm>
          <a:prstGeom prst="rect">
            <a:avLst/>
          </a:prstGeom>
          <a:solidFill>
            <a:srgbClr val="FFFFFF"/>
          </a:solidFill>
          <a:ln w="1016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AGENT_NAV_LABEL_1"/>
          <p:cNvSpPr txBox="1"/>
          <p:nvPr/>
        </p:nvSpPr>
        <p:spPr>
          <a:xfrm>
            <a:off x="2525572" y="59436"/>
            <a:ext cx="2379268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200" b="0" ea="Microsoft YaHei">
                <a:solidFill>
                  <a:srgbClr val="1E1E1E"/>
                </a:solidFill>
                <a:latin typeface="Microsoft YaHei"/>
              </a:rPr>
              <a:t>除草机构选型</a:t>
            </a:r>
          </a:p>
        </p:txBody>
      </p:sp>
      <p:sp>
        <p:nvSpPr>
          <p:cNvPr id="6" name="AGENT_NAV_SLOT_2"/>
          <p:cNvSpPr/>
          <p:nvPr/>
        </p:nvSpPr>
        <p:spPr>
          <a:xfrm>
            <a:off x="4904841" y="27432"/>
            <a:ext cx="2379268" cy="347472"/>
          </a:xfrm>
          <a:prstGeom prst="rect">
            <a:avLst/>
          </a:prstGeom>
          <a:solidFill>
            <a:srgbClr val="8B0D18"/>
          </a:solidFill>
          <a:ln w="1016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AGENT_NAV_LABEL_2"/>
          <p:cNvSpPr txBox="1"/>
          <p:nvPr/>
        </p:nvSpPr>
        <p:spPr>
          <a:xfrm>
            <a:off x="4904841" y="59436"/>
            <a:ext cx="2379268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200" b="1" ea="Microsoft YaHei">
                <a:solidFill>
                  <a:srgbClr val="FFFFFF"/>
                </a:solidFill>
                <a:latin typeface="Microsoft YaHei"/>
              </a:rPr>
              <a:t>设计与控制原理</a:t>
            </a:r>
          </a:p>
        </p:txBody>
      </p:sp>
      <p:sp>
        <p:nvSpPr>
          <p:cNvPr id="8" name="AGENT_NAV_SLOT_3"/>
          <p:cNvSpPr/>
          <p:nvPr/>
        </p:nvSpPr>
        <p:spPr>
          <a:xfrm>
            <a:off x="7284110" y="27432"/>
            <a:ext cx="2379268" cy="347472"/>
          </a:xfrm>
          <a:prstGeom prst="rect">
            <a:avLst/>
          </a:prstGeom>
          <a:solidFill>
            <a:srgbClr val="FFFFFF"/>
          </a:solidFill>
          <a:ln w="1016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AGENT_NAV_LABEL_3"/>
          <p:cNvSpPr txBox="1"/>
          <p:nvPr/>
        </p:nvSpPr>
        <p:spPr>
          <a:xfrm>
            <a:off x="7284110" y="59436"/>
            <a:ext cx="2379268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200" b="0" ea="Microsoft YaHei">
                <a:solidFill>
                  <a:srgbClr val="1E1E1E"/>
                </a:solidFill>
                <a:latin typeface="Microsoft YaHei"/>
              </a:rPr>
              <a:t>进土深度问题</a:t>
            </a:r>
          </a:p>
        </p:txBody>
      </p:sp>
      <p:sp>
        <p:nvSpPr>
          <p:cNvPr id="10" name="AGENT_NAV_SLOT_4"/>
          <p:cNvSpPr/>
          <p:nvPr/>
        </p:nvSpPr>
        <p:spPr>
          <a:xfrm>
            <a:off x="9663379" y="27432"/>
            <a:ext cx="2379268" cy="347472"/>
          </a:xfrm>
          <a:prstGeom prst="rect">
            <a:avLst/>
          </a:prstGeom>
          <a:solidFill>
            <a:srgbClr val="FFFFFF"/>
          </a:solidFill>
          <a:ln w="1016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AGENT_NAV_LABEL_4"/>
          <p:cNvSpPr txBox="1"/>
          <p:nvPr/>
        </p:nvSpPr>
        <p:spPr>
          <a:xfrm>
            <a:off x="9663379" y="59436"/>
            <a:ext cx="2379268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200" b="0" ea="Microsoft YaHei">
                <a:solidFill>
                  <a:srgbClr val="1E1E1E"/>
                </a:solidFill>
                <a:latin typeface="Microsoft YaHei"/>
              </a:rPr>
              <a:t>小结与讨论</a:t>
            </a:r>
          </a:p>
        </p:txBody>
      </p:sp>
      <p:sp>
        <p:nvSpPr>
          <p:cNvPr id="12" name="AGENT_FOOTER"/>
          <p:cNvSpPr txBox="1"/>
          <p:nvPr/>
        </p:nvSpPr>
        <p:spPr>
          <a:xfrm>
            <a:off x="320040" y="6510528"/>
            <a:ext cx="8595360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800" b="0" ea="Microsoft YaHei">
                <a:solidFill>
                  <a:srgbClr val="696969"/>
                </a:solidFill>
                <a:latin typeface="Microsoft YaHei"/>
              </a:rPr>
              <a:t>纯视觉芍药行间除草机器人 · 组会汇报 · 2026-09-16</a:t>
            </a:r>
          </a:p>
        </p:txBody>
      </p:sp>
      <p:sp>
        <p:nvSpPr>
          <p:cNvPr id="13" name="AGENT_PAGE_NUMBER"/>
          <p:cNvSpPr txBox="1"/>
          <p:nvPr/>
        </p:nvSpPr>
        <p:spPr>
          <a:xfrm>
            <a:off x="11521440" y="6501384"/>
            <a:ext cx="256032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800" b="0" ea="Microsoft YaHei">
                <a:solidFill>
                  <a:srgbClr val="696969"/>
                </a:solidFill>
                <a:latin typeface="Microsoft YaHei"/>
              </a:rPr>
              <a:t>6</a:t>
            </a:r>
          </a:p>
        </p:txBody>
      </p:sp>
      <p:sp>
        <p:nvSpPr>
          <p:cNvPr id="14" name="AGENT_TITLE"/>
          <p:cNvSpPr txBox="1"/>
          <p:nvPr/>
        </p:nvSpPr>
        <p:spPr>
          <a:xfrm>
            <a:off x="320040" y="539496"/>
            <a:ext cx="1129284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000" b="0" ea="Microsoft YaHei">
                <a:solidFill>
                  <a:srgbClr val="8B0D18"/>
                </a:solidFill>
                <a:latin typeface="Microsoft YaHei"/>
              </a:rPr>
              <a:t>技术路线：单一相机到刀具位移的四段链路</a:t>
            </a:r>
          </a:p>
        </p:txBody>
      </p:sp>
      <p:sp>
        <p:nvSpPr>
          <p:cNvPr id="15" name="AGENT_STEP_BOX_0"/>
          <p:cNvSpPr/>
          <p:nvPr/>
        </p:nvSpPr>
        <p:spPr>
          <a:xfrm>
            <a:off x="1051560" y="2743200"/>
            <a:ext cx="2345436" cy="914400"/>
          </a:xfrm>
          <a:prstGeom prst="rect">
            <a:avLst/>
          </a:prstGeom>
          <a:solidFill>
            <a:srgbClr val="F7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AGENT_STEP_TEXT_0"/>
          <p:cNvSpPr txBox="1"/>
          <p:nvPr/>
        </p:nvSpPr>
        <p:spPr>
          <a:xfrm>
            <a:off x="1124712" y="2880360"/>
            <a:ext cx="2199132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 ea="Microsoft YaHei">
                <a:solidFill>
                  <a:srgbClr val="1E1E1E"/>
                </a:solidFill>
                <a:latin typeface="Microsoft YaHei"/>
              </a:rPr>
              <a:t>语义分割 作物墙</a:t>
            </a:r>
          </a:p>
        </p:txBody>
      </p:sp>
      <p:sp>
        <p:nvSpPr>
          <p:cNvPr id="17" name="AGENT_STEP_ARROW_0"/>
          <p:cNvSpPr txBox="1"/>
          <p:nvPr/>
        </p:nvSpPr>
        <p:spPr>
          <a:xfrm>
            <a:off x="3470148" y="2935224"/>
            <a:ext cx="164592" cy="36576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2000" b="1" ea="Microsoft YaHei">
                <a:solidFill>
                  <a:srgbClr val="8B0D18"/>
                </a:solidFill>
                <a:latin typeface="Microsoft YaHei"/>
              </a:rPr>
              <a:t>→</a:t>
            </a:r>
          </a:p>
        </p:txBody>
      </p:sp>
      <p:sp>
        <p:nvSpPr>
          <p:cNvPr id="18" name="AGENT_STEP_BOX_1"/>
          <p:cNvSpPr/>
          <p:nvPr/>
        </p:nvSpPr>
        <p:spPr>
          <a:xfrm>
            <a:off x="3543300" y="2743200"/>
            <a:ext cx="2345436" cy="914400"/>
          </a:xfrm>
          <a:prstGeom prst="rect">
            <a:avLst/>
          </a:prstGeom>
          <a:solidFill>
            <a:srgbClr val="F7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AGENT_STEP_TEXT_1"/>
          <p:cNvSpPr txBox="1"/>
          <p:nvPr/>
        </p:nvSpPr>
        <p:spPr>
          <a:xfrm>
            <a:off x="3616452" y="2880360"/>
            <a:ext cx="2199132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 ea="Microsoft YaHei">
                <a:solidFill>
                  <a:srgbClr val="1E1E1E"/>
                </a:solidFill>
                <a:latin typeface="Microsoft YaHei"/>
              </a:rPr>
              <a:t>双墙拟合 导航线</a:t>
            </a:r>
          </a:p>
        </p:txBody>
      </p:sp>
      <p:sp>
        <p:nvSpPr>
          <p:cNvPr id="20" name="AGENT_STEP_ARROW_1"/>
          <p:cNvSpPr txBox="1"/>
          <p:nvPr/>
        </p:nvSpPr>
        <p:spPr>
          <a:xfrm>
            <a:off x="5961888" y="2935224"/>
            <a:ext cx="164592" cy="36576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2000" b="1" ea="Microsoft YaHei">
                <a:solidFill>
                  <a:srgbClr val="8B0D18"/>
                </a:solidFill>
                <a:latin typeface="Microsoft YaHei"/>
              </a:rPr>
              <a:t>→</a:t>
            </a:r>
          </a:p>
        </p:txBody>
      </p:sp>
      <p:sp>
        <p:nvSpPr>
          <p:cNvPr id="21" name="AGENT_STEP_BOX_2"/>
          <p:cNvSpPr/>
          <p:nvPr/>
        </p:nvSpPr>
        <p:spPr>
          <a:xfrm>
            <a:off x="6035040" y="2743200"/>
            <a:ext cx="2345436" cy="914400"/>
          </a:xfrm>
          <a:prstGeom prst="rect">
            <a:avLst/>
          </a:prstGeom>
          <a:solidFill>
            <a:srgbClr val="F7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AGENT_STEP_TEXT_2"/>
          <p:cNvSpPr txBox="1"/>
          <p:nvPr/>
        </p:nvSpPr>
        <p:spPr>
          <a:xfrm>
            <a:off x="6108192" y="2880360"/>
            <a:ext cx="2199132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 ea="Microsoft YaHei">
                <a:solidFill>
                  <a:srgbClr val="1E1E1E"/>
                </a:solidFill>
                <a:latin typeface="Microsoft YaHei"/>
              </a:rPr>
              <a:t>横向偏差解算</a:t>
            </a:r>
          </a:p>
        </p:txBody>
      </p:sp>
      <p:sp>
        <p:nvSpPr>
          <p:cNvPr id="23" name="AGENT_STEP_ARROW_2"/>
          <p:cNvSpPr txBox="1"/>
          <p:nvPr/>
        </p:nvSpPr>
        <p:spPr>
          <a:xfrm>
            <a:off x="8453628" y="2935224"/>
            <a:ext cx="164592" cy="36576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2000" b="1" ea="Microsoft YaHei">
                <a:solidFill>
                  <a:srgbClr val="8B0D18"/>
                </a:solidFill>
                <a:latin typeface="Microsoft YaHei"/>
              </a:rPr>
              <a:t>→</a:t>
            </a:r>
          </a:p>
        </p:txBody>
      </p:sp>
      <p:sp>
        <p:nvSpPr>
          <p:cNvPr id="24" name="AGENT_STEP_BOX_3"/>
          <p:cNvSpPr/>
          <p:nvPr/>
        </p:nvSpPr>
        <p:spPr>
          <a:xfrm>
            <a:off x="8526780" y="2743200"/>
            <a:ext cx="2345436" cy="914400"/>
          </a:xfrm>
          <a:prstGeom prst="rect">
            <a:avLst/>
          </a:prstGeom>
          <a:solidFill>
            <a:srgbClr val="F7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AGENT_STEP_TEXT_3"/>
          <p:cNvSpPr txBox="1"/>
          <p:nvPr/>
        </p:nvSpPr>
        <p:spPr>
          <a:xfrm>
            <a:off x="8599932" y="2880360"/>
            <a:ext cx="2199132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 ea="Microsoft YaHei">
                <a:solidFill>
                  <a:srgbClr val="1E1E1E"/>
                </a:solidFill>
                <a:latin typeface="Microsoft YaHei"/>
              </a:rPr>
              <a:t>底盘与中间刀执行</a:t>
            </a:r>
          </a:p>
        </p:txBody>
      </p:sp>
      <p:sp>
        <p:nvSpPr>
          <p:cNvPr id="26" name="AGENT_BODY"/>
          <p:cNvSpPr txBox="1"/>
          <p:nvPr/>
        </p:nvSpPr>
        <p:spPr>
          <a:xfrm>
            <a:off x="1005840" y="4251960"/>
            <a:ext cx="9966960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0" ea="Microsoft YaHei">
                <a:solidFill>
                  <a:srgbClr val="1E1E1E"/>
                </a:solidFill>
                <a:latin typeface="Microsoft YaHei"/>
              </a:rPr>
              <a:t>1. 不依赖 RTK 与激光雷达，横向位置全部来自单目相机
2. 车端只做采集与执行，PC 集中决策</a:t>
            </a:r>
          </a:p>
        </p:txBody>
      </p:sp>
      <p:sp>
        <p:nvSpPr>
          <p:cNvPr id="27" name="AGENT_TAKEAWAY"/>
          <p:cNvSpPr txBox="1"/>
          <p:nvPr/>
        </p:nvSpPr>
        <p:spPr>
          <a:xfrm>
            <a:off x="868680" y="5989320"/>
            <a:ext cx="101955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1" ea="Microsoft YaHei">
                <a:solidFill>
                  <a:srgbClr val="8B0D18"/>
                </a:solidFill>
                <a:latin typeface="Microsoft YaHei"/>
              </a:rPr>
              <a:t>每一段都要能被独立量测，否则误差无法归因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AGENT_NAV_SLOT_0"/>
          <p:cNvSpPr/>
          <p:nvPr/>
        </p:nvSpPr>
        <p:spPr>
          <a:xfrm>
            <a:off x="146304" y="27432"/>
            <a:ext cx="2379268" cy="347472"/>
          </a:xfrm>
          <a:prstGeom prst="rect">
            <a:avLst/>
          </a:prstGeom>
          <a:solidFill>
            <a:srgbClr val="FFFFFF"/>
          </a:solidFill>
          <a:ln w="1016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AGENT_NAV_LABEL_0"/>
          <p:cNvSpPr txBox="1"/>
          <p:nvPr/>
        </p:nvSpPr>
        <p:spPr>
          <a:xfrm>
            <a:off x="146304" y="59436"/>
            <a:ext cx="2379268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200" b="0" ea="Microsoft YaHei">
                <a:solidFill>
                  <a:srgbClr val="1E1E1E"/>
                </a:solidFill>
                <a:latin typeface="Microsoft YaHei"/>
              </a:rPr>
              <a:t>立题与约束</a:t>
            </a:r>
          </a:p>
        </p:txBody>
      </p:sp>
      <p:sp>
        <p:nvSpPr>
          <p:cNvPr id="4" name="AGENT_NAV_SLOT_1"/>
          <p:cNvSpPr/>
          <p:nvPr/>
        </p:nvSpPr>
        <p:spPr>
          <a:xfrm>
            <a:off x="2525572" y="27432"/>
            <a:ext cx="2379268" cy="347472"/>
          </a:xfrm>
          <a:prstGeom prst="rect">
            <a:avLst/>
          </a:prstGeom>
          <a:solidFill>
            <a:srgbClr val="FFFFFF"/>
          </a:solidFill>
          <a:ln w="1016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AGENT_NAV_LABEL_1"/>
          <p:cNvSpPr txBox="1"/>
          <p:nvPr/>
        </p:nvSpPr>
        <p:spPr>
          <a:xfrm>
            <a:off x="2525572" y="59436"/>
            <a:ext cx="2379268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200" b="0" ea="Microsoft YaHei">
                <a:solidFill>
                  <a:srgbClr val="1E1E1E"/>
                </a:solidFill>
                <a:latin typeface="Microsoft YaHei"/>
              </a:rPr>
              <a:t>除草机构选型</a:t>
            </a:r>
          </a:p>
        </p:txBody>
      </p:sp>
      <p:sp>
        <p:nvSpPr>
          <p:cNvPr id="6" name="AGENT_NAV_SLOT_2"/>
          <p:cNvSpPr/>
          <p:nvPr/>
        </p:nvSpPr>
        <p:spPr>
          <a:xfrm>
            <a:off x="4904841" y="27432"/>
            <a:ext cx="2379268" cy="347472"/>
          </a:xfrm>
          <a:prstGeom prst="rect">
            <a:avLst/>
          </a:prstGeom>
          <a:solidFill>
            <a:srgbClr val="8B0D18"/>
          </a:solidFill>
          <a:ln w="1016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AGENT_NAV_LABEL_2"/>
          <p:cNvSpPr txBox="1"/>
          <p:nvPr/>
        </p:nvSpPr>
        <p:spPr>
          <a:xfrm>
            <a:off x="4904841" y="59436"/>
            <a:ext cx="2379268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200" b="1" ea="Microsoft YaHei">
                <a:solidFill>
                  <a:srgbClr val="FFFFFF"/>
                </a:solidFill>
                <a:latin typeface="Microsoft YaHei"/>
              </a:rPr>
              <a:t>设计与控制原理</a:t>
            </a:r>
          </a:p>
        </p:txBody>
      </p:sp>
      <p:sp>
        <p:nvSpPr>
          <p:cNvPr id="8" name="AGENT_NAV_SLOT_3"/>
          <p:cNvSpPr/>
          <p:nvPr/>
        </p:nvSpPr>
        <p:spPr>
          <a:xfrm>
            <a:off x="7284110" y="27432"/>
            <a:ext cx="2379268" cy="347472"/>
          </a:xfrm>
          <a:prstGeom prst="rect">
            <a:avLst/>
          </a:prstGeom>
          <a:solidFill>
            <a:srgbClr val="FFFFFF"/>
          </a:solidFill>
          <a:ln w="1016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AGENT_NAV_LABEL_3"/>
          <p:cNvSpPr txBox="1"/>
          <p:nvPr/>
        </p:nvSpPr>
        <p:spPr>
          <a:xfrm>
            <a:off x="7284110" y="59436"/>
            <a:ext cx="2379268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200" b="0" ea="Microsoft YaHei">
                <a:solidFill>
                  <a:srgbClr val="1E1E1E"/>
                </a:solidFill>
                <a:latin typeface="Microsoft YaHei"/>
              </a:rPr>
              <a:t>进土深度问题</a:t>
            </a:r>
          </a:p>
        </p:txBody>
      </p:sp>
      <p:sp>
        <p:nvSpPr>
          <p:cNvPr id="10" name="AGENT_NAV_SLOT_4"/>
          <p:cNvSpPr/>
          <p:nvPr/>
        </p:nvSpPr>
        <p:spPr>
          <a:xfrm>
            <a:off x="9663379" y="27432"/>
            <a:ext cx="2379268" cy="347472"/>
          </a:xfrm>
          <a:prstGeom prst="rect">
            <a:avLst/>
          </a:prstGeom>
          <a:solidFill>
            <a:srgbClr val="FFFFFF"/>
          </a:solidFill>
          <a:ln w="1016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AGENT_NAV_LABEL_4"/>
          <p:cNvSpPr txBox="1"/>
          <p:nvPr/>
        </p:nvSpPr>
        <p:spPr>
          <a:xfrm>
            <a:off x="9663379" y="59436"/>
            <a:ext cx="2379268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200" b="0" ea="Microsoft YaHei">
                <a:solidFill>
                  <a:srgbClr val="1E1E1E"/>
                </a:solidFill>
                <a:latin typeface="Microsoft YaHei"/>
              </a:rPr>
              <a:t>小结与讨论</a:t>
            </a:r>
          </a:p>
        </p:txBody>
      </p:sp>
      <p:sp>
        <p:nvSpPr>
          <p:cNvPr id="12" name="AGENT_FOOTER"/>
          <p:cNvSpPr txBox="1"/>
          <p:nvPr/>
        </p:nvSpPr>
        <p:spPr>
          <a:xfrm>
            <a:off x="320040" y="6510528"/>
            <a:ext cx="8595360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800" b="0" ea="Microsoft YaHei">
                <a:solidFill>
                  <a:srgbClr val="696969"/>
                </a:solidFill>
                <a:latin typeface="Microsoft YaHei"/>
              </a:rPr>
              <a:t>纯视觉芍药行间除草机器人 · 组会汇报 · 2026-09-16</a:t>
            </a:r>
          </a:p>
        </p:txBody>
      </p:sp>
      <p:sp>
        <p:nvSpPr>
          <p:cNvPr id="13" name="AGENT_PAGE_NUMBER"/>
          <p:cNvSpPr txBox="1"/>
          <p:nvPr/>
        </p:nvSpPr>
        <p:spPr>
          <a:xfrm>
            <a:off x="11521440" y="6501384"/>
            <a:ext cx="256032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800" b="0" ea="Microsoft YaHei">
                <a:solidFill>
                  <a:srgbClr val="696969"/>
                </a:solidFill>
                <a:latin typeface="Microsoft YaHei"/>
              </a:rPr>
              <a:t>7</a:t>
            </a:r>
          </a:p>
        </p:txBody>
      </p:sp>
      <p:sp>
        <p:nvSpPr>
          <p:cNvPr id="14" name="AGENT_TITLE"/>
          <p:cNvSpPr txBox="1"/>
          <p:nvPr/>
        </p:nvSpPr>
        <p:spPr>
          <a:xfrm>
            <a:off x="320040" y="539496"/>
            <a:ext cx="1129284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000" b="0" ea="Microsoft YaHei">
                <a:solidFill>
                  <a:srgbClr val="8B0D18"/>
                </a:solidFill>
                <a:latin typeface="Microsoft YaHei"/>
              </a:rPr>
              <a:t>跨 4 行作业，3 条草带由 2 侧刀加 1 中间刀清除</a:t>
            </a:r>
          </a:p>
        </p:txBody>
      </p:sp>
      <p:sp>
        <p:nvSpPr>
          <p:cNvPr id="15" name="AGENT_TEXT_PANEL"/>
          <p:cNvSpPr/>
          <p:nvPr/>
        </p:nvSpPr>
        <p:spPr>
          <a:xfrm>
            <a:off x="685800" y="1417320"/>
            <a:ext cx="10835640" cy="443484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AGENT_BODY"/>
          <p:cNvSpPr txBox="1"/>
          <p:nvPr/>
        </p:nvSpPr>
        <p:spPr>
          <a:xfrm>
            <a:off x="960120" y="1664208"/>
            <a:ext cx="10287000" cy="3931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0" ea="Microsoft YaHei">
                <a:solidFill>
                  <a:srgbClr val="1E1E1E"/>
                </a:solidFill>
                <a:latin typeface="Microsoft YaHei"/>
              </a:rPr>
              <a:t>1. 底盘跨 4 行芍药通过，一次作业清除 3 条行间草带
2. 左右 2 把侧刀固定在刀梁上，只管进土不管横移
3. 中间 1 把刀装在滑台上，可左右横移做主动对行
4. 3 根电推杆分别管三个刀梁的升降（48 V，行程 200 mm）
5. 控制板 STM32F407ZGT6，48 V 输入经 DC-DC 出 24 V 与 12 V</a:t>
            </a:r>
          </a:p>
        </p:txBody>
      </p:sp>
      <p:sp>
        <p:nvSpPr>
          <p:cNvPr id="17" name="AGENT_TAKEAWAY"/>
          <p:cNvSpPr txBox="1"/>
          <p:nvPr/>
        </p:nvSpPr>
        <p:spPr>
          <a:xfrm>
            <a:off x="868680" y="5989320"/>
            <a:ext cx="101955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1" ea="Microsoft YaHei">
                <a:solidFill>
                  <a:srgbClr val="8B0D18"/>
                </a:solidFill>
                <a:latin typeface="Microsoft YaHei"/>
              </a:rPr>
              <a:t>主动对行这件事天然只发生在中间刀上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AGENT_NAV_SLOT_0"/>
          <p:cNvSpPr/>
          <p:nvPr/>
        </p:nvSpPr>
        <p:spPr>
          <a:xfrm>
            <a:off x="146304" y="27432"/>
            <a:ext cx="2379268" cy="347472"/>
          </a:xfrm>
          <a:prstGeom prst="rect">
            <a:avLst/>
          </a:prstGeom>
          <a:solidFill>
            <a:srgbClr val="FFFFFF"/>
          </a:solidFill>
          <a:ln w="1016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AGENT_NAV_LABEL_0"/>
          <p:cNvSpPr txBox="1"/>
          <p:nvPr/>
        </p:nvSpPr>
        <p:spPr>
          <a:xfrm>
            <a:off x="146304" y="59436"/>
            <a:ext cx="2379268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200" b="0" ea="Microsoft YaHei">
                <a:solidFill>
                  <a:srgbClr val="1E1E1E"/>
                </a:solidFill>
                <a:latin typeface="Microsoft YaHei"/>
              </a:rPr>
              <a:t>立题与约束</a:t>
            </a:r>
          </a:p>
        </p:txBody>
      </p:sp>
      <p:sp>
        <p:nvSpPr>
          <p:cNvPr id="4" name="AGENT_NAV_SLOT_1"/>
          <p:cNvSpPr/>
          <p:nvPr/>
        </p:nvSpPr>
        <p:spPr>
          <a:xfrm>
            <a:off x="2525572" y="27432"/>
            <a:ext cx="2379268" cy="347472"/>
          </a:xfrm>
          <a:prstGeom prst="rect">
            <a:avLst/>
          </a:prstGeom>
          <a:solidFill>
            <a:srgbClr val="FFFFFF"/>
          </a:solidFill>
          <a:ln w="1016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AGENT_NAV_LABEL_1"/>
          <p:cNvSpPr txBox="1"/>
          <p:nvPr/>
        </p:nvSpPr>
        <p:spPr>
          <a:xfrm>
            <a:off x="2525572" y="59436"/>
            <a:ext cx="2379268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200" b="0" ea="Microsoft YaHei">
                <a:solidFill>
                  <a:srgbClr val="1E1E1E"/>
                </a:solidFill>
                <a:latin typeface="Microsoft YaHei"/>
              </a:rPr>
              <a:t>除草机构选型</a:t>
            </a:r>
          </a:p>
        </p:txBody>
      </p:sp>
      <p:sp>
        <p:nvSpPr>
          <p:cNvPr id="6" name="AGENT_NAV_SLOT_2"/>
          <p:cNvSpPr/>
          <p:nvPr/>
        </p:nvSpPr>
        <p:spPr>
          <a:xfrm>
            <a:off x="4904841" y="27432"/>
            <a:ext cx="2379268" cy="347472"/>
          </a:xfrm>
          <a:prstGeom prst="rect">
            <a:avLst/>
          </a:prstGeom>
          <a:solidFill>
            <a:srgbClr val="8B0D18"/>
          </a:solidFill>
          <a:ln w="1016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AGENT_NAV_LABEL_2"/>
          <p:cNvSpPr txBox="1"/>
          <p:nvPr/>
        </p:nvSpPr>
        <p:spPr>
          <a:xfrm>
            <a:off x="4904841" y="59436"/>
            <a:ext cx="2379268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200" b="1" ea="Microsoft YaHei">
                <a:solidFill>
                  <a:srgbClr val="FFFFFF"/>
                </a:solidFill>
                <a:latin typeface="Microsoft YaHei"/>
              </a:rPr>
              <a:t>设计与控制原理</a:t>
            </a:r>
          </a:p>
        </p:txBody>
      </p:sp>
      <p:sp>
        <p:nvSpPr>
          <p:cNvPr id="8" name="AGENT_NAV_SLOT_3"/>
          <p:cNvSpPr/>
          <p:nvPr/>
        </p:nvSpPr>
        <p:spPr>
          <a:xfrm>
            <a:off x="7284110" y="27432"/>
            <a:ext cx="2379268" cy="347472"/>
          </a:xfrm>
          <a:prstGeom prst="rect">
            <a:avLst/>
          </a:prstGeom>
          <a:solidFill>
            <a:srgbClr val="FFFFFF"/>
          </a:solidFill>
          <a:ln w="1016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AGENT_NAV_LABEL_3"/>
          <p:cNvSpPr txBox="1"/>
          <p:nvPr/>
        </p:nvSpPr>
        <p:spPr>
          <a:xfrm>
            <a:off x="7284110" y="59436"/>
            <a:ext cx="2379268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200" b="0" ea="Microsoft YaHei">
                <a:solidFill>
                  <a:srgbClr val="1E1E1E"/>
                </a:solidFill>
                <a:latin typeface="Microsoft YaHei"/>
              </a:rPr>
              <a:t>进土深度问题</a:t>
            </a:r>
          </a:p>
        </p:txBody>
      </p:sp>
      <p:sp>
        <p:nvSpPr>
          <p:cNvPr id="10" name="AGENT_NAV_SLOT_4"/>
          <p:cNvSpPr/>
          <p:nvPr/>
        </p:nvSpPr>
        <p:spPr>
          <a:xfrm>
            <a:off x="9663379" y="27432"/>
            <a:ext cx="2379268" cy="347472"/>
          </a:xfrm>
          <a:prstGeom prst="rect">
            <a:avLst/>
          </a:prstGeom>
          <a:solidFill>
            <a:srgbClr val="FFFFFF"/>
          </a:solidFill>
          <a:ln w="1016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AGENT_NAV_LABEL_4"/>
          <p:cNvSpPr txBox="1"/>
          <p:nvPr/>
        </p:nvSpPr>
        <p:spPr>
          <a:xfrm>
            <a:off x="9663379" y="59436"/>
            <a:ext cx="2379268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200" b="0" ea="Microsoft YaHei">
                <a:solidFill>
                  <a:srgbClr val="1E1E1E"/>
                </a:solidFill>
                <a:latin typeface="Microsoft YaHei"/>
              </a:rPr>
              <a:t>小结与讨论</a:t>
            </a:r>
          </a:p>
        </p:txBody>
      </p:sp>
      <p:sp>
        <p:nvSpPr>
          <p:cNvPr id="12" name="AGENT_FOOTER"/>
          <p:cNvSpPr txBox="1"/>
          <p:nvPr/>
        </p:nvSpPr>
        <p:spPr>
          <a:xfrm>
            <a:off x="320040" y="6510528"/>
            <a:ext cx="8595360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800" b="0" ea="Microsoft YaHei">
                <a:solidFill>
                  <a:srgbClr val="696969"/>
                </a:solidFill>
                <a:latin typeface="Microsoft YaHei"/>
              </a:rPr>
              <a:t>纯视觉芍药行间除草机器人 · 组会汇报 · 2026-09-16</a:t>
            </a:r>
          </a:p>
        </p:txBody>
      </p:sp>
      <p:sp>
        <p:nvSpPr>
          <p:cNvPr id="13" name="AGENT_PAGE_NUMBER"/>
          <p:cNvSpPr txBox="1"/>
          <p:nvPr/>
        </p:nvSpPr>
        <p:spPr>
          <a:xfrm>
            <a:off x="11521440" y="6501384"/>
            <a:ext cx="256032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800" b="0" ea="Microsoft YaHei">
                <a:solidFill>
                  <a:srgbClr val="696969"/>
                </a:solidFill>
                <a:latin typeface="Microsoft YaHei"/>
              </a:rPr>
              <a:t>8</a:t>
            </a:r>
          </a:p>
        </p:txBody>
      </p:sp>
      <p:sp>
        <p:nvSpPr>
          <p:cNvPr id="14" name="AGENT_TITLE"/>
          <p:cNvSpPr txBox="1"/>
          <p:nvPr/>
        </p:nvSpPr>
        <p:spPr>
          <a:xfrm>
            <a:off x="320040" y="539496"/>
            <a:ext cx="1129284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000" b="0" ea="Microsoft YaHei">
                <a:solidFill>
                  <a:srgbClr val="8B0D18"/>
                </a:solidFill>
                <a:latin typeface="Microsoft YaHei"/>
              </a:rPr>
              <a:t>底盘粗纠偏加刀具细对行，比只纠底盘更可行</a:t>
            </a:r>
          </a:p>
        </p:txBody>
      </p:sp>
      <p:sp>
        <p:nvSpPr>
          <p:cNvPr id="15" name="AGENT_COLUMN_HEAD_0"/>
          <p:cNvSpPr txBox="1"/>
          <p:nvPr/>
        </p:nvSpPr>
        <p:spPr>
          <a:xfrm>
            <a:off x="868680" y="1508760"/>
            <a:ext cx="470916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100" b="1" ea="Microsoft YaHei">
                <a:solidFill>
                  <a:srgbClr val="8B0D18"/>
                </a:solidFill>
                <a:latin typeface="Microsoft YaHei"/>
              </a:rPr>
              <a:t>只靠底盘纠偏</a:t>
            </a:r>
          </a:p>
        </p:txBody>
      </p:sp>
      <p:sp>
        <p:nvSpPr>
          <p:cNvPr id="16" name="AGENT_BODY"/>
          <p:cNvSpPr txBox="1"/>
          <p:nvPr/>
        </p:nvSpPr>
        <p:spPr>
          <a:xfrm>
            <a:off x="868680" y="1965960"/>
            <a:ext cx="4709160" cy="33832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0" ea="Microsoft YaHei">
                <a:solidFill>
                  <a:srgbClr val="1E1E1E"/>
                </a:solidFill>
                <a:latin typeface="Microsoft YaHei"/>
              </a:rPr>
              <a:t>1. 整车惯量大、响应慢
2. 厘米级细对行会走成蛇形
3. 坡地侧滑与轮胎变形难补偿</a:t>
            </a:r>
          </a:p>
        </p:txBody>
      </p:sp>
      <p:sp>
        <p:nvSpPr>
          <p:cNvPr id="17" name="AGENT_COLUMN_HEAD_1"/>
          <p:cNvSpPr txBox="1"/>
          <p:nvPr/>
        </p:nvSpPr>
        <p:spPr>
          <a:xfrm>
            <a:off x="6217920" y="1508760"/>
            <a:ext cx="470916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100" b="1" ea="Microsoft YaHei">
                <a:solidFill>
                  <a:srgbClr val="8B0D18"/>
                </a:solidFill>
                <a:latin typeface="Microsoft YaHei"/>
              </a:rPr>
              <a:t>底盘纵向 + 刀具横向</a:t>
            </a:r>
          </a:p>
        </p:txBody>
      </p:sp>
      <p:sp>
        <p:nvSpPr>
          <p:cNvPr id="18" name="AGENT_BODY"/>
          <p:cNvSpPr txBox="1"/>
          <p:nvPr/>
        </p:nvSpPr>
        <p:spPr>
          <a:xfrm>
            <a:off x="6217920" y="1965960"/>
            <a:ext cx="4709160" cy="33832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0" ea="Microsoft YaHei">
                <a:solidFill>
                  <a:srgbClr val="1E1E1E"/>
                </a:solidFill>
                <a:latin typeface="Microsoft YaHei"/>
              </a:rPr>
              <a:t>1. 底盘保持沿行，只做粗纠
2. 小惯量滑台做厘米级细对行
3. 滑台 300 mm 行程，尚未接线</a:t>
            </a:r>
          </a:p>
        </p:txBody>
      </p:sp>
      <p:sp>
        <p:nvSpPr>
          <p:cNvPr id="19" name="AGENT_TAKEAWAY"/>
          <p:cNvSpPr txBox="1"/>
          <p:nvPr/>
        </p:nvSpPr>
        <p:spPr>
          <a:xfrm>
            <a:off x="868680" y="5989320"/>
            <a:ext cx="101955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1" ea="Microsoft YaHei">
                <a:solidFill>
                  <a:srgbClr val="8B0D18"/>
                </a:solidFill>
                <a:latin typeface="Microsoft YaHei"/>
              </a:rPr>
              <a:t>两级分工是后续所有试验设计的组织方式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AGENT_NAV_SLOT_0"/>
          <p:cNvSpPr/>
          <p:nvPr/>
        </p:nvSpPr>
        <p:spPr>
          <a:xfrm>
            <a:off x="146304" y="27432"/>
            <a:ext cx="2379268" cy="347472"/>
          </a:xfrm>
          <a:prstGeom prst="rect">
            <a:avLst/>
          </a:prstGeom>
          <a:solidFill>
            <a:srgbClr val="FFFFFF"/>
          </a:solidFill>
          <a:ln w="1016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AGENT_NAV_LABEL_0"/>
          <p:cNvSpPr txBox="1"/>
          <p:nvPr/>
        </p:nvSpPr>
        <p:spPr>
          <a:xfrm>
            <a:off x="146304" y="59436"/>
            <a:ext cx="2379268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200" b="0" ea="Microsoft YaHei">
                <a:solidFill>
                  <a:srgbClr val="1E1E1E"/>
                </a:solidFill>
                <a:latin typeface="Microsoft YaHei"/>
              </a:rPr>
              <a:t>立题与约束</a:t>
            </a:r>
          </a:p>
        </p:txBody>
      </p:sp>
      <p:sp>
        <p:nvSpPr>
          <p:cNvPr id="4" name="AGENT_NAV_SLOT_1"/>
          <p:cNvSpPr/>
          <p:nvPr/>
        </p:nvSpPr>
        <p:spPr>
          <a:xfrm>
            <a:off x="2525572" y="27432"/>
            <a:ext cx="2379268" cy="347472"/>
          </a:xfrm>
          <a:prstGeom prst="rect">
            <a:avLst/>
          </a:prstGeom>
          <a:solidFill>
            <a:srgbClr val="FFFFFF"/>
          </a:solidFill>
          <a:ln w="1016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AGENT_NAV_LABEL_1"/>
          <p:cNvSpPr txBox="1"/>
          <p:nvPr/>
        </p:nvSpPr>
        <p:spPr>
          <a:xfrm>
            <a:off x="2525572" y="59436"/>
            <a:ext cx="2379268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200" b="0" ea="Microsoft YaHei">
                <a:solidFill>
                  <a:srgbClr val="1E1E1E"/>
                </a:solidFill>
                <a:latin typeface="Microsoft YaHei"/>
              </a:rPr>
              <a:t>除草机构选型</a:t>
            </a:r>
          </a:p>
        </p:txBody>
      </p:sp>
      <p:sp>
        <p:nvSpPr>
          <p:cNvPr id="6" name="AGENT_NAV_SLOT_2"/>
          <p:cNvSpPr/>
          <p:nvPr/>
        </p:nvSpPr>
        <p:spPr>
          <a:xfrm>
            <a:off x="4904841" y="27432"/>
            <a:ext cx="2379268" cy="347472"/>
          </a:xfrm>
          <a:prstGeom prst="rect">
            <a:avLst/>
          </a:prstGeom>
          <a:solidFill>
            <a:srgbClr val="8B0D18"/>
          </a:solidFill>
          <a:ln w="1016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AGENT_NAV_LABEL_2"/>
          <p:cNvSpPr txBox="1"/>
          <p:nvPr/>
        </p:nvSpPr>
        <p:spPr>
          <a:xfrm>
            <a:off x="4904841" y="59436"/>
            <a:ext cx="2379268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200" b="1" ea="Microsoft YaHei">
                <a:solidFill>
                  <a:srgbClr val="FFFFFF"/>
                </a:solidFill>
                <a:latin typeface="Microsoft YaHei"/>
              </a:rPr>
              <a:t>设计与控制原理</a:t>
            </a:r>
          </a:p>
        </p:txBody>
      </p:sp>
      <p:sp>
        <p:nvSpPr>
          <p:cNvPr id="8" name="AGENT_NAV_SLOT_3"/>
          <p:cNvSpPr/>
          <p:nvPr/>
        </p:nvSpPr>
        <p:spPr>
          <a:xfrm>
            <a:off x="7284110" y="27432"/>
            <a:ext cx="2379268" cy="347472"/>
          </a:xfrm>
          <a:prstGeom prst="rect">
            <a:avLst/>
          </a:prstGeom>
          <a:solidFill>
            <a:srgbClr val="FFFFFF"/>
          </a:solidFill>
          <a:ln w="1016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AGENT_NAV_LABEL_3"/>
          <p:cNvSpPr txBox="1"/>
          <p:nvPr/>
        </p:nvSpPr>
        <p:spPr>
          <a:xfrm>
            <a:off x="7284110" y="59436"/>
            <a:ext cx="2379268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200" b="0" ea="Microsoft YaHei">
                <a:solidFill>
                  <a:srgbClr val="1E1E1E"/>
                </a:solidFill>
                <a:latin typeface="Microsoft YaHei"/>
              </a:rPr>
              <a:t>进土深度问题</a:t>
            </a:r>
          </a:p>
        </p:txBody>
      </p:sp>
      <p:sp>
        <p:nvSpPr>
          <p:cNvPr id="10" name="AGENT_NAV_SLOT_4"/>
          <p:cNvSpPr/>
          <p:nvPr/>
        </p:nvSpPr>
        <p:spPr>
          <a:xfrm>
            <a:off x="9663379" y="27432"/>
            <a:ext cx="2379268" cy="347472"/>
          </a:xfrm>
          <a:prstGeom prst="rect">
            <a:avLst/>
          </a:prstGeom>
          <a:solidFill>
            <a:srgbClr val="FFFFFF"/>
          </a:solidFill>
          <a:ln w="1016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AGENT_NAV_LABEL_4"/>
          <p:cNvSpPr txBox="1"/>
          <p:nvPr/>
        </p:nvSpPr>
        <p:spPr>
          <a:xfrm>
            <a:off x="9663379" y="59436"/>
            <a:ext cx="2379268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200" b="0" ea="Microsoft YaHei">
                <a:solidFill>
                  <a:srgbClr val="1E1E1E"/>
                </a:solidFill>
                <a:latin typeface="Microsoft YaHei"/>
              </a:rPr>
              <a:t>小结与讨论</a:t>
            </a:r>
          </a:p>
        </p:txBody>
      </p:sp>
      <p:sp>
        <p:nvSpPr>
          <p:cNvPr id="12" name="AGENT_FOOTER"/>
          <p:cNvSpPr txBox="1"/>
          <p:nvPr/>
        </p:nvSpPr>
        <p:spPr>
          <a:xfrm>
            <a:off x="320040" y="6510528"/>
            <a:ext cx="8595360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800" b="0" ea="Microsoft YaHei">
                <a:solidFill>
                  <a:srgbClr val="696969"/>
                </a:solidFill>
                <a:latin typeface="Microsoft YaHei"/>
              </a:rPr>
              <a:t>纯视觉芍药行间除草机器人 · 组会汇报 · 2026-09-16</a:t>
            </a:r>
          </a:p>
        </p:txBody>
      </p:sp>
      <p:sp>
        <p:nvSpPr>
          <p:cNvPr id="13" name="AGENT_PAGE_NUMBER"/>
          <p:cNvSpPr txBox="1"/>
          <p:nvPr/>
        </p:nvSpPr>
        <p:spPr>
          <a:xfrm>
            <a:off x="11521440" y="6501384"/>
            <a:ext cx="256032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800" b="0" ea="Microsoft YaHei">
                <a:solidFill>
                  <a:srgbClr val="696969"/>
                </a:solidFill>
                <a:latin typeface="Microsoft YaHei"/>
              </a:rPr>
              <a:t>9</a:t>
            </a:r>
          </a:p>
        </p:txBody>
      </p:sp>
      <p:sp>
        <p:nvSpPr>
          <p:cNvPr id="14" name="AGENT_TITLE"/>
          <p:cNvSpPr txBox="1"/>
          <p:nvPr/>
        </p:nvSpPr>
        <p:spPr>
          <a:xfrm>
            <a:off x="320040" y="539496"/>
            <a:ext cx="1129284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000" b="0" ea="Microsoft YaHei">
                <a:solidFill>
                  <a:srgbClr val="8B0D18"/>
                </a:solidFill>
                <a:latin typeface="Microsoft YaHei"/>
              </a:rPr>
              <a:t>分割选 DeepLabV3+</a:t>
            </a:r>
          </a:p>
        </p:txBody>
      </p:sp>
      <p:sp>
        <p:nvSpPr>
          <p:cNvPr id="15" name="AGENT_TEXT_PANEL"/>
          <p:cNvSpPr/>
          <p:nvPr/>
        </p:nvSpPr>
        <p:spPr>
          <a:xfrm>
            <a:off x="685800" y="1417320"/>
            <a:ext cx="10835640" cy="443484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AGENT_BODY"/>
          <p:cNvSpPr txBox="1"/>
          <p:nvPr/>
        </p:nvSpPr>
        <p:spPr>
          <a:xfrm>
            <a:off x="960120" y="1664208"/>
            <a:ext cx="10287000" cy="3931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0" ea="Microsoft YaHei">
                <a:solidFill>
                  <a:srgbClr val="1E1E1E"/>
                </a:solidFill>
                <a:latin typeface="Microsoft YaHei"/>
              </a:rPr>
              <a:t>1. 任务是二分类：作物 / 背景（背景含杂草与裸土）
2. 选 DeepLabV3+ 配 MobileNetV2：端侧算力与实时性优先
3. 不追高分辨率网络：要的是墙的位置，不是像素级轮廓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AGENT_NAV_SLOT_0"/>
          <p:cNvSpPr/>
          <p:nvPr/>
        </p:nvSpPr>
        <p:spPr>
          <a:xfrm>
            <a:off x="146304" y="27432"/>
            <a:ext cx="2379268" cy="347472"/>
          </a:xfrm>
          <a:prstGeom prst="rect">
            <a:avLst/>
          </a:prstGeom>
          <a:solidFill>
            <a:srgbClr val="FFFFFF"/>
          </a:solidFill>
          <a:ln w="1016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AGENT_NAV_LABEL_0"/>
          <p:cNvSpPr txBox="1"/>
          <p:nvPr/>
        </p:nvSpPr>
        <p:spPr>
          <a:xfrm>
            <a:off x="146304" y="59436"/>
            <a:ext cx="2379268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200" b="0" ea="Microsoft YaHei">
                <a:solidFill>
                  <a:srgbClr val="1E1E1E"/>
                </a:solidFill>
                <a:latin typeface="Microsoft YaHei"/>
              </a:rPr>
              <a:t>立题与约束</a:t>
            </a:r>
          </a:p>
        </p:txBody>
      </p:sp>
      <p:sp>
        <p:nvSpPr>
          <p:cNvPr id="4" name="AGENT_NAV_SLOT_1"/>
          <p:cNvSpPr/>
          <p:nvPr/>
        </p:nvSpPr>
        <p:spPr>
          <a:xfrm>
            <a:off x="2525572" y="27432"/>
            <a:ext cx="2379268" cy="347472"/>
          </a:xfrm>
          <a:prstGeom prst="rect">
            <a:avLst/>
          </a:prstGeom>
          <a:solidFill>
            <a:srgbClr val="FFFFFF"/>
          </a:solidFill>
          <a:ln w="1016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AGENT_NAV_LABEL_1"/>
          <p:cNvSpPr txBox="1"/>
          <p:nvPr/>
        </p:nvSpPr>
        <p:spPr>
          <a:xfrm>
            <a:off x="2525572" y="59436"/>
            <a:ext cx="2379268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200" b="0" ea="Microsoft YaHei">
                <a:solidFill>
                  <a:srgbClr val="1E1E1E"/>
                </a:solidFill>
                <a:latin typeface="Microsoft YaHei"/>
              </a:rPr>
              <a:t>除草机构选型</a:t>
            </a:r>
          </a:p>
        </p:txBody>
      </p:sp>
      <p:sp>
        <p:nvSpPr>
          <p:cNvPr id="6" name="AGENT_NAV_SLOT_2"/>
          <p:cNvSpPr/>
          <p:nvPr/>
        </p:nvSpPr>
        <p:spPr>
          <a:xfrm>
            <a:off x="4904841" y="27432"/>
            <a:ext cx="2379268" cy="347472"/>
          </a:xfrm>
          <a:prstGeom prst="rect">
            <a:avLst/>
          </a:prstGeom>
          <a:solidFill>
            <a:srgbClr val="8B0D18"/>
          </a:solidFill>
          <a:ln w="1016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AGENT_NAV_LABEL_2"/>
          <p:cNvSpPr txBox="1"/>
          <p:nvPr/>
        </p:nvSpPr>
        <p:spPr>
          <a:xfrm>
            <a:off x="4904841" y="59436"/>
            <a:ext cx="2379268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200" b="1" ea="Microsoft YaHei">
                <a:solidFill>
                  <a:srgbClr val="FFFFFF"/>
                </a:solidFill>
                <a:latin typeface="Microsoft YaHei"/>
              </a:rPr>
              <a:t>设计与控制原理</a:t>
            </a:r>
          </a:p>
        </p:txBody>
      </p:sp>
      <p:sp>
        <p:nvSpPr>
          <p:cNvPr id="8" name="AGENT_NAV_SLOT_3"/>
          <p:cNvSpPr/>
          <p:nvPr/>
        </p:nvSpPr>
        <p:spPr>
          <a:xfrm>
            <a:off x="7284110" y="27432"/>
            <a:ext cx="2379268" cy="347472"/>
          </a:xfrm>
          <a:prstGeom prst="rect">
            <a:avLst/>
          </a:prstGeom>
          <a:solidFill>
            <a:srgbClr val="FFFFFF"/>
          </a:solidFill>
          <a:ln w="1016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AGENT_NAV_LABEL_3"/>
          <p:cNvSpPr txBox="1"/>
          <p:nvPr/>
        </p:nvSpPr>
        <p:spPr>
          <a:xfrm>
            <a:off x="7284110" y="59436"/>
            <a:ext cx="2379268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200" b="0" ea="Microsoft YaHei">
                <a:solidFill>
                  <a:srgbClr val="1E1E1E"/>
                </a:solidFill>
                <a:latin typeface="Microsoft YaHei"/>
              </a:rPr>
              <a:t>进土深度问题</a:t>
            </a:r>
          </a:p>
        </p:txBody>
      </p:sp>
      <p:sp>
        <p:nvSpPr>
          <p:cNvPr id="10" name="AGENT_NAV_SLOT_4"/>
          <p:cNvSpPr/>
          <p:nvPr/>
        </p:nvSpPr>
        <p:spPr>
          <a:xfrm>
            <a:off x="9663379" y="27432"/>
            <a:ext cx="2379268" cy="347472"/>
          </a:xfrm>
          <a:prstGeom prst="rect">
            <a:avLst/>
          </a:prstGeom>
          <a:solidFill>
            <a:srgbClr val="FFFFFF"/>
          </a:solidFill>
          <a:ln w="1016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AGENT_NAV_LABEL_4"/>
          <p:cNvSpPr txBox="1"/>
          <p:nvPr/>
        </p:nvSpPr>
        <p:spPr>
          <a:xfrm>
            <a:off x="9663379" y="59436"/>
            <a:ext cx="2379268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200" b="0" ea="Microsoft YaHei">
                <a:solidFill>
                  <a:srgbClr val="1E1E1E"/>
                </a:solidFill>
                <a:latin typeface="Microsoft YaHei"/>
              </a:rPr>
              <a:t>小结与讨论</a:t>
            </a:r>
          </a:p>
        </p:txBody>
      </p:sp>
      <p:sp>
        <p:nvSpPr>
          <p:cNvPr id="12" name="AGENT_FOOTER"/>
          <p:cNvSpPr txBox="1"/>
          <p:nvPr/>
        </p:nvSpPr>
        <p:spPr>
          <a:xfrm>
            <a:off x="320040" y="6510528"/>
            <a:ext cx="8595360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800" b="0" ea="Microsoft YaHei">
                <a:solidFill>
                  <a:srgbClr val="696969"/>
                </a:solidFill>
                <a:latin typeface="Microsoft YaHei"/>
              </a:rPr>
              <a:t>纯视觉芍药行间除草机器人 · 组会汇报 · 2026-09-16</a:t>
            </a:r>
          </a:p>
        </p:txBody>
      </p:sp>
      <p:sp>
        <p:nvSpPr>
          <p:cNvPr id="13" name="AGENT_PAGE_NUMBER"/>
          <p:cNvSpPr txBox="1"/>
          <p:nvPr/>
        </p:nvSpPr>
        <p:spPr>
          <a:xfrm>
            <a:off x="11521440" y="6501384"/>
            <a:ext cx="256032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800" b="0" ea="Microsoft YaHei">
                <a:solidFill>
                  <a:srgbClr val="696969"/>
                </a:solidFill>
                <a:latin typeface="Microsoft YaHei"/>
              </a:rPr>
              <a:t>10</a:t>
            </a:r>
          </a:p>
        </p:txBody>
      </p:sp>
      <p:sp>
        <p:nvSpPr>
          <p:cNvPr id="14" name="AGENT_TITLE"/>
          <p:cNvSpPr txBox="1"/>
          <p:nvPr/>
        </p:nvSpPr>
        <p:spPr>
          <a:xfrm>
            <a:off x="320040" y="539496"/>
            <a:ext cx="1129284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000" b="0" ea="Microsoft YaHei">
                <a:solidFill>
                  <a:srgbClr val="8B0D18"/>
                </a:solidFill>
                <a:latin typeface="Microsoft YaHei"/>
              </a:rPr>
              <a:t>分割分数不等于能导航，评价要分三层</a:t>
            </a:r>
          </a:p>
        </p:txBody>
      </p:sp>
      <p:sp>
        <p:nvSpPr>
          <p:cNvPr id="15" name="AGENT_TEXT_PANEL"/>
          <p:cNvSpPr/>
          <p:nvPr/>
        </p:nvSpPr>
        <p:spPr>
          <a:xfrm>
            <a:off x="685800" y="1417320"/>
            <a:ext cx="10835640" cy="443484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AGENT_BODY"/>
          <p:cNvSpPr txBox="1"/>
          <p:nvPr/>
        </p:nvSpPr>
        <p:spPr>
          <a:xfrm>
            <a:off x="960120" y="1664208"/>
            <a:ext cx="10287000" cy="3931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0" ea="Microsoft YaHei">
                <a:solidFill>
                  <a:srgbClr val="1E1E1E"/>
                </a:solidFill>
                <a:latin typeface="Microsoft YaHei"/>
              </a:rPr>
              <a:t>1. 大片裸土分对，不保证近作物那几十像素边界准
2. 对刀具而言，少量边界像素错就可能造成明显偏移
3. 三层评价：分割指标 / 导航线误差与失效 / 田间效果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AGENT_NAV_SLOT_0"/>
          <p:cNvSpPr/>
          <p:nvPr/>
        </p:nvSpPr>
        <p:spPr>
          <a:xfrm>
            <a:off x="146304" y="27432"/>
            <a:ext cx="2379268" cy="347472"/>
          </a:xfrm>
          <a:prstGeom prst="rect">
            <a:avLst/>
          </a:prstGeom>
          <a:solidFill>
            <a:srgbClr val="FFFFFF"/>
          </a:solidFill>
          <a:ln w="1016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AGENT_NAV_LABEL_0"/>
          <p:cNvSpPr txBox="1"/>
          <p:nvPr/>
        </p:nvSpPr>
        <p:spPr>
          <a:xfrm>
            <a:off x="146304" y="59436"/>
            <a:ext cx="2379268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200" b="0" ea="Microsoft YaHei">
                <a:solidFill>
                  <a:srgbClr val="1E1E1E"/>
                </a:solidFill>
                <a:latin typeface="Microsoft YaHei"/>
              </a:rPr>
              <a:t>立题与约束</a:t>
            </a:r>
          </a:p>
        </p:txBody>
      </p:sp>
      <p:sp>
        <p:nvSpPr>
          <p:cNvPr id="4" name="AGENT_NAV_SLOT_1"/>
          <p:cNvSpPr/>
          <p:nvPr/>
        </p:nvSpPr>
        <p:spPr>
          <a:xfrm>
            <a:off x="2525572" y="27432"/>
            <a:ext cx="2379268" cy="347472"/>
          </a:xfrm>
          <a:prstGeom prst="rect">
            <a:avLst/>
          </a:prstGeom>
          <a:solidFill>
            <a:srgbClr val="FFFFFF"/>
          </a:solidFill>
          <a:ln w="1016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AGENT_NAV_LABEL_1"/>
          <p:cNvSpPr txBox="1"/>
          <p:nvPr/>
        </p:nvSpPr>
        <p:spPr>
          <a:xfrm>
            <a:off x="2525572" y="59436"/>
            <a:ext cx="2379268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200" b="0" ea="Microsoft YaHei">
                <a:solidFill>
                  <a:srgbClr val="1E1E1E"/>
                </a:solidFill>
                <a:latin typeface="Microsoft YaHei"/>
              </a:rPr>
              <a:t>除草机构选型</a:t>
            </a:r>
          </a:p>
        </p:txBody>
      </p:sp>
      <p:sp>
        <p:nvSpPr>
          <p:cNvPr id="6" name="AGENT_NAV_SLOT_2"/>
          <p:cNvSpPr/>
          <p:nvPr/>
        </p:nvSpPr>
        <p:spPr>
          <a:xfrm>
            <a:off x="4904841" y="27432"/>
            <a:ext cx="2379268" cy="347472"/>
          </a:xfrm>
          <a:prstGeom prst="rect">
            <a:avLst/>
          </a:prstGeom>
          <a:solidFill>
            <a:srgbClr val="8B0D18"/>
          </a:solidFill>
          <a:ln w="1016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AGENT_NAV_LABEL_2"/>
          <p:cNvSpPr txBox="1"/>
          <p:nvPr/>
        </p:nvSpPr>
        <p:spPr>
          <a:xfrm>
            <a:off x="4904841" y="59436"/>
            <a:ext cx="2379268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200" b="1" ea="Microsoft YaHei">
                <a:solidFill>
                  <a:srgbClr val="FFFFFF"/>
                </a:solidFill>
                <a:latin typeface="Microsoft YaHei"/>
              </a:rPr>
              <a:t>设计与控制原理</a:t>
            </a:r>
          </a:p>
        </p:txBody>
      </p:sp>
      <p:sp>
        <p:nvSpPr>
          <p:cNvPr id="8" name="AGENT_NAV_SLOT_3"/>
          <p:cNvSpPr/>
          <p:nvPr/>
        </p:nvSpPr>
        <p:spPr>
          <a:xfrm>
            <a:off x="7284110" y="27432"/>
            <a:ext cx="2379268" cy="347472"/>
          </a:xfrm>
          <a:prstGeom prst="rect">
            <a:avLst/>
          </a:prstGeom>
          <a:solidFill>
            <a:srgbClr val="FFFFFF"/>
          </a:solidFill>
          <a:ln w="1016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AGENT_NAV_LABEL_3"/>
          <p:cNvSpPr txBox="1"/>
          <p:nvPr/>
        </p:nvSpPr>
        <p:spPr>
          <a:xfrm>
            <a:off x="7284110" y="59436"/>
            <a:ext cx="2379268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200" b="0" ea="Microsoft YaHei">
                <a:solidFill>
                  <a:srgbClr val="1E1E1E"/>
                </a:solidFill>
                <a:latin typeface="Microsoft YaHei"/>
              </a:rPr>
              <a:t>进土深度问题</a:t>
            </a:r>
          </a:p>
        </p:txBody>
      </p:sp>
      <p:sp>
        <p:nvSpPr>
          <p:cNvPr id="10" name="AGENT_NAV_SLOT_4"/>
          <p:cNvSpPr/>
          <p:nvPr/>
        </p:nvSpPr>
        <p:spPr>
          <a:xfrm>
            <a:off x="9663379" y="27432"/>
            <a:ext cx="2379268" cy="347472"/>
          </a:xfrm>
          <a:prstGeom prst="rect">
            <a:avLst/>
          </a:prstGeom>
          <a:solidFill>
            <a:srgbClr val="FFFFFF"/>
          </a:solidFill>
          <a:ln w="1016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AGENT_NAV_LABEL_4"/>
          <p:cNvSpPr txBox="1"/>
          <p:nvPr/>
        </p:nvSpPr>
        <p:spPr>
          <a:xfrm>
            <a:off x="9663379" y="59436"/>
            <a:ext cx="2379268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200" b="0" ea="Microsoft YaHei">
                <a:solidFill>
                  <a:srgbClr val="1E1E1E"/>
                </a:solidFill>
                <a:latin typeface="Microsoft YaHei"/>
              </a:rPr>
              <a:t>小结与讨论</a:t>
            </a:r>
          </a:p>
        </p:txBody>
      </p:sp>
      <p:sp>
        <p:nvSpPr>
          <p:cNvPr id="12" name="AGENT_FOOTER"/>
          <p:cNvSpPr txBox="1"/>
          <p:nvPr/>
        </p:nvSpPr>
        <p:spPr>
          <a:xfrm>
            <a:off x="320040" y="6510528"/>
            <a:ext cx="8595360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800" b="0" ea="Microsoft YaHei">
                <a:solidFill>
                  <a:srgbClr val="696969"/>
                </a:solidFill>
                <a:latin typeface="Microsoft YaHei"/>
              </a:rPr>
              <a:t>纯视觉芍药行间除草机器人 · 组会汇报 · 2026-09-16</a:t>
            </a:r>
          </a:p>
        </p:txBody>
      </p:sp>
      <p:sp>
        <p:nvSpPr>
          <p:cNvPr id="13" name="AGENT_PAGE_NUMBER"/>
          <p:cNvSpPr txBox="1"/>
          <p:nvPr/>
        </p:nvSpPr>
        <p:spPr>
          <a:xfrm>
            <a:off x="11521440" y="6501384"/>
            <a:ext cx="256032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800" b="0" ea="Microsoft YaHei">
                <a:solidFill>
                  <a:srgbClr val="696969"/>
                </a:solidFill>
                <a:latin typeface="Microsoft YaHei"/>
              </a:rPr>
              <a:t>11</a:t>
            </a:r>
          </a:p>
        </p:txBody>
      </p:sp>
      <p:sp>
        <p:nvSpPr>
          <p:cNvPr id="14" name="AGENT_TITLE"/>
          <p:cNvSpPr txBox="1"/>
          <p:nvPr/>
        </p:nvSpPr>
        <p:spPr>
          <a:xfrm>
            <a:off x="320040" y="539496"/>
            <a:ext cx="1129284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000" b="0" ea="Microsoft YaHei">
                <a:solidFill>
                  <a:srgbClr val="8B0D18"/>
                </a:solidFill>
                <a:latin typeface="Microsoft YaHei"/>
              </a:rPr>
              <a:t>行墙提取分远近两场，三条目标线要分开</a:t>
            </a:r>
          </a:p>
        </p:txBody>
      </p:sp>
      <p:sp>
        <p:nvSpPr>
          <p:cNvPr id="15" name="AGENT_STEP_BOX_0"/>
          <p:cNvSpPr/>
          <p:nvPr/>
        </p:nvSpPr>
        <p:spPr>
          <a:xfrm>
            <a:off x="1051560" y="2743200"/>
            <a:ext cx="1847088" cy="914400"/>
          </a:xfrm>
          <a:prstGeom prst="rect">
            <a:avLst/>
          </a:prstGeom>
          <a:solidFill>
            <a:srgbClr val="F7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AGENT_STEP_TEXT_0"/>
          <p:cNvSpPr txBox="1"/>
          <p:nvPr/>
        </p:nvSpPr>
        <p:spPr>
          <a:xfrm>
            <a:off x="1124712" y="2880360"/>
            <a:ext cx="1700784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 ea="Microsoft YaHei">
                <a:solidFill>
                  <a:srgbClr val="1E1E1E"/>
                </a:solidFill>
                <a:latin typeface="Microsoft YaHei"/>
              </a:rPr>
              <a:t>去畸变</a:t>
            </a:r>
          </a:p>
        </p:txBody>
      </p:sp>
      <p:sp>
        <p:nvSpPr>
          <p:cNvPr id="17" name="AGENT_STEP_ARROW_0"/>
          <p:cNvSpPr txBox="1"/>
          <p:nvPr/>
        </p:nvSpPr>
        <p:spPr>
          <a:xfrm>
            <a:off x="2971800" y="2935224"/>
            <a:ext cx="164592" cy="36576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2000" b="1" ea="Microsoft YaHei">
                <a:solidFill>
                  <a:srgbClr val="8B0D18"/>
                </a:solidFill>
                <a:latin typeface="Microsoft YaHei"/>
              </a:rPr>
              <a:t>→</a:t>
            </a:r>
          </a:p>
        </p:txBody>
      </p:sp>
      <p:sp>
        <p:nvSpPr>
          <p:cNvPr id="18" name="AGENT_STEP_BOX_1"/>
          <p:cNvSpPr/>
          <p:nvPr/>
        </p:nvSpPr>
        <p:spPr>
          <a:xfrm>
            <a:off x="3044952" y="2743200"/>
            <a:ext cx="1847088" cy="914400"/>
          </a:xfrm>
          <a:prstGeom prst="rect">
            <a:avLst/>
          </a:prstGeom>
          <a:solidFill>
            <a:srgbClr val="F7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AGENT_STEP_TEXT_1"/>
          <p:cNvSpPr txBox="1"/>
          <p:nvPr/>
        </p:nvSpPr>
        <p:spPr>
          <a:xfrm>
            <a:off x="3118104" y="2880360"/>
            <a:ext cx="1700784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 ea="Microsoft YaHei">
                <a:solidFill>
                  <a:srgbClr val="1E1E1E"/>
                </a:solidFill>
                <a:latin typeface="Microsoft YaHei"/>
              </a:rPr>
              <a:t>IPM 投影</a:t>
            </a:r>
          </a:p>
        </p:txBody>
      </p:sp>
      <p:sp>
        <p:nvSpPr>
          <p:cNvPr id="20" name="AGENT_STEP_ARROW_1"/>
          <p:cNvSpPr txBox="1"/>
          <p:nvPr/>
        </p:nvSpPr>
        <p:spPr>
          <a:xfrm>
            <a:off x="4965192" y="2935224"/>
            <a:ext cx="164592" cy="36576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2000" b="1" ea="Microsoft YaHei">
                <a:solidFill>
                  <a:srgbClr val="8B0D18"/>
                </a:solidFill>
                <a:latin typeface="Microsoft YaHei"/>
              </a:rPr>
              <a:t>→</a:t>
            </a:r>
          </a:p>
        </p:txBody>
      </p:sp>
      <p:sp>
        <p:nvSpPr>
          <p:cNvPr id="21" name="AGENT_STEP_BOX_2"/>
          <p:cNvSpPr/>
          <p:nvPr/>
        </p:nvSpPr>
        <p:spPr>
          <a:xfrm>
            <a:off x="5038344" y="2743200"/>
            <a:ext cx="1847088" cy="914400"/>
          </a:xfrm>
          <a:prstGeom prst="rect">
            <a:avLst/>
          </a:prstGeom>
          <a:solidFill>
            <a:srgbClr val="F7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AGENT_STEP_TEXT_2"/>
          <p:cNvSpPr txBox="1"/>
          <p:nvPr/>
        </p:nvSpPr>
        <p:spPr>
          <a:xfrm>
            <a:off x="5111496" y="2880360"/>
            <a:ext cx="1700784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 ea="Microsoft YaHei">
                <a:solidFill>
                  <a:srgbClr val="1E1E1E"/>
                </a:solidFill>
                <a:latin typeface="Microsoft YaHei"/>
              </a:rPr>
              <a:t>双墙拟合</a:t>
            </a:r>
          </a:p>
        </p:txBody>
      </p:sp>
      <p:sp>
        <p:nvSpPr>
          <p:cNvPr id="23" name="AGENT_STEP_ARROW_2"/>
          <p:cNvSpPr txBox="1"/>
          <p:nvPr/>
        </p:nvSpPr>
        <p:spPr>
          <a:xfrm>
            <a:off x="6958584" y="2935224"/>
            <a:ext cx="164592" cy="36576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2000" b="1" ea="Microsoft YaHei">
                <a:solidFill>
                  <a:srgbClr val="8B0D18"/>
                </a:solidFill>
                <a:latin typeface="Microsoft YaHei"/>
              </a:rPr>
              <a:t>→</a:t>
            </a:r>
          </a:p>
        </p:txBody>
      </p:sp>
      <p:sp>
        <p:nvSpPr>
          <p:cNvPr id="24" name="AGENT_STEP_BOX_3"/>
          <p:cNvSpPr/>
          <p:nvPr/>
        </p:nvSpPr>
        <p:spPr>
          <a:xfrm>
            <a:off x="7031736" y="2743200"/>
            <a:ext cx="1847088" cy="914400"/>
          </a:xfrm>
          <a:prstGeom prst="rect">
            <a:avLst/>
          </a:prstGeom>
          <a:solidFill>
            <a:srgbClr val="F7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AGENT_STEP_TEXT_3"/>
          <p:cNvSpPr txBox="1"/>
          <p:nvPr/>
        </p:nvSpPr>
        <p:spPr>
          <a:xfrm>
            <a:off x="7104888" y="2880360"/>
            <a:ext cx="1700784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 ea="Microsoft YaHei">
                <a:solidFill>
                  <a:srgbClr val="1E1E1E"/>
                </a:solidFill>
                <a:latin typeface="Microsoft YaHei"/>
              </a:rPr>
              <a:t>远/近场中心线</a:t>
            </a:r>
          </a:p>
        </p:txBody>
      </p:sp>
      <p:sp>
        <p:nvSpPr>
          <p:cNvPr id="26" name="AGENT_STEP_ARROW_3"/>
          <p:cNvSpPr txBox="1"/>
          <p:nvPr/>
        </p:nvSpPr>
        <p:spPr>
          <a:xfrm>
            <a:off x="8951976" y="2935224"/>
            <a:ext cx="164592" cy="36576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2000" b="1" ea="Microsoft YaHei">
                <a:solidFill>
                  <a:srgbClr val="8B0D18"/>
                </a:solidFill>
                <a:latin typeface="Microsoft YaHei"/>
              </a:rPr>
              <a:t>→</a:t>
            </a:r>
          </a:p>
        </p:txBody>
      </p:sp>
      <p:sp>
        <p:nvSpPr>
          <p:cNvPr id="27" name="AGENT_STEP_BOX_4"/>
          <p:cNvSpPr/>
          <p:nvPr/>
        </p:nvSpPr>
        <p:spPr>
          <a:xfrm>
            <a:off x="9025128" y="2743200"/>
            <a:ext cx="1847088" cy="914400"/>
          </a:xfrm>
          <a:prstGeom prst="rect">
            <a:avLst/>
          </a:prstGeom>
          <a:solidFill>
            <a:srgbClr val="F7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AGENT_STEP_TEXT_4"/>
          <p:cNvSpPr txBox="1"/>
          <p:nvPr/>
        </p:nvSpPr>
        <p:spPr>
          <a:xfrm>
            <a:off x="9098280" y="2880360"/>
            <a:ext cx="1700784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 ea="Microsoft YaHei">
                <a:solidFill>
                  <a:srgbClr val="1E1E1E"/>
                </a:solidFill>
                <a:latin typeface="Microsoft YaHei"/>
              </a:rPr>
              <a:t>横向偏差</a:t>
            </a:r>
          </a:p>
        </p:txBody>
      </p:sp>
      <p:sp>
        <p:nvSpPr>
          <p:cNvPr id="29" name="AGENT_BODY"/>
          <p:cNvSpPr txBox="1"/>
          <p:nvPr/>
        </p:nvSpPr>
        <p:spPr>
          <a:xfrm>
            <a:off x="1005840" y="4251960"/>
            <a:ext cx="9966960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0" ea="Microsoft YaHei">
                <a:solidFill>
                  <a:srgbClr val="1E1E1E"/>
                </a:solidFill>
                <a:latin typeface="Microsoft YaHei"/>
              </a:rPr>
              <a:t>1. 作物行中心 / 通道中心 / 作业带中心，三者可能不重合
2. 不重合的原因：农艺保护带、叶片伸展、刀具宽度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AGENT_NAV_SLOT_0"/>
          <p:cNvSpPr/>
          <p:nvPr/>
        </p:nvSpPr>
        <p:spPr>
          <a:xfrm>
            <a:off x="146304" y="27432"/>
            <a:ext cx="2379268" cy="347472"/>
          </a:xfrm>
          <a:prstGeom prst="rect">
            <a:avLst/>
          </a:prstGeom>
          <a:solidFill>
            <a:srgbClr val="FFFFFF"/>
          </a:solidFill>
          <a:ln w="1016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AGENT_NAV_LABEL_0"/>
          <p:cNvSpPr txBox="1"/>
          <p:nvPr/>
        </p:nvSpPr>
        <p:spPr>
          <a:xfrm>
            <a:off x="146304" y="59436"/>
            <a:ext cx="2379268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200" b="0" ea="Microsoft YaHei">
                <a:solidFill>
                  <a:srgbClr val="1E1E1E"/>
                </a:solidFill>
                <a:latin typeface="Microsoft YaHei"/>
              </a:rPr>
              <a:t>立题与约束</a:t>
            </a:r>
          </a:p>
        </p:txBody>
      </p:sp>
      <p:sp>
        <p:nvSpPr>
          <p:cNvPr id="4" name="AGENT_NAV_SLOT_1"/>
          <p:cNvSpPr/>
          <p:nvPr/>
        </p:nvSpPr>
        <p:spPr>
          <a:xfrm>
            <a:off x="2525572" y="27432"/>
            <a:ext cx="2379268" cy="347472"/>
          </a:xfrm>
          <a:prstGeom prst="rect">
            <a:avLst/>
          </a:prstGeom>
          <a:solidFill>
            <a:srgbClr val="FFFFFF"/>
          </a:solidFill>
          <a:ln w="1016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AGENT_NAV_LABEL_1"/>
          <p:cNvSpPr txBox="1"/>
          <p:nvPr/>
        </p:nvSpPr>
        <p:spPr>
          <a:xfrm>
            <a:off x="2525572" y="59436"/>
            <a:ext cx="2379268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200" b="0" ea="Microsoft YaHei">
                <a:solidFill>
                  <a:srgbClr val="1E1E1E"/>
                </a:solidFill>
                <a:latin typeface="Microsoft YaHei"/>
              </a:rPr>
              <a:t>除草机构选型</a:t>
            </a:r>
          </a:p>
        </p:txBody>
      </p:sp>
      <p:sp>
        <p:nvSpPr>
          <p:cNvPr id="6" name="AGENT_NAV_SLOT_2"/>
          <p:cNvSpPr/>
          <p:nvPr/>
        </p:nvSpPr>
        <p:spPr>
          <a:xfrm>
            <a:off x="4904841" y="27432"/>
            <a:ext cx="2379268" cy="347472"/>
          </a:xfrm>
          <a:prstGeom prst="rect">
            <a:avLst/>
          </a:prstGeom>
          <a:solidFill>
            <a:srgbClr val="8B0D18"/>
          </a:solidFill>
          <a:ln w="1016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AGENT_NAV_LABEL_2"/>
          <p:cNvSpPr txBox="1"/>
          <p:nvPr/>
        </p:nvSpPr>
        <p:spPr>
          <a:xfrm>
            <a:off x="4904841" y="59436"/>
            <a:ext cx="2379268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200" b="1" ea="Microsoft YaHei">
                <a:solidFill>
                  <a:srgbClr val="FFFFFF"/>
                </a:solidFill>
                <a:latin typeface="Microsoft YaHei"/>
              </a:rPr>
              <a:t>设计与控制原理</a:t>
            </a:r>
          </a:p>
        </p:txBody>
      </p:sp>
      <p:sp>
        <p:nvSpPr>
          <p:cNvPr id="8" name="AGENT_NAV_SLOT_3"/>
          <p:cNvSpPr/>
          <p:nvPr/>
        </p:nvSpPr>
        <p:spPr>
          <a:xfrm>
            <a:off x="7284110" y="27432"/>
            <a:ext cx="2379268" cy="347472"/>
          </a:xfrm>
          <a:prstGeom prst="rect">
            <a:avLst/>
          </a:prstGeom>
          <a:solidFill>
            <a:srgbClr val="FFFFFF"/>
          </a:solidFill>
          <a:ln w="1016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AGENT_NAV_LABEL_3"/>
          <p:cNvSpPr txBox="1"/>
          <p:nvPr/>
        </p:nvSpPr>
        <p:spPr>
          <a:xfrm>
            <a:off x="7284110" y="59436"/>
            <a:ext cx="2379268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200" b="0" ea="Microsoft YaHei">
                <a:solidFill>
                  <a:srgbClr val="1E1E1E"/>
                </a:solidFill>
                <a:latin typeface="Microsoft YaHei"/>
              </a:rPr>
              <a:t>进土深度问题</a:t>
            </a:r>
          </a:p>
        </p:txBody>
      </p:sp>
      <p:sp>
        <p:nvSpPr>
          <p:cNvPr id="10" name="AGENT_NAV_SLOT_4"/>
          <p:cNvSpPr/>
          <p:nvPr/>
        </p:nvSpPr>
        <p:spPr>
          <a:xfrm>
            <a:off x="9663379" y="27432"/>
            <a:ext cx="2379268" cy="347472"/>
          </a:xfrm>
          <a:prstGeom prst="rect">
            <a:avLst/>
          </a:prstGeom>
          <a:solidFill>
            <a:srgbClr val="FFFFFF"/>
          </a:solidFill>
          <a:ln w="1016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AGENT_NAV_LABEL_4"/>
          <p:cNvSpPr txBox="1"/>
          <p:nvPr/>
        </p:nvSpPr>
        <p:spPr>
          <a:xfrm>
            <a:off x="9663379" y="59436"/>
            <a:ext cx="2379268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200" b="0" ea="Microsoft YaHei">
                <a:solidFill>
                  <a:srgbClr val="1E1E1E"/>
                </a:solidFill>
                <a:latin typeface="Microsoft YaHei"/>
              </a:rPr>
              <a:t>小结与讨论</a:t>
            </a:r>
          </a:p>
        </p:txBody>
      </p:sp>
      <p:sp>
        <p:nvSpPr>
          <p:cNvPr id="12" name="AGENT_FOOTER"/>
          <p:cNvSpPr txBox="1"/>
          <p:nvPr/>
        </p:nvSpPr>
        <p:spPr>
          <a:xfrm>
            <a:off x="320040" y="6510528"/>
            <a:ext cx="8595360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800" b="0" ea="Microsoft YaHei">
                <a:solidFill>
                  <a:srgbClr val="696969"/>
                </a:solidFill>
                <a:latin typeface="Microsoft YaHei"/>
              </a:rPr>
              <a:t>纯视觉芍药行间除草机器人 · 组会汇报 · 2026-09-16</a:t>
            </a:r>
          </a:p>
        </p:txBody>
      </p:sp>
      <p:sp>
        <p:nvSpPr>
          <p:cNvPr id="13" name="AGENT_PAGE_NUMBER"/>
          <p:cNvSpPr txBox="1"/>
          <p:nvPr/>
        </p:nvSpPr>
        <p:spPr>
          <a:xfrm>
            <a:off x="11521440" y="6501384"/>
            <a:ext cx="256032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800" b="0" ea="Microsoft YaHei">
                <a:solidFill>
                  <a:srgbClr val="696969"/>
                </a:solidFill>
                <a:latin typeface="Microsoft YaHei"/>
              </a:rPr>
              <a:t>12</a:t>
            </a:r>
          </a:p>
        </p:txBody>
      </p:sp>
      <p:sp>
        <p:nvSpPr>
          <p:cNvPr id="14" name="AGENT_TITLE"/>
          <p:cNvSpPr txBox="1"/>
          <p:nvPr/>
        </p:nvSpPr>
        <p:spPr>
          <a:xfrm>
            <a:off x="320040" y="539496"/>
            <a:ext cx="1129284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000" b="0" ea="Microsoft YaHei">
                <a:solidFill>
                  <a:srgbClr val="8B0D18"/>
                </a:solidFill>
                <a:latin typeface="Microsoft YaHei"/>
              </a:rPr>
              <a:t>轨迹跟踪用 PD 加横向速率阻尼</a:t>
            </a:r>
          </a:p>
        </p:txBody>
      </p:sp>
      <p:sp>
        <p:nvSpPr>
          <p:cNvPr id="15" name="AGENT_TEXT_PANEL"/>
          <p:cNvSpPr/>
          <p:nvPr/>
        </p:nvSpPr>
        <p:spPr>
          <a:xfrm>
            <a:off x="685800" y="1417320"/>
            <a:ext cx="10835640" cy="443484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AGENT_BODY"/>
          <p:cNvSpPr txBox="1"/>
          <p:nvPr/>
        </p:nvSpPr>
        <p:spPr>
          <a:xfrm>
            <a:off x="960120" y="1664208"/>
            <a:ext cx="10287000" cy="3931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0" ea="Microsoft YaHei">
                <a:solidFill>
                  <a:srgbClr val="1E1E1E"/>
                </a:solidFill>
                <a:latin typeface="Microsoft YaHei"/>
              </a:rPr>
              <a:t>1. 控制律 PD(e, ė)：e 为横向偏差，ė 由相邻帧估计
2. 为什么加 ė：只看 e 会振荡，阻尼项用来压超调
3. 时延补偿取 e + ė·τ，不用前移量 v·τ（两者不同源）
4. 当前 AUTO 只发左右轮速，四轮转角在 AUTO 下强制回零
5. 转向几何按前轮 Ackermann + 后轮回正，属实现细节</a:t>
            </a:r>
          </a:p>
        </p:txBody>
      </p:sp>
      <p:sp>
        <p:nvSpPr>
          <p:cNvPr id="17" name="AGENT_TAKEAWAY"/>
          <p:cNvSpPr txBox="1"/>
          <p:nvPr/>
        </p:nvSpPr>
        <p:spPr>
          <a:xfrm>
            <a:off x="868680" y="5989320"/>
            <a:ext cx="101955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1" ea="Microsoft YaHei">
                <a:solidFill>
                  <a:srgbClr val="8B0D18"/>
                </a:solidFill>
                <a:latin typeface="Microsoft YaHei"/>
              </a:rPr>
              <a:t>差速 AUTO 的结果不能写成四轮转向自主控制已实现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AGENT_NAV_SLOT_0"/>
          <p:cNvSpPr/>
          <p:nvPr/>
        </p:nvSpPr>
        <p:spPr>
          <a:xfrm>
            <a:off x="146304" y="27432"/>
            <a:ext cx="2379268" cy="347472"/>
          </a:xfrm>
          <a:prstGeom prst="rect">
            <a:avLst/>
          </a:prstGeom>
          <a:solidFill>
            <a:srgbClr val="FFFFFF"/>
          </a:solidFill>
          <a:ln w="1016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AGENT_NAV_LABEL_0"/>
          <p:cNvSpPr txBox="1"/>
          <p:nvPr/>
        </p:nvSpPr>
        <p:spPr>
          <a:xfrm>
            <a:off x="146304" y="59436"/>
            <a:ext cx="2379268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200" b="0" ea="Microsoft YaHei">
                <a:solidFill>
                  <a:srgbClr val="1E1E1E"/>
                </a:solidFill>
                <a:latin typeface="Microsoft YaHei"/>
              </a:rPr>
              <a:t>立题与约束</a:t>
            </a:r>
          </a:p>
        </p:txBody>
      </p:sp>
      <p:sp>
        <p:nvSpPr>
          <p:cNvPr id="4" name="AGENT_NAV_SLOT_1"/>
          <p:cNvSpPr/>
          <p:nvPr/>
        </p:nvSpPr>
        <p:spPr>
          <a:xfrm>
            <a:off x="2525572" y="27432"/>
            <a:ext cx="2379268" cy="347472"/>
          </a:xfrm>
          <a:prstGeom prst="rect">
            <a:avLst/>
          </a:prstGeom>
          <a:solidFill>
            <a:srgbClr val="FFFFFF"/>
          </a:solidFill>
          <a:ln w="1016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AGENT_NAV_LABEL_1"/>
          <p:cNvSpPr txBox="1"/>
          <p:nvPr/>
        </p:nvSpPr>
        <p:spPr>
          <a:xfrm>
            <a:off x="2525572" y="59436"/>
            <a:ext cx="2379268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200" b="0" ea="Microsoft YaHei">
                <a:solidFill>
                  <a:srgbClr val="1E1E1E"/>
                </a:solidFill>
                <a:latin typeface="Microsoft YaHei"/>
              </a:rPr>
              <a:t>除草机构选型</a:t>
            </a:r>
          </a:p>
        </p:txBody>
      </p:sp>
      <p:sp>
        <p:nvSpPr>
          <p:cNvPr id="6" name="AGENT_NAV_SLOT_2"/>
          <p:cNvSpPr/>
          <p:nvPr/>
        </p:nvSpPr>
        <p:spPr>
          <a:xfrm>
            <a:off x="4904841" y="27432"/>
            <a:ext cx="2379268" cy="347472"/>
          </a:xfrm>
          <a:prstGeom prst="rect">
            <a:avLst/>
          </a:prstGeom>
          <a:solidFill>
            <a:srgbClr val="8B0D18"/>
          </a:solidFill>
          <a:ln w="1016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AGENT_NAV_LABEL_2"/>
          <p:cNvSpPr txBox="1"/>
          <p:nvPr/>
        </p:nvSpPr>
        <p:spPr>
          <a:xfrm>
            <a:off x="4904841" y="59436"/>
            <a:ext cx="2379268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200" b="1" ea="Microsoft YaHei">
                <a:solidFill>
                  <a:srgbClr val="FFFFFF"/>
                </a:solidFill>
                <a:latin typeface="Microsoft YaHei"/>
              </a:rPr>
              <a:t>设计与控制原理</a:t>
            </a:r>
          </a:p>
        </p:txBody>
      </p:sp>
      <p:sp>
        <p:nvSpPr>
          <p:cNvPr id="8" name="AGENT_NAV_SLOT_3"/>
          <p:cNvSpPr/>
          <p:nvPr/>
        </p:nvSpPr>
        <p:spPr>
          <a:xfrm>
            <a:off x="7284110" y="27432"/>
            <a:ext cx="2379268" cy="347472"/>
          </a:xfrm>
          <a:prstGeom prst="rect">
            <a:avLst/>
          </a:prstGeom>
          <a:solidFill>
            <a:srgbClr val="FFFFFF"/>
          </a:solidFill>
          <a:ln w="1016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AGENT_NAV_LABEL_3"/>
          <p:cNvSpPr txBox="1"/>
          <p:nvPr/>
        </p:nvSpPr>
        <p:spPr>
          <a:xfrm>
            <a:off x="7284110" y="59436"/>
            <a:ext cx="2379268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200" b="0" ea="Microsoft YaHei">
                <a:solidFill>
                  <a:srgbClr val="1E1E1E"/>
                </a:solidFill>
                <a:latin typeface="Microsoft YaHei"/>
              </a:rPr>
              <a:t>进土深度问题</a:t>
            </a:r>
          </a:p>
        </p:txBody>
      </p:sp>
      <p:sp>
        <p:nvSpPr>
          <p:cNvPr id="10" name="AGENT_NAV_SLOT_4"/>
          <p:cNvSpPr/>
          <p:nvPr/>
        </p:nvSpPr>
        <p:spPr>
          <a:xfrm>
            <a:off x="9663379" y="27432"/>
            <a:ext cx="2379268" cy="347472"/>
          </a:xfrm>
          <a:prstGeom prst="rect">
            <a:avLst/>
          </a:prstGeom>
          <a:solidFill>
            <a:srgbClr val="FFFFFF"/>
          </a:solidFill>
          <a:ln w="1016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AGENT_NAV_LABEL_4"/>
          <p:cNvSpPr txBox="1"/>
          <p:nvPr/>
        </p:nvSpPr>
        <p:spPr>
          <a:xfrm>
            <a:off x="9663379" y="59436"/>
            <a:ext cx="2379268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200" b="0" ea="Microsoft YaHei">
                <a:solidFill>
                  <a:srgbClr val="1E1E1E"/>
                </a:solidFill>
                <a:latin typeface="Microsoft YaHei"/>
              </a:rPr>
              <a:t>小结与讨论</a:t>
            </a:r>
          </a:p>
        </p:txBody>
      </p:sp>
      <p:sp>
        <p:nvSpPr>
          <p:cNvPr id="12" name="AGENT_FOOTER"/>
          <p:cNvSpPr txBox="1"/>
          <p:nvPr/>
        </p:nvSpPr>
        <p:spPr>
          <a:xfrm>
            <a:off x="320040" y="6510528"/>
            <a:ext cx="8595360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800" b="0" ea="Microsoft YaHei">
                <a:solidFill>
                  <a:srgbClr val="696969"/>
                </a:solidFill>
                <a:latin typeface="Microsoft YaHei"/>
              </a:rPr>
              <a:t>纯视觉芍药行间除草机器人 · 组会汇报 · 2026-09-16</a:t>
            </a:r>
          </a:p>
        </p:txBody>
      </p:sp>
      <p:sp>
        <p:nvSpPr>
          <p:cNvPr id="13" name="AGENT_PAGE_NUMBER"/>
          <p:cNvSpPr txBox="1"/>
          <p:nvPr/>
        </p:nvSpPr>
        <p:spPr>
          <a:xfrm>
            <a:off x="11521440" y="6501384"/>
            <a:ext cx="256032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800" b="0" ea="Microsoft YaHei">
                <a:solidFill>
                  <a:srgbClr val="696969"/>
                </a:solidFill>
                <a:latin typeface="Microsoft YaHei"/>
              </a:rPr>
              <a:t>13</a:t>
            </a:r>
          </a:p>
        </p:txBody>
      </p:sp>
      <p:sp>
        <p:nvSpPr>
          <p:cNvPr id="14" name="AGENT_TITLE"/>
          <p:cNvSpPr txBox="1"/>
          <p:nvPr/>
        </p:nvSpPr>
        <p:spPr>
          <a:xfrm>
            <a:off x="320040" y="539496"/>
            <a:ext cx="1129284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000" b="0" ea="Microsoft YaHei">
                <a:solidFill>
                  <a:srgbClr val="8B0D18"/>
                </a:solidFill>
                <a:latin typeface="Microsoft YaHei"/>
              </a:rPr>
              <a:t>中间刀还不能叫闭环：刀到位了，相机看不出来</a:t>
            </a:r>
          </a:p>
        </p:txBody>
      </p:sp>
      <p:sp>
        <p:nvSpPr>
          <p:cNvPr id="15" name="AGENT_TEXT_PANEL"/>
          <p:cNvSpPr/>
          <p:nvPr/>
        </p:nvSpPr>
        <p:spPr>
          <a:xfrm>
            <a:off x="685800" y="1417320"/>
            <a:ext cx="10835640" cy="443484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AGENT_BODY"/>
          <p:cNvSpPr txBox="1"/>
          <p:nvPr/>
        </p:nvSpPr>
        <p:spPr>
          <a:xfrm>
            <a:off x="960120" y="1664208"/>
            <a:ext cx="10287000" cy="3931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0" ea="Microsoft YaHei">
                <a:solidFill>
                  <a:srgbClr val="1E1E1E"/>
                </a:solidFill>
                <a:latin typeface="Microsoft YaHei"/>
              </a:rPr>
              <a:t>1. 相机装在车架上，量的是“行相对车”的偏移
2. 刀在滑台上移过去了，图像里那个偏移量并不会变小
3. 现在代码把这个不会变的量当误差，输出一直加到 50 mm 限幅
4. 真误差 = 目标刀位（图像给）− 刀位实测 q（现在没有）
5. 所以先补刀位测量，再谈主动对刀闭环</a:t>
            </a:r>
          </a:p>
        </p:txBody>
      </p:sp>
      <p:sp>
        <p:nvSpPr>
          <p:cNvPr id="17" name="AGENT_TAKEAWAY"/>
          <p:cNvSpPr txBox="1"/>
          <p:nvPr/>
        </p:nvSpPr>
        <p:spPr>
          <a:xfrm>
            <a:off x="868680" y="5989320"/>
            <a:ext cx="101955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1" ea="Microsoft YaHei">
                <a:solidFill>
                  <a:srgbClr val="8B0D18"/>
                </a:solidFill>
                <a:latin typeface="Microsoft YaHei"/>
              </a:rPr>
              <a:t>那组限幅数字是纯函数复现，只说明机制，不代表整车会失稳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AGENT_NAV_SLOT_0"/>
          <p:cNvSpPr/>
          <p:nvPr/>
        </p:nvSpPr>
        <p:spPr>
          <a:xfrm>
            <a:off x="146304" y="27432"/>
            <a:ext cx="2379268" cy="347472"/>
          </a:xfrm>
          <a:prstGeom prst="rect">
            <a:avLst/>
          </a:prstGeom>
          <a:solidFill>
            <a:srgbClr val="FFFFFF"/>
          </a:solidFill>
          <a:ln w="1016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AGENT_NAV_LABEL_0"/>
          <p:cNvSpPr txBox="1"/>
          <p:nvPr/>
        </p:nvSpPr>
        <p:spPr>
          <a:xfrm>
            <a:off x="146304" y="59436"/>
            <a:ext cx="2379268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200" b="0" ea="Microsoft YaHei">
                <a:solidFill>
                  <a:srgbClr val="1E1E1E"/>
                </a:solidFill>
                <a:latin typeface="Microsoft YaHei"/>
              </a:rPr>
              <a:t>立题与约束</a:t>
            </a:r>
          </a:p>
        </p:txBody>
      </p:sp>
      <p:sp>
        <p:nvSpPr>
          <p:cNvPr id="4" name="AGENT_NAV_SLOT_1"/>
          <p:cNvSpPr/>
          <p:nvPr/>
        </p:nvSpPr>
        <p:spPr>
          <a:xfrm>
            <a:off x="2525572" y="27432"/>
            <a:ext cx="2379268" cy="347472"/>
          </a:xfrm>
          <a:prstGeom prst="rect">
            <a:avLst/>
          </a:prstGeom>
          <a:solidFill>
            <a:srgbClr val="FFFFFF"/>
          </a:solidFill>
          <a:ln w="1016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AGENT_NAV_LABEL_1"/>
          <p:cNvSpPr txBox="1"/>
          <p:nvPr/>
        </p:nvSpPr>
        <p:spPr>
          <a:xfrm>
            <a:off x="2525572" y="59436"/>
            <a:ext cx="2379268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200" b="0" ea="Microsoft YaHei">
                <a:solidFill>
                  <a:srgbClr val="1E1E1E"/>
                </a:solidFill>
                <a:latin typeface="Microsoft YaHei"/>
              </a:rPr>
              <a:t>除草机构选型</a:t>
            </a:r>
          </a:p>
        </p:txBody>
      </p:sp>
      <p:sp>
        <p:nvSpPr>
          <p:cNvPr id="6" name="AGENT_NAV_SLOT_2"/>
          <p:cNvSpPr/>
          <p:nvPr/>
        </p:nvSpPr>
        <p:spPr>
          <a:xfrm>
            <a:off x="4904841" y="27432"/>
            <a:ext cx="2379268" cy="347472"/>
          </a:xfrm>
          <a:prstGeom prst="rect">
            <a:avLst/>
          </a:prstGeom>
          <a:solidFill>
            <a:srgbClr val="8B0D18"/>
          </a:solidFill>
          <a:ln w="1016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AGENT_NAV_LABEL_2"/>
          <p:cNvSpPr txBox="1"/>
          <p:nvPr/>
        </p:nvSpPr>
        <p:spPr>
          <a:xfrm>
            <a:off x="4904841" y="59436"/>
            <a:ext cx="2379268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200" b="1" ea="Microsoft YaHei">
                <a:solidFill>
                  <a:srgbClr val="FFFFFF"/>
                </a:solidFill>
                <a:latin typeface="Microsoft YaHei"/>
              </a:rPr>
              <a:t>设计与控制原理</a:t>
            </a:r>
          </a:p>
        </p:txBody>
      </p:sp>
      <p:sp>
        <p:nvSpPr>
          <p:cNvPr id="8" name="AGENT_NAV_SLOT_3"/>
          <p:cNvSpPr/>
          <p:nvPr/>
        </p:nvSpPr>
        <p:spPr>
          <a:xfrm>
            <a:off x="7284110" y="27432"/>
            <a:ext cx="2379268" cy="347472"/>
          </a:xfrm>
          <a:prstGeom prst="rect">
            <a:avLst/>
          </a:prstGeom>
          <a:solidFill>
            <a:srgbClr val="FFFFFF"/>
          </a:solidFill>
          <a:ln w="1016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AGENT_NAV_LABEL_3"/>
          <p:cNvSpPr txBox="1"/>
          <p:nvPr/>
        </p:nvSpPr>
        <p:spPr>
          <a:xfrm>
            <a:off x="7284110" y="59436"/>
            <a:ext cx="2379268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200" b="0" ea="Microsoft YaHei">
                <a:solidFill>
                  <a:srgbClr val="1E1E1E"/>
                </a:solidFill>
                <a:latin typeface="Microsoft YaHei"/>
              </a:rPr>
              <a:t>进土深度问题</a:t>
            </a:r>
          </a:p>
        </p:txBody>
      </p:sp>
      <p:sp>
        <p:nvSpPr>
          <p:cNvPr id="10" name="AGENT_NAV_SLOT_4"/>
          <p:cNvSpPr/>
          <p:nvPr/>
        </p:nvSpPr>
        <p:spPr>
          <a:xfrm>
            <a:off x="9663379" y="27432"/>
            <a:ext cx="2379268" cy="347472"/>
          </a:xfrm>
          <a:prstGeom prst="rect">
            <a:avLst/>
          </a:prstGeom>
          <a:solidFill>
            <a:srgbClr val="FFFFFF"/>
          </a:solidFill>
          <a:ln w="1016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AGENT_NAV_LABEL_4"/>
          <p:cNvSpPr txBox="1"/>
          <p:nvPr/>
        </p:nvSpPr>
        <p:spPr>
          <a:xfrm>
            <a:off x="9663379" y="59436"/>
            <a:ext cx="2379268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200" b="0" ea="Microsoft YaHei">
                <a:solidFill>
                  <a:srgbClr val="1E1E1E"/>
                </a:solidFill>
                <a:latin typeface="Microsoft YaHei"/>
              </a:rPr>
              <a:t>小结与讨论</a:t>
            </a:r>
          </a:p>
        </p:txBody>
      </p:sp>
      <p:sp>
        <p:nvSpPr>
          <p:cNvPr id="12" name="AGENT_FOOTER"/>
          <p:cNvSpPr txBox="1"/>
          <p:nvPr/>
        </p:nvSpPr>
        <p:spPr>
          <a:xfrm>
            <a:off x="320040" y="6510528"/>
            <a:ext cx="8595360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800" b="0" ea="Microsoft YaHei">
                <a:solidFill>
                  <a:srgbClr val="696969"/>
                </a:solidFill>
                <a:latin typeface="Microsoft YaHei"/>
              </a:rPr>
              <a:t>纯视觉芍药行间除草机器人 · 组会汇报 · 2026-09-16</a:t>
            </a:r>
          </a:p>
        </p:txBody>
      </p:sp>
      <p:sp>
        <p:nvSpPr>
          <p:cNvPr id="13" name="AGENT_PAGE_NUMBER"/>
          <p:cNvSpPr txBox="1"/>
          <p:nvPr/>
        </p:nvSpPr>
        <p:spPr>
          <a:xfrm>
            <a:off x="11521440" y="6501384"/>
            <a:ext cx="256032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800" b="0" ea="Microsoft YaHei">
                <a:solidFill>
                  <a:srgbClr val="696969"/>
                </a:solidFill>
                <a:latin typeface="Microsoft YaHei"/>
              </a:rPr>
              <a:t>14</a:t>
            </a:r>
          </a:p>
        </p:txBody>
      </p:sp>
      <p:sp>
        <p:nvSpPr>
          <p:cNvPr id="14" name="AGENT_TITLE"/>
          <p:cNvSpPr txBox="1"/>
          <p:nvPr/>
        </p:nvSpPr>
        <p:spPr>
          <a:xfrm>
            <a:off x="320040" y="539496"/>
            <a:ext cx="1129284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000" b="0" ea="Microsoft YaHei">
                <a:solidFill>
                  <a:srgbClr val="8B0D18"/>
                </a:solidFill>
                <a:latin typeface="Microsoft YaHei"/>
              </a:rPr>
              <a:t>升降管三梁、横移管中间刀，两套机构</a:t>
            </a:r>
          </a:p>
        </p:txBody>
      </p:sp>
      <p:sp>
        <p:nvSpPr>
          <p:cNvPr id="15" name="AGENT_SUMMARY_LINE_0"/>
          <p:cNvSpPr/>
          <p:nvPr/>
        </p:nvSpPr>
        <p:spPr>
          <a:xfrm>
            <a:off x="868680" y="1417320"/>
            <a:ext cx="10378440" cy="10972"/>
          </a:xfrm>
          <a:prstGeom prst="rect">
            <a:avLst/>
          </a:prstGeom>
          <a:solidFill>
            <a:srgbClr val="8B0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AGENT_SUMMARY_LABEL_0"/>
          <p:cNvSpPr txBox="1"/>
          <p:nvPr/>
        </p:nvSpPr>
        <p:spPr>
          <a:xfrm>
            <a:off x="960120" y="1527048"/>
            <a:ext cx="182880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900" b="1" ea="Microsoft YaHei">
                <a:solidFill>
                  <a:srgbClr val="8B0D18"/>
                </a:solidFill>
                <a:latin typeface="Microsoft YaHei"/>
              </a:rPr>
              <a:t>升降</a:t>
            </a:r>
          </a:p>
        </p:txBody>
      </p:sp>
      <p:sp>
        <p:nvSpPr>
          <p:cNvPr id="17" name="AGENT_SUMMARY_VALUE_0"/>
          <p:cNvSpPr txBox="1"/>
          <p:nvPr/>
        </p:nvSpPr>
        <p:spPr>
          <a:xfrm>
            <a:off x="2926080" y="1527048"/>
            <a:ext cx="790956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0" ea="Microsoft YaHei">
                <a:solidFill>
                  <a:srgbClr val="1E1E1E"/>
                </a:solidFill>
                <a:latin typeface="Microsoft YaHei"/>
              </a:rPr>
              <a:t>3×电推杆 48 V／200 mm／10 mm/s／3000 N，被动进土</a:t>
            </a:r>
          </a:p>
        </p:txBody>
      </p:sp>
      <p:sp>
        <p:nvSpPr>
          <p:cNvPr id="18" name="AGENT_SUMMARY_LINE_1"/>
          <p:cNvSpPr/>
          <p:nvPr/>
        </p:nvSpPr>
        <p:spPr>
          <a:xfrm>
            <a:off x="868680" y="2267712"/>
            <a:ext cx="10378440" cy="10972"/>
          </a:xfrm>
          <a:prstGeom prst="rect">
            <a:avLst/>
          </a:prstGeom>
          <a:solidFill>
            <a:srgbClr val="8B0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AGENT_SUMMARY_LABEL_1"/>
          <p:cNvSpPr txBox="1"/>
          <p:nvPr/>
        </p:nvSpPr>
        <p:spPr>
          <a:xfrm>
            <a:off x="960120" y="2377440"/>
            <a:ext cx="182880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900" b="1" ea="Microsoft YaHei">
                <a:solidFill>
                  <a:srgbClr val="8B0D18"/>
                </a:solidFill>
                <a:latin typeface="Microsoft YaHei"/>
              </a:rPr>
              <a:t>横移</a:t>
            </a:r>
          </a:p>
        </p:txBody>
      </p:sp>
      <p:sp>
        <p:nvSpPr>
          <p:cNvPr id="20" name="AGENT_SUMMARY_VALUE_1"/>
          <p:cNvSpPr txBox="1"/>
          <p:nvPr/>
        </p:nvSpPr>
        <p:spPr>
          <a:xfrm>
            <a:off x="2926080" y="2377440"/>
            <a:ext cx="790956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0" ea="Microsoft YaHei">
                <a:solidFill>
                  <a:srgbClr val="1E1E1E"/>
                </a:solidFill>
                <a:latin typeface="Microsoft YaHei"/>
              </a:rPr>
              <a:t>48 V 直流伺服 + 300 mm 导轨 + 8 mm 导程丝杆</a:t>
            </a:r>
          </a:p>
        </p:txBody>
      </p:sp>
      <p:sp>
        <p:nvSpPr>
          <p:cNvPr id="21" name="AGENT_SUMMARY_LINE_2"/>
          <p:cNvSpPr/>
          <p:nvPr/>
        </p:nvSpPr>
        <p:spPr>
          <a:xfrm>
            <a:off x="868680" y="3118104"/>
            <a:ext cx="10378440" cy="10972"/>
          </a:xfrm>
          <a:prstGeom prst="rect">
            <a:avLst/>
          </a:prstGeom>
          <a:solidFill>
            <a:srgbClr val="8B0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AGENT_SUMMARY_LABEL_2"/>
          <p:cNvSpPr txBox="1"/>
          <p:nvPr/>
        </p:nvSpPr>
        <p:spPr>
          <a:xfrm>
            <a:off x="960120" y="3227832"/>
            <a:ext cx="182880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900" b="1" ea="Microsoft YaHei">
                <a:solidFill>
                  <a:srgbClr val="8B0D18"/>
                </a:solidFill>
                <a:latin typeface="Microsoft YaHei"/>
              </a:rPr>
              <a:t>控制形态</a:t>
            </a:r>
          </a:p>
        </p:txBody>
      </p:sp>
      <p:sp>
        <p:nvSpPr>
          <p:cNvPr id="23" name="AGENT_SUMMARY_VALUE_2"/>
          <p:cNvSpPr txBox="1"/>
          <p:nvPr/>
        </p:nvSpPr>
        <p:spPr>
          <a:xfrm>
            <a:off x="2926080" y="3227832"/>
            <a:ext cx="790956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0" ea="Microsoft YaHei">
                <a:solidFill>
                  <a:srgbClr val="1E1E1E"/>
                </a:solidFill>
                <a:latin typeface="Microsoft YaHei"/>
              </a:rPr>
              <a:t>固件为二值开关，仅提刀／落刀两态</a:t>
            </a:r>
          </a:p>
        </p:txBody>
      </p:sp>
      <p:sp>
        <p:nvSpPr>
          <p:cNvPr id="24" name="AGENT_SUMMARY_LINE_3"/>
          <p:cNvSpPr/>
          <p:nvPr/>
        </p:nvSpPr>
        <p:spPr>
          <a:xfrm>
            <a:off x="868680" y="3968496"/>
            <a:ext cx="10378440" cy="10972"/>
          </a:xfrm>
          <a:prstGeom prst="rect">
            <a:avLst/>
          </a:prstGeom>
          <a:solidFill>
            <a:srgbClr val="8B0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AGENT_SUMMARY_LABEL_3"/>
          <p:cNvSpPr txBox="1"/>
          <p:nvPr/>
        </p:nvSpPr>
        <p:spPr>
          <a:xfrm>
            <a:off x="960120" y="4078224"/>
            <a:ext cx="182880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900" b="1" ea="Microsoft YaHei">
                <a:solidFill>
                  <a:srgbClr val="8B0D18"/>
                </a:solidFill>
                <a:latin typeface="Microsoft YaHei"/>
              </a:rPr>
              <a:t>默认态</a:t>
            </a:r>
          </a:p>
        </p:txBody>
      </p:sp>
      <p:sp>
        <p:nvSpPr>
          <p:cNvPr id="26" name="AGENT_SUMMARY_VALUE_3"/>
          <p:cNvSpPr txBox="1"/>
          <p:nvPr/>
        </p:nvSpPr>
        <p:spPr>
          <a:xfrm>
            <a:off x="2926080" y="4078224"/>
            <a:ext cx="790956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0" ea="Microsoft YaHei">
                <a:solidFill>
                  <a:srgbClr val="1E1E1E"/>
                </a:solidFill>
                <a:latin typeface="Microsoft YaHei"/>
              </a:rPr>
              <a:t>上电全提刀；急停时三梁同时提刀</a:t>
            </a:r>
          </a:p>
        </p:txBody>
      </p:sp>
      <p:sp>
        <p:nvSpPr>
          <p:cNvPr id="27" name="AGENT_SUMMARY_LINE_4"/>
          <p:cNvSpPr/>
          <p:nvPr/>
        </p:nvSpPr>
        <p:spPr>
          <a:xfrm>
            <a:off x="868680" y="4818888"/>
            <a:ext cx="10378440" cy="10972"/>
          </a:xfrm>
          <a:prstGeom prst="rect">
            <a:avLst/>
          </a:prstGeom>
          <a:solidFill>
            <a:srgbClr val="8B0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AGENT_SUMMARY_LABEL_4"/>
          <p:cNvSpPr txBox="1"/>
          <p:nvPr/>
        </p:nvSpPr>
        <p:spPr>
          <a:xfrm>
            <a:off x="960120" y="4928616"/>
            <a:ext cx="182880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900" b="1" ea="Microsoft YaHei">
                <a:solidFill>
                  <a:srgbClr val="8B0D18"/>
                </a:solidFill>
                <a:latin typeface="Microsoft YaHei"/>
              </a:rPr>
              <a:t>待确认</a:t>
            </a:r>
          </a:p>
        </p:txBody>
      </p:sp>
      <p:sp>
        <p:nvSpPr>
          <p:cNvPr id="29" name="AGENT_SUMMARY_VALUE_4"/>
          <p:cNvSpPr txBox="1"/>
          <p:nvPr/>
        </p:nvSpPr>
        <p:spPr>
          <a:xfrm>
            <a:off x="2926080" y="4928616"/>
            <a:ext cx="790956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0" ea="Microsoft YaHei">
                <a:solidFill>
                  <a:srgbClr val="1E1E1E"/>
                </a:solidFill>
                <a:latin typeface="Microsoft YaHei"/>
              </a:rPr>
              <a:t>滑台未接线；刀梁接入待继电器板实物</a:t>
            </a:r>
          </a:p>
        </p:txBody>
      </p:sp>
      <p:sp>
        <p:nvSpPr>
          <p:cNvPr id="30" name="AGENT_TAKEAWAY"/>
          <p:cNvSpPr txBox="1"/>
          <p:nvPr/>
        </p:nvSpPr>
        <p:spPr>
          <a:xfrm>
            <a:off x="868680" y="5989320"/>
            <a:ext cx="101955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1" ea="Microsoft YaHei">
                <a:solidFill>
                  <a:srgbClr val="8B0D18"/>
                </a:solidFill>
                <a:latin typeface="Microsoft YaHei"/>
              </a:rPr>
              <a:t>10 mm/s 意味着全程 20 s，急停提刀时间指标要重评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AGENT_NAV_SLOT_0"/>
          <p:cNvSpPr/>
          <p:nvPr/>
        </p:nvSpPr>
        <p:spPr>
          <a:xfrm>
            <a:off x="146304" y="27432"/>
            <a:ext cx="2379268" cy="347472"/>
          </a:xfrm>
          <a:prstGeom prst="rect">
            <a:avLst/>
          </a:prstGeom>
          <a:solidFill>
            <a:srgbClr val="FFFFFF"/>
          </a:solidFill>
          <a:ln w="1016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AGENT_NAV_LABEL_0"/>
          <p:cNvSpPr txBox="1"/>
          <p:nvPr/>
        </p:nvSpPr>
        <p:spPr>
          <a:xfrm>
            <a:off x="146304" y="59436"/>
            <a:ext cx="2379268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200" b="0" ea="Microsoft YaHei">
                <a:solidFill>
                  <a:srgbClr val="1E1E1E"/>
                </a:solidFill>
                <a:latin typeface="Microsoft YaHei"/>
              </a:rPr>
              <a:t>立题与约束</a:t>
            </a:r>
          </a:p>
        </p:txBody>
      </p:sp>
      <p:sp>
        <p:nvSpPr>
          <p:cNvPr id="4" name="AGENT_NAV_SLOT_1"/>
          <p:cNvSpPr/>
          <p:nvPr/>
        </p:nvSpPr>
        <p:spPr>
          <a:xfrm>
            <a:off x="2525572" y="27432"/>
            <a:ext cx="2379268" cy="347472"/>
          </a:xfrm>
          <a:prstGeom prst="rect">
            <a:avLst/>
          </a:prstGeom>
          <a:solidFill>
            <a:srgbClr val="FFFFFF"/>
          </a:solidFill>
          <a:ln w="1016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AGENT_NAV_LABEL_1"/>
          <p:cNvSpPr txBox="1"/>
          <p:nvPr/>
        </p:nvSpPr>
        <p:spPr>
          <a:xfrm>
            <a:off x="2525572" y="59436"/>
            <a:ext cx="2379268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200" b="0" ea="Microsoft YaHei">
                <a:solidFill>
                  <a:srgbClr val="1E1E1E"/>
                </a:solidFill>
                <a:latin typeface="Microsoft YaHei"/>
              </a:rPr>
              <a:t>除草机构选型</a:t>
            </a:r>
          </a:p>
        </p:txBody>
      </p:sp>
      <p:sp>
        <p:nvSpPr>
          <p:cNvPr id="6" name="AGENT_NAV_SLOT_2"/>
          <p:cNvSpPr/>
          <p:nvPr/>
        </p:nvSpPr>
        <p:spPr>
          <a:xfrm>
            <a:off x="4904841" y="27432"/>
            <a:ext cx="2379268" cy="347472"/>
          </a:xfrm>
          <a:prstGeom prst="rect">
            <a:avLst/>
          </a:prstGeom>
          <a:solidFill>
            <a:srgbClr val="FFFFFF"/>
          </a:solidFill>
          <a:ln w="1016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AGENT_NAV_LABEL_2"/>
          <p:cNvSpPr txBox="1"/>
          <p:nvPr/>
        </p:nvSpPr>
        <p:spPr>
          <a:xfrm>
            <a:off x="4904841" y="59436"/>
            <a:ext cx="2379268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200" b="0" ea="Microsoft YaHei">
                <a:solidFill>
                  <a:srgbClr val="1E1E1E"/>
                </a:solidFill>
                <a:latin typeface="Microsoft YaHei"/>
              </a:rPr>
              <a:t>设计与控制原理</a:t>
            </a:r>
          </a:p>
        </p:txBody>
      </p:sp>
      <p:sp>
        <p:nvSpPr>
          <p:cNvPr id="8" name="AGENT_NAV_SLOT_3"/>
          <p:cNvSpPr/>
          <p:nvPr/>
        </p:nvSpPr>
        <p:spPr>
          <a:xfrm>
            <a:off x="7284110" y="27432"/>
            <a:ext cx="2379268" cy="347472"/>
          </a:xfrm>
          <a:prstGeom prst="rect">
            <a:avLst/>
          </a:prstGeom>
          <a:solidFill>
            <a:srgbClr val="8B0D18"/>
          </a:solidFill>
          <a:ln w="1016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AGENT_NAV_LABEL_3"/>
          <p:cNvSpPr txBox="1"/>
          <p:nvPr/>
        </p:nvSpPr>
        <p:spPr>
          <a:xfrm>
            <a:off x="7284110" y="59436"/>
            <a:ext cx="2379268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200" b="1" ea="Microsoft YaHei">
                <a:solidFill>
                  <a:srgbClr val="FFFFFF"/>
                </a:solidFill>
                <a:latin typeface="Microsoft YaHei"/>
              </a:rPr>
              <a:t>进土深度问题</a:t>
            </a:r>
          </a:p>
        </p:txBody>
      </p:sp>
      <p:sp>
        <p:nvSpPr>
          <p:cNvPr id="10" name="AGENT_NAV_SLOT_4"/>
          <p:cNvSpPr/>
          <p:nvPr/>
        </p:nvSpPr>
        <p:spPr>
          <a:xfrm>
            <a:off x="9663379" y="27432"/>
            <a:ext cx="2379268" cy="347472"/>
          </a:xfrm>
          <a:prstGeom prst="rect">
            <a:avLst/>
          </a:prstGeom>
          <a:solidFill>
            <a:srgbClr val="FFFFFF"/>
          </a:solidFill>
          <a:ln w="1016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AGENT_NAV_LABEL_4"/>
          <p:cNvSpPr txBox="1"/>
          <p:nvPr/>
        </p:nvSpPr>
        <p:spPr>
          <a:xfrm>
            <a:off x="9663379" y="59436"/>
            <a:ext cx="2379268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200" b="0" ea="Microsoft YaHei">
                <a:solidFill>
                  <a:srgbClr val="1E1E1E"/>
                </a:solidFill>
                <a:latin typeface="Microsoft YaHei"/>
              </a:rPr>
              <a:t>小结与讨论</a:t>
            </a:r>
          </a:p>
        </p:txBody>
      </p:sp>
      <p:sp>
        <p:nvSpPr>
          <p:cNvPr id="12" name="AGENT_FOOTER"/>
          <p:cNvSpPr txBox="1"/>
          <p:nvPr/>
        </p:nvSpPr>
        <p:spPr>
          <a:xfrm>
            <a:off x="320040" y="6510528"/>
            <a:ext cx="8595360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800" b="0" ea="Microsoft YaHei">
                <a:solidFill>
                  <a:srgbClr val="696969"/>
                </a:solidFill>
                <a:latin typeface="Microsoft YaHei"/>
              </a:rPr>
              <a:t>纯视觉芍药行间除草机器人 · 组会汇报 · 2026-09-16</a:t>
            </a:r>
          </a:p>
        </p:txBody>
      </p:sp>
      <p:sp>
        <p:nvSpPr>
          <p:cNvPr id="13" name="AGENT_PAGE_NUMBER"/>
          <p:cNvSpPr txBox="1"/>
          <p:nvPr/>
        </p:nvSpPr>
        <p:spPr>
          <a:xfrm>
            <a:off x="11521440" y="6501384"/>
            <a:ext cx="256032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800" b="0" ea="Microsoft YaHei">
                <a:solidFill>
                  <a:srgbClr val="696969"/>
                </a:solidFill>
                <a:latin typeface="Microsoft YaHei"/>
              </a:rPr>
              <a:t>15</a:t>
            </a:r>
          </a:p>
        </p:txBody>
      </p:sp>
      <p:sp>
        <p:nvSpPr>
          <p:cNvPr id="14" name="AGENT_TITLE"/>
          <p:cNvSpPr txBox="1"/>
          <p:nvPr/>
        </p:nvSpPr>
        <p:spPr>
          <a:xfrm>
            <a:off x="320040" y="539496"/>
            <a:ext cx="1129284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000" b="0" ea="Microsoft YaHei">
                <a:solidFill>
                  <a:srgbClr val="8B0D18"/>
                </a:solidFill>
                <a:latin typeface="Microsoft YaHei"/>
              </a:rPr>
              <a:t>开放问题：刀上发生了什么，机器不知道</a:t>
            </a:r>
          </a:p>
        </p:txBody>
      </p:sp>
      <p:sp>
        <p:nvSpPr>
          <p:cNvPr id="15" name="AGENT_TEXT_PANEL"/>
          <p:cNvSpPr/>
          <p:nvPr/>
        </p:nvSpPr>
        <p:spPr>
          <a:xfrm>
            <a:off x="685800" y="1417320"/>
            <a:ext cx="10835640" cy="443484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AGENT_BODY"/>
          <p:cNvSpPr txBox="1"/>
          <p:nvPr/>
        </p:nvSpPr>
        <p:spPr>
          <a:xfrm>
            <a:off x="960120" y="1664208"/>
            <a:ext cx="10287000" cy="3931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0" ea="Microsoft YaHei">
                <a:solidFill>
                  <a:srgbClr val="1E1E1E"/>
                </a:solidFill>
                <a:latin typeface="Microsoft YaHei"/>
              </a:rPr>
              <a:t>1. 挂草缠绕与撞石头都要求立刻抬刀，现在两条都做不到
2. 电推杆只有通电正反转，无位置与负载反馈；协议里也没有深度字段
3. 撞石是瞬时冲击：10 mm/s 抬 50 mm 要 5 秒，靠推杆根本来不及
4. 挂草是缓变负载：可试用电流判据，但采样通道是否覆盖推杆待跟线
5. 后果：轻则漏草，重则刀体变形、推杆烧毁、伤芍药根系</a:t>
            </a:r>
          </a:p>
        </p:txBody>
      </p:sp>
      <p:sp>
        <p:nvSpPr>
          <p:cNvPr id="17" name="AGENT_TAKEAWAY"/>
          <p:cNvSpPr txBox="1"/>
          <p:nvPr/>
        </p:nvSpPr>
        <p:spPr>
          <a:xfrm>
            <a:off x="868680" y="5989320"/>
            <a:ext cx="101955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1" ea="Microsoft YaHei">
                <a:solidFill>
                  <a:srgbClr val="8B0D18"/>
                </a:solidFill>
                <a:latin typeface="Microsoft YaHei"/>
              </a:rPr>
              <a:t>这不是定深精度问题，是过载保护缺失问题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AGENT_NAV_SLOT_0"/>
          <p:cNvSpPr/>
          <p:nvPr/>
        </p:nvSpPr>
        <p:spPr>
          <a:xfrm>
            <a:off x="146304" y="27432"/>
            <a:ext cx="2379268" cy="347472"/>
          </a:xfrm>
          <a:prstGeom prst="rect">
            <a:avLst/>
          </a:prstGeom>
          <a:solidFill>
            <a:srgbClr val="FFFFFF"/>
          </a:solidFill>
          <a:ln w="1016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AGENT_NAV_LABEL_0"/>
          <p:cNvSpPr txBox="1"/>
          <p:nvPr/>
        </p:nvSpPr>
        <p:spPr>
          <a:xfrm>
            <a:off x="146304" y="59436"/>
            <a:ext cx="2379268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200" b="0" ea="Microsoft YaHei">
                <a:solidFill>
                  <a:srgbClr val="1E1E1E"/>
                </a:solidFill>
                <a:latin typeface="Microsoft YaHei"/>
              </a:rPr>
              <a:t>立题与约束</a:t>
            </a:r>
          </a:p>
        </p:txBody>
      </p:sp>
      <p:sp>
        <p:nvSpPr>
          <p:cNvPr id="4" name="AGENT_NAV_SLOT_1"/>
          <p:cNvSpPr/>
          <p:nvPr/>
        </p:nvSpPr>
        <p:spPr>
          <a:xfrm>
            <a:off x="2525572" y="27432"/>
            <a:ext cx="2379268" cy="347472"/>
          </a:xfrm>
          <a:prstGeom prst="rect">
            <a:avLst/>
          </a:prstGeom>
          <a:solidFill>
            <a:srgbClr val="FFFFFF"/>
          </a:solidFill>
          <a:ln w="1016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AGENT_NAV_LABEL_1"/>
          <p:cNvSpPr txBox="1"/>
          <p:nvPr/>
        </p:nvSpPr>
        <p:spPr>
          <a:xfrm>
            <a:off x="2525572" y="59436"/>
            <a:ext cx="2379268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200" b="0" ea="Microsoft YaHei">
                <a:solidFill>
                  <a:srgbClr val="1E1E1E"/>
                </a:solidFill>
                <a:latin typeface="Microsoft YaHei"/>
              </a:rPr>
              <a:t>除草机构选型</a:t>
            </a:r>
          </a:p>
        </p:txBody>
      </p:sp>
      <p:sp>
        <p:nvSpPr>
          <p:cNvPr id="6" name="AGENT_NAV_SLOT_2"/>
          <p:cNvSpPr/>
          <p:nvPr/>
        </p:nvSpPr>
        <p:spPr>
          <a:xfrm>
            <a:off x="4904841" y="27432"/>
            <a:ext cx="2379268" cy="347472"/>
          </a:xfrm>
          <a:prstGeom prst="rect">
            <a:avLst/>
          </a:prstGeom>
          <a:solidFill>
            <a:srgbClr val="FFFFFF"/>
          </a:solidFill>
          <a:ln w="1016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AGENT_NAV_LABEL_2"/>
          <p:cNvSpPr txBox="1"/>
          <p:nvPr/>
        </p:nvSpPr>
        <p:spPr>
          <a:xfrm>
            <a:off x="4904841" y="59436"/>
            <a:ext cx="2379268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200" b="0" ea="Microsoft YaHei">
                <a:solidFill>
                  <a:srgbClr val="1E1E1E"/>
                </a:solidFill>
                <a:latin typeface="Microsoft YaHei"/>
              </a:rPr>
              <a:t>设计与控制原理</a:t>
            </a:r>
          </a:p>
        </p:txBody>
      </p:sp>
      <p:sp>
        <p:nvSpPr>
          <p:cNvPr id="8" name="AGENT_NAV_SLOT_3"/>
          <p:cNvSpPr/>
          <p:nvPr/>
        </p:nvSpPr>
        <p:spPr>
          <a:xfrm>
            <a:off x="7284110" y="27432"/>
            <a:ext cx="2379268" cy="347472"/>
          </a:xfrm>
          <a:prstGeom prst="rect">
            <a:avLst/>
          </a:prstGeom>
          <a:solidFill>
            <a:srgbClr val="8B0D18"/>
          </a:solidFill>
          <a:ln w="1016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AGENT_NAV_LABEL_3"/>
          <p:cNvSpPr txBox="1"/>
          <p:nvPr/>
        </p:nvSpPr>
        <p:spPr>
          <a:xfrm>
            <a:off x="7284110" y="59436"/>
            <a:ext cx="2379268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200" b="1" ea="Microsoft YaHei">
                <a:solidFill>
                  <a:srgbClr val="FFFFFF"/>
                </a:solidFill>
                <a:latin typeface="Microsoft YaHei"/>
              </a:rPr>
              <a:t>进土深度问题</a:t>
            </a:r>
          </a:p>
        </p:txBody>
      </p:sp>
      <p:sp>
        <p:nvSpPr>
          <p:cNvPr id="10" name="AGENT_NAV_SLOT_4"/>
          <p:cNvSpPr/>
          <p:nvPr/>
        </p:nvSpPr>
        <p:spPr>
          <a:xfrm>
            <a:off x="9663379" y="27432"/>
            <a:ext cx="2379268" cy="347472"/>
          </a:xfrm>
          <a:prstGeom prst="rect">
            <a:avLst/>
          </a:prstGeom>
          <a:solidFill>
            <a:srgbClr val="FFFFFF"/>
          </a:solidFill>
          <a:ln w="1016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AGENT_NAV_LABEL_4"/>
          <p:cNvSpPr txBox="1"/>
          <p:nvPr/>
        </p:nvSpPr>
        <p:spPr>
          <a:xfrm>
            <a:off x="9663379" y="59436"/>
            <a:ext cx="2379268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200" b="0" ea="Microsoft YaHei">
                <a:solidFill>
                  <a:srgbClr val="1E1E1E"/>
                </a:solidFill>
                <a:latin typeface="Microsoft YaHei"/>
              </a:rPr>
              <a:t>小结与讨论</a:t>
            </a:r>
          </a:p>
        </p:txBody>
      </p:sp>
      <p:sp>
        <p:nvSpPr>
          <p:cNvPr id="12" name="AGENT_FOOTER"/>
          <p:cNvSpPr txBox="1"/>
          <p:nvPr/>
        </p:nvSpPr>
        <p:spPr>
          <a:xfrm>
            <a:off x="320040" y="6510528"/>
            <a:ext cx="8595360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800" b="0" ea="Microsoft YaHei">
                <a:solidFill>
                  <a:srgbClr val="696969"/>
                </a:solidFill>
                <a:latin typeface="Microsoft YaHei"/>
              </a:rPr>
              <a:t>纯视觉芍药行间除草机器人 · 组会汇报 · 2026-09-16</a:t>
            </a:r>
          </a:p>
        </p:txBody>
      </p:sp>
      <p:sp>
        <p:nvSpPr>
          <p:cNvPr id="13" name="AGENT_PAGE_NUMBER"/>
          <p:cNvSpPr txBox="1"/>
          <p:nvPr/>
        </p:nvSpPr>
        <p:spPr>
          <a:xfrm>
            <a:off x="11521440" y="6501384"/>
            <a:ext cx="256032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800" b="0" ea="Microsoft YaHei">
                <a:solidFill>
                  <a:srgbClr val="696969"/>
                </a:solidFill>
                <a:latin typeface="Microsoft YaHei"/>
              </a:rPr>
              <a:t>16</a:t>
            </a:r>
          </a:p>
        </p:txBody>
      </p:sp>
      <p:sp>
        <p:nvSpPr>
          <p:cNvPr id="14" name="AGENT_TITLE"/>
          <p:cNvSpPr txBox="1"/>
          <p:nvPr/>
        </p:nvSpPr>
        <p:spPr>
          <a:xfrm>
            <a:off x="320040" y="539496"/>
            <a:ext cx="1129284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000" b="0" ea="Microsoft YaHei">
                <a:solidFill>
                  <a:srgbClr val="8B0D18"/>
                </a:solidFill>
                <a:latin typeface="Microsoft YaHei"/>
              </a:rPr>
              <a:t>分两层解：先机械保机，再电流辨草</a:t>
            </a:r>
          </a:p>
        </p:txBody>
      </p:sp>
      <p:sp>
        <p:nvSpPr>
          <p:cNvPr id="15" name="AGENT_SUMMARY_LINE_0"/>
          <p:cNvSpPr/>
          <p:nvPr/>
        </p:nvSpPr>
        <p:spPr>
          <a:xfrm>
            <a:off x="868680" y="1417320"/>
            <a:ext cx="10378440" cy="10972"/>
          </a:xfrm>
          <a:prstGeom prst="rect">
            <a:avLst/>
          </a:prstGeom>
          <a:solidFill>
            <a:srgbClr val="8B0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AGENT_SUMMARY_LABEL_0"/>
          <p:cNvSpPr txBox="1"/>
          <p:nvPr/>
        </p:nvSpPr>
        <p:spPr>
          <a:xfrm>
            <a:off x="960120" y="1527048"/>
            <a:ext cx="1828800" cy="89839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900" b="1" ea="Microsoft YaHei">
                <a:solidFill>
                  <a:srgbClr val="8B0D18"/>
                </a:solidFill>
                <a:latin typeface="Microsoft YaHei"/>
              </a:rPr>
              <a:t>撞石</a:t>
            </a:r>
          </a:p>
        </p:txBody>
      </p:sp>
      <p:sp>
        <p:nvSpPr>
          <p:cNvPr id="17" name="AGENT_SUMMARY_VALUE_0"/>
          <p:cNvSpPr txBox="1"/>
          <p:nvPr/>
        </p:nvSpPr>
        <p:spPr>
          <a:xfrm>
            <a:off x="2926080" y="1527048"/>
            <a:ext cx="7909560" cy="89839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0" ea="Microsoft YaHei">
                <a:solidFill>
                  <a:srgbClr val="1E1E1E"/>
                </a:solidFill>
                <a:latin typeface="Microsoft YaHei"/>
              </a:rPr>
              <a:t>瞬时过载靠机械卸载：剪切销或弹簧避障，遇阻刀自退</a:t>
            </a:r>
          </a:p>
        </p:txBody>
      </p:sp>
      <p:sp>
        <p:nvSpPr>
          <p:cNvPr id="18" name="AGENT_SUMMARY_LINE_1"/>
          <p:cNvSpPr/>
          <p:nvPr/>
        </p:nvSpPr>
        <p:spPr>
          <a:xfrm>
            <a:off x="868680" y="2480310"/>
            <a:ext cx="10378440" cy="10972"/>
          </a:xfrm>
          <a:prstGeom prst="rect">
            <a:avLst/>
          </a:prstGeom>
          <a:solidFill>
            <a:srgbClr val="8B0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AGENT_SUMMARY_LABEL_1"/>
          <p:cNvSpPr txBox="1"/>
          <p:nvPr/>
        </p:nvSpPr>
        <p:spPr>
          <a:xfrm>
            <a:off x="960120" y="2590038"/>
            <a:ext cx="1828800" cy="89839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900" b="1" ea="Microsoft YaHei">
                <a:solidFill>
                  <a:srgbClr val="8B0D18"/>
                </a:solidFill>
                <a:latin typeface="Microsoft YaHei"/>
              </a:rPr>
              <a:t>挂草</a:t>
            </a:r>
          </a:p>
        </p:txBody>
      </p:sp>
      <p:sp>
        <p:nvSpPr>
          <p:cNvPr id="20" name="AGENT_SUMMARY_VALUE_1"/>
          <p:cNvSpPr txBox="1"/>
          <p:nvPr/>
        </p:nvSpPr>
        <p:spPr>
          <a:xfrm>
            <a:off x="2926080" y="2590038"/>
            <a:ext cx="7909560" cy="89839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0" ea="Microsoft YaHei">
                <a:solidFill>
                  <a:srgbClr val="1E1E1E"/>
                </a:solidFill>
                <a:latin typeface="Microsoft YaHei"/>
              </a:rPr>
              <a:t>缓变负载靠电机电流趋势检测，阈值须台架标定</a:t>
            </a:r>
          </a:p>
        </p:txBody>
      </p:sp>
      <p:sp>
        <p:nvSpPr>
          <p:cNvPr id="21" name="AGENT_SUMMARY_LINE_2"/>
          <p:cNvSpPr/>
          <p:nvPr/>
        </p:nvSpPr>
        <p:spPr>
          <a:xfrm>
            <a:off x="868680" y="3543300"/>
            <a:ext cx="10378440" cy="10972"/>
          </a:xfrm>
          <a:prstGeom prst="rect">
            <a:avLst/>
          </a:prstGeom>
          <a:solidFill>
            <a:srgbClr val="8B0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AGENT_SUMMARY_LABEL_2"/>
          <p:cNvSpPr txBox="1"/>
          <p:nvPr/>
        </p:nvSpPr>
        <p:spPr>
          <a:xfrm>
            <a:off x="960120" y="3653028"/>
            <a:ext cx="1828800" cy="89839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900" b="1" ea="Microsoft YaHei">
                <a:solidFill>
                  <a:srgbClr val="8B0D18"/>
                </a:solidFill>
                <a:latin typeface="Microsoft YaHei"/>
              </a:rPr>
              <a:t>抬刀速度</a:t>
            </a:r>
          </a:p>
        </p:txBody>
      </p:sp>
      <p:sp>
        <p:nvSpPr>
          <p:cNvPr id="23" name="AGENT_SUMMARY_VALUE_2"/>
          <p:cNvSpPr txBox="1"/>
          <p:nvPr/>
        </p:nvSpPr>
        <p:spPr>
          <a:xfrm>
            <a:off x="2926080" y="3653028"/>
            <a:ext cx="7909560" cy="89839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0" ea="Microsoft YaHei">
                <a:solidFill>
                  <a:srgbClr val="1E1E1E"/>
                </a:solidFill>
                <a:latin typeface="Microsoft YaHei"/>
              </a:rPr>
              <a:t>现有 10 mm/s 不够，需评估大导程或弹簧快抬</a:t>
            </a:r>
          </a:p>
        </p:txBody>
      </p:sp>
      <p:sp>
        <p:nvSpPr>
          <p:cNvPr id="24" name="AGENT_SUMMARY_LINE_3"/>
          <p:cNvSpPr/>
          <p:nvPr/>
        </p:nvSpPr>
        <p:spPr>
          <a:xfrm>
            <a:off x="868680" y="4606290"/>
            <a:ext cx="10378440" cy="10972"/>
          </a:xfrm>
          <a:prstGeom prst="rect">
            <a:avLst/>
          </a:prstGeom>
          <a:solidFill>
            <a:srgbClr val="8B0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AGENT_SUMMARY_LABEL_3"/>
          <p:cNvSpPr txBox="1"/>
          <p:nvPr/>
        </p:nvSpPr>
        <p:spPr>
          <a:xfrm>
            <a:off x="960120" y="4716018"/>
            <a:ext cx="1828800" cy="89839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900" b="1" ea="Microsoft YaHei">
                <a:solidFill>
                  <a:srgbClr val="8B0D18"/>
                </a:solidFill>
                <a:latin typeface="Microsoft YaHei"/>
              </a:rPr>
              <a:t>前置条件</a:t>
            </a:r>
          </a:p>
        </p:txBody>
      </p:sp>
      <p:sp>
        <p:nvSpPr>
          <p:cNvPr id="26" name="AGENT_SUMMARY_VALUE_3"/>
          <p:cNvSpPr txBox="1"/>
          <p:nvPr/>
        </p:nvSpPr>
        <p:spPr>
          <a:xfrm>
            <a:off x="2926080" y="4716018"/>
            <a:ext cx="7909560" cy="89839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0" ea="Microsoft YaHei">
                <a:solidFill>
                  <a:srgbClr val="1E1E1E"/>
                </a:solidFill>
                <a:latin typeface="Microsoft YaHei"/>
              </a:rPr>
              <a:t>刀梁接入方式与推杆电流采样通道待实物确认</a:t>
            </a:r>
          </a:p>
        </p:txBody>
      </p:sp>
      <p:sp>
        <p:nvSpPr>
          <p:cNvPr id="27" name="AGENT_TAKEAWAY"/>
          <p:cNvSpPr txBox="1"/>
          <p:nvPr/>
        </p:nvSpPr>
        <p:spPr>
          <a:xfrm>
            <a:off x="868680" y="5989320"/>
            <a:ext cx="101955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1" ea="Microsoft YaHei">
                <a:solidFill>
                  <a:srgbClr val="8B0D18"/>
                </a:solidFill>
                <a:latin typeface="Microsoft YaHei"/>
              </a:rPr>
              <a:t>请组会定：机械卸载先上，电流辨草作为下一步研究内容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AGENT_CLOSING"/>
          <p:cNvSpPr txBox="1"/>
          <p:nvPr/>
        </p:nvSpPr>
        <p:spPr>
          <a:xfrm>
            <a:off x="868680" y="2697480"/>
            <a:ext cx="10451592" cy="8412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5400" b="0" ea="Microsoft YaHei">
                <a:solidFill>
                  <a:srgbClr val="1E1E1E"/>
                </a:solidFill>
                <a:latin typeface="Microsoft YaHei"/>
              </a:rPr>
              <a:t>汇报完毕，敬请批评指正！</a:t>
            </a:r>
          </a:p>
        </p:txBody>
      </p:sp>
      <p:sp>
        <p:nvSpPr>
          <p:cNvPr id="3" name="AGENT_CLOSING_META"/>
          <p:cNvSpPr txBox="1"/>
          <p:nvPr/>
        </p:nvSpPr>
        <p:spPr>
          <a:xfrm>
            <a:off x="1828800" y="3977639"/>
            <a:ext cx="85039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0" ea="Microsoft YaHei">
                <a:solidFill>
                  <a:srgbClr val="696969"/>
                </a:solidFill>
                <a:latin typeface="Microsoft YaHei"/>
              </a:rPr>
              <a:t>讨论：① 进土深度走哪条路　② 鸭掌铲幅宽何时补测
③ 春季田块需书面确认　｜　全部依据与台账在仓库可查</a:t>
            </a:r>
          </a:p>
        </p:txBody>
      </p:sp>
      <p:sp>
        <p:nvSpPr>
          <p:cNvPr id="4" name="AGENT_CLOSING_BOTTOM_BAND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8B0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