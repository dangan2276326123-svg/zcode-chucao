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GENT_COVER_ENGLISH_TITLE"/>
          <p:cNvSpPr txBox="1"/>
          <p:nvPr/>
        </p:nvSpPr>
        <p:spPr>
          <a:xfrm>
            <a:off x="822960" y="1481328"/>
            <a:ext cx="105613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0" ea="Microsoft YaHei">
                <a:solidFill>
                  <a:srgbClr val="1E1E1E"/>
                </a:solidFill>
                <a:latin typeface="Microsoft YaHei"/>
              </a:rPr>
              <a:t>Vision-Guided Peony Interrow Weeder: Design and Prototype Validation</a:t>
            </a:r>
          </a:p>
        </p:txBody>
      </p:sp>
      <p:sp>
        <p:nvSpPr>
          <p:cNvPr id="3" name="AGENT_COVER_TITLE"/>
          <p:cNvSpPr txBox="1"/>
          <p:nvPr/>
        </p:nvSpPr>
        <p:spPr>
          <a:xfrm>
            <a:off x="822960" y="1865376"/>
            <a:ext cx="105613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0" ea="Microsoft YaHei">
                <a:solidFill>
                  <a:srgbClr val="8B0D18"/>
                </a:solidFill>
                <a:latin typeface="Microsoft YaHei"/>
              </a:rPr>
              <a:t>纯视觉芍药行间除草机器人</a:t>
            </a:r>
          </a:p>
        </p:txBody>
      </p:sp>
      <p:sp>
        <p:nvSpPr>
          <p:cNvPr id="4" name="AGENT_COVER_DIVIDER"/>
          <p:cNvSpPr/>
          <p:nvPr/>
        </p:nvSpPr>
        <p:spPr>
          <a:xfrm>
            <a:off x="914400" y="2578608"/>
            <a:ext cx="10360152" cy="16459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GENT_COVER_META_LEFT"/>
          <p:cNvSpPr txBox="1"/>
          <p:nvPr/>
        </p:nvSpPr>
        <p:spPr>
          <a:xfrm>
            <a:off x="1371600" y="324612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ea="Microsoft YaHei">
                <a:solidFill>
                  <a:srgbClr val="1E1E1E"/>
                </a:solidFill>
                <a:latin typeface="Microsoft YaHei"/>
              </a:rPr>
              <a:t>设计与样机验证 · 组会汇报 2026-09-16</a:t>
            </a:r>
          </a:p>
        </p:txBody>
      </p:sp>
      <p:sp>
        <p:nvSpPr>
          <p:cNvPr id="6" name="AGENT_COVER_META_RIGHT"/>
          <p:cNvSpPr txBox="1"/>
          <p:nvPr/>
        </p:nvSpPr>
        <p:spPr>
          <a:xfrm>
            <a:off x="6766560" y="324612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ea="Microsoft YaHei">
                <a:solidFill>
                  <a:srgbClr val="1E1E1E"/>
                </a:solidFill>
                <a:latin typeface="Microsoft YaHei"/>
              </a:rPr>
              <a:t>汇报人：dangan</a:t>
            </a:r>
          </a:p>
        </p:txBody>
      </p:sp>
      <p:sp>
        <p:nvSpPr>
          <p:cNvPr id="7" name="AGENT_TAKEAWAY"/>
          <p:cNvSpPr txBox="1"/>
          <p:nvPr/>
        </p:nvSpPr>
        <p:spPr>
          <a:xfrm>
            <a:off x="1005840" y="493776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ea="Microsoft YaHei">
                <a:solidFill>
                  <a:srgbClr val="8B0D18"/>
                </a:solidFill>
                <a:latin typeface="Microsoft YaHei"/>
              </a:rPr>
              <a:t>本周期进展：除草机构选型完成；进土深度反馈缺失，提请讨论</a:t>
            </a:r>
          </a:p>
        </p:txBody>
      </p:sp>
      <p:sp>
        <p:nvSpPr>
          <p:cNvPr id="8" name="AGENT_COVER_BOTTOM_BAND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GENT_NAV_SLOT_0"/>
          <p:cNvSpPr/>
          <p:nvPr/>
        </p:nvSpPr>
        <p:spPr>
          <a:xfrm>
            <a:off x="146304" y="27432"/>
            <a:ext cx="2379268" cy="347472"/>
          </a:xfrm>
          <a:prstGeom prst="rect">
            <a:avLst/>
          </a:prstGeom>
          <a:solidFill>
            <a:srgbClr val="8B0D18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GENT_NAV_LABEL_0"/>
          <p:cNvSpPr txBox="1"/>
          <p:nvPr/>
        </p:nvSpPr>
        <p:spPr>
          <a:xfrm>
            <a:off x="146304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 ea="Microsoft YaHei">
                <a:solidFill>
                  <a:srgbClr val="FFFFFF"/>
                </a:solidFill>
                <a:latin typeface="Microsoft YaHei"/>
              </a:rPr>
              <a:t>立题与约束</a:t>
            </a:r>
          </a:p>
        </p:txBody>
      </p:sp>
      <p:sp>
        <p:nvSpPr>
          <p:cNvPr id="4" name="AGENT_NAV_SLOT_1"/>
          <p:cNvSpPr/>
          <p:nvPr/>
        </p:nvSpPr>
        <p:spPr>
          <a:xfrm>
            <a:off x="2525572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GENT_NAV_LABEL_1"/>
          <p:cNvSpPr txBox="1"/>
          <p:nvPr/>
        </p:nvSpPr>
        <p:spPr>
          <a:xfrm>
            <a:off x="2525572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除草机构选型</a:t>
            </a:r>
          </a:p>
        </p:txBody>
      </p:sp>
      <p:sp>
        <p:nvSpPr>
          <p:cNvPr id="6" name="AGENT_NAV_SLOT_2"/>
          <p:cNvSpPr/>
          <p:nvPr/>
        </p:nvSpPr>
        <p:spPr>
          <a:xfrm>
            <a:off x="4904841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GENT_NAV_LABEL_2"/>
          <p:cNvSpPr txBox="1"/>
          <p:nvPr/>
        </p:nvSpPr>
        <p:spPr>
          <a:xfrm>
            <a:off x="4904841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设计与控制原理</a:t>
            </a:r>
          </a:p>
        </p:txBody>
      </p:sp>
      <p:sp>
        <p:nvSpPr>
          <p:cNvPr id="8" name="AGENT_NAV_SLOT_3"/>
          <p:cNvSpPr/>
          <p:nvPr/>
        </p:nvSpPr>
        <p:spPr>
          <a:xfrm>
            <a:off x="7284110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GENT_NAV_LABEL_3"/>
          <p:cNvSpPr txBox="1"/>
          <p:nvPr/>
        </p:nvSpPr>
        <p:spPr>
          <a:xfrm>
            <a:off x="7284110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进土深度问题</a:t>
            </a:r>
          </a:p>
        </p:txBody>
      </p:sp>
      <p:sp>
        <p:nvSpPr>
          <p:cNvPr id="10" name="AGENT_NAV_SLOT_4"/>
          <p:cNvSpPr/>
          <p:nvPr/>
        </p:nvSpPr>
        <p:spPr>
          <a:xfrm>
            <a:off x="9663379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GENT_NAV_LABEL_4"/>
          <p:cNvSpPr txBox="1"/>
          <p:nvPr/>
        </p:nvSpPr>
        <p:spPr>
          <a:xfrm>
            <a:off x="9663379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进度与下一步</a:t>
            </a:r>
          </a:p>
        </p:txBody>
      </p:sp>
      <p:sp>
        <p:nvSpPr>
          <p:cNvPr id="12" name="AGENT_FOOTER"/>
          <p:cNvSpPr txBox="1"/>
          <p:nvPr/>
        </p:nvSpPr>
        <p:spPr>
          <a:xfrm>
            <a:off x="320040" y="6510528"/>
            <a:ext cx="859536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纯视觉芍药行间除草机器人 · 组会汇报 · 2026-09-16</a:t>
            </a:r>
          </a:p>
        </p:txBody>
      </p:sp>
      <p:sp>
        <p:nvSpPr>
          <p:cNvPr id="13" name="AGENT_PAGE_NUMBER"/>
          <p:cNvSpPr txBox="1"/>
          <p:nvPr/>
        </p:nvSpPr>
        <p:spPr>
          <a:xfrm>
            <a:off x="11521440" y="6501384"/>
            <a:ext cx="256032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2</a:t>
            </a:r>
          </a:p>
        </p:txBody>
      </p:sp>
      <p:sp>
        <p:nvSpPr>
          <p:cNvPr id="14" name="AGENT_TITLE"/>
          <p:cNvSpPr txBox="1"/>
          <p:nvPr/>
        </p:nvSpPr>
        <p:spPr>
          <a:xfrm>
            <a:off x="320040" y="539496"/>
            <a:ext cx="1129284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0" ea="Microsoft YaHei">
                <a:solidFill>
                  <a:srgbClr val="8B0D18"/>
                </a:solidFill>
                <a:latin typeface="Microsoft YaHei"/>
              </a:rPr>
              <a:t>行间除草是芍药管理的劳力与成本瓶颈</a:t>
            </a:r>
          </a:p>
        </p:txBody>
      </p:sp>
      <p:sp>
        <p:nvSpPr>
          <p:cNvPr id="15" name="AGENT_TEXT_PANEL"/>
          <p:cNvSpPr/>
          <p:nvPr/>
        </p:nvSpPr>
        <p:spPr>
          <a:xfrm>
            <a:off x="685800" y="1417320"/>
            <a:ext cx="10835640" cy="4434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GENT_BODY"/>
          <p:cNvSpPr txBox="1"/>
          <p:nvPr/>
        </p:nvSpPr>
        <p:spPr>
          <a:xfrm>
            <a:off x="960120" y="1664208"/>
            <a:ext cx="10287000" cy="3931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 ea="Microsoft YaHei">
                <a:solidFill>
                  <a:srgbClr val="1E1E1E"/>
                </a:solidFill>
                <a:latin typeface="Microsoft YaHei"/>
              </a:rPr>
              <a:t>1. 人工 0.3~0.5 亩/(人·天)，占种植管理总成本 40% 以上
2. 双子叶作物行内无法选择性施药，零农残下化学除草不可用
3. 芍药为多年生宿根作物，生长早期冠层覆盖度低
4. 株间除草不在范围内，只做行间，绕开单株识别难题</a:t>
            </a:r>
          </a:p>
        </p:txBody>
      </p:sp>
      <p:sp>
        <p:nvSpPr>
          <p:cNvPr id="17" name="AGENT_TAKEAWAY"/>
          <p:cNvSpPr txBox="1"/>
          <p:nvPr/>
        </p:nvSpPr>
        <p:spPr>
          <a:xfrm>
            <a:off x="868680" y="5989320"/>
            <a:ext cx="10195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ea="Microsoft YaHei">
                <a:solidFill>
                  <a:srgbClr val="8B0D18"/>
                </a:solidFill>
                <a:latin typeface="Microsoft YaHei"/>
              </a:rPr>
              <a:t>问题由农艺约束提出，不是由算力提出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GENT_NAV_SLOT_0"/>
          <p:cNvSpPr/>
          <p:nvPr/>
        </p:nvSpPr>
        <p:spPr>
          <a:xfrm>
            <a:off x="146304" y="27432"/>
            <a:ext cx="2379268" cy="347472"/>
          </a:xfrm>
          <a:prstGeom prst="rect">
            <a:avLst/>
          </a:prstGeom>
          <a:solidFill>
            <a:srgbClr val="8B0D18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GENT_NAV_LABEL_0"/>
          <p:cNvSpPr txBox="1"/>
          <p:nvPr/>
        </p:nvSpPr>
        <p:spPr>
          <a:xfrm>
            <a:off x="146304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 ea="Microsoft YaHei">
                <a:solidFill>
                  <a:srgbClr val="FFFFFF"/>
                </a:solidFill>
                <a:latin typeface="Microsoft YaHei"/>
              </a:rPr>
              <a:t>立题与约束</a:t>
            </a:r>
          </a:p>
        </p:txBody>
      </p:sp>
      <p:sp>
        <p:nvSpPr>
          <p:cNvPr id="4" name="AGENT_NAV_SLOT_1"/>
          <p:cNvSpPr/>
          <p:nvPr/>
        </p:nvSpPr>
        <p:spPr>
          <a:xfrm>
            <a:off x="2525572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GENT_NAV_LABEL_1"/>
          <p:cNvSpPr txBox="1"/>
          <p:nvPr/>
        </p:nvSpPr>
        <p:spPr>
          <a:xfrm>
            <a:off x="2525572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除草机构选型</a:t>
            </a:r>
          </a:p>
        </p:txBody>
      </p:sp>
      <p:sp>
        <p:nvSpPr>
          <p:cNvPr id="6" name="AGENT_NAV_SLOT_2"/>
          <p:cNvSpPr/>
          <p:nvPr/>
        </p:nvSpPr>
        <p:spPr>
          <a:xfrm>
            <a:off x="4904841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GENT_NAV_LABEL_2"/>
          <p:cNvSpPr txBox="1"/>
          <p:nvPr/>
        </p:nvSpPr>
        <p:spPr>
          <a:xfrm>
            <a:off x="4904841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设计与控制原理</a:t>
            </a:r>
          </a:p>
        </p:txBody>
      </p:sp>
      <p:sp>
        <p:nvSpPr>
          <p:cNvPr id="8" name="AGENT_NAV_SLOT_3"/>
          <p:cNvSpPr/>
          <p:nvPr/>
        </p:nvSpPr>
        <p:spPr>
          <a:xfrm>
            <a:off x="7284110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GENT_NAV_LABEL_3"/>
          <p:cNvSpPr txBox="1"/>
          <p:nvPr/>
        </p:nvSpPr>
        <p:spPr>
          <a:xfrm>
            <a:off x="7284110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进土深度问题</a:t>
            </a:r>
          </a:p>
        </p:txBody>
      </p:sp>
      <p:sp>
        <p:nvSpPr>
          <p:cNvPr id="10" name="AGENT_NAV_SLOT_4"/>
          <p:cNvSpPr/>
          <p:nvPr/>
        </p:nvSpPr>
        <p:spPr>
          <a:xfrm>
            <a:off x="9663379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GENT_NAV_LABEL_4"/>
          <p:cNvSpPr txBox="1"/>
          <p:nvPr/>
        </p:nvSpPr>
        <p:spPr>
          <a:xfrm>
            <a:off x="9663379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进度与下一步</a:t>
            </a:r>
          </a:p>
        </p:txBody>
      </p:sp>
      <p:sp>
        <p:nvSpPr>
          <p:cNvPr id="12" name="AGENT_FOOTER"/>
          <p:cNvSpPr txBox="1"/>
          <p:nvPr/>
        </p:nvSpPr>
        <p:spPr>
          <a:xfrm>
            <a:off x="320040" y="6510528"/>
            <a:ext cx="859536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纯视觉芍药行间除草机器人 · 组会汇报 · 2026-09-16</a:t>
            </a:r>
          </a:p>
        </p:txBody>
      </p:sp>
      <p:sp>
        <p:nvSpPr>
          <p:cNvPr id="13" name="AGENT_PAGE_NUMBER"/>
          <p:cNvSpPr txBox="1"/>
          <p:nvPr/>
        </p:nvSpPr>
        <p:spPr>
          <a:xfrm>
            <a:off x="11521440" y="6501384"/>
            <a:ext cx="256032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3</a:t>
            </a:r>
          </a:p>
        </p:txBody>
      </p:sp>
      <p:sp>
        <p:nvSpPr>
          <p:cNvPr id="14" name="AGENT_TITLE"/>
          <p:cNvSpPr txBox="1"/>
          <p:nvPr/>
        </p:nvSpPr>
        <p:spPr>
          <a:xfrm>
            <a:off x="320040" y="539496"/>
            <a:ext cx="1129284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0" ea="Microsoft YaHei">
                <a:solidFill>
                  <a:srgbClr val="8B0D18"/>
                </a:solidFill>
                <a:latin typeface="Microsoft YaHei"/>
              </a:rPr>
              <a:t>农艺约束框定了样机的设计边界</a:t>
            </a:r>
          </a:p>
        </p:txBody>
      </p:sp>
      <p:sp>
        <p:nvSpPr>
          <p:cNvPr id="15" name="AGENT_SUMMARY_LINE_0"/>
          <p:cNvSpPr/>
          <p:nvPr/>
        </p:nvSpPr>
        <p:spPr>
          <a:xfrm>
            <a:off x="868680" y="1417320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GENT_SUMMARY_LABEL_0"/>
          <p:cNvSpPr txBox="1"/>
          <p:nvPr/>
        </p:nvSpPr>
        <p:spPr>
          <a:xfrm>
            <a:off x="960120" y="1527048"/>
            <a:ext cx="1828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ea="Microsoft YaHei">
                <a:solidFill>
                  <a:srgbClr val="8B0D18"/>
                </a:solidFill>
                <a:latin typeface="Microsoft YaHei"/>
              </a:rPr>
              <a:t>行距</a:t>
            </a:r>
          </a:p>
        </p:txBody>
      </p:sp>
      <p:sp>
        <p:nvSpPr>
          <p:cNvPr id="17" name="AGENT_SUMMARY_VALUE_0"/>
          <p:cNvSpPr txBox="1"/>
          <p:nvPr/>
        </p:nvSpPr>
        <p:spPr>
          <a:xfrm>
            <a:off x="2926080" y="1527048"/>
            <a:ext cx="7909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30~60 cm，轮距与刀间距机械可调</a:t>
            </a:r>
          </a:p>
        </p:txBody>
      </p:sp>
      <p:sp>
        <p:nvSpPr>
          <p:cNvPr id="18" name="AGENT_SUMMARY_LINE_1"/>
          <p:cNvSpPr/>
          <p:nvPr/>
        </p:nvSpPr>
        <p:spPr>
          <a:xfrm>
            <a:off x="868680" y="2267712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GENT_SUMMARY_LABEL_1"/>
          <p:cNvSpPr txBox="1"/>
          <p:nvPr/>
        </p:nvSpPr>
        <p:spPr>
          <a:xfrm>
            <a:off x="960120" y="2377440"/>
            <a:ext cx="1828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ea="Microsoft YaHei">
                <a:solidFill>
                  <a:srgbClr val="8B0D18"/>
                </a:solidFill>
                <a:latin typeface="Microsoft YaHei"/>
              </a:rPr>
              <a:t>地形</a:t>
            </a:r>
          </a:p>
        </p:txBody>
      </p:sp>
      <p:sp>
        <p:nvSpPr>
          <p:cNvPr id="20" name="AGENT_SUMMARY_VALUE_1"/>
          <p:cNvSpPr txBox="1"/>
          <p:nvPr/>
        </p:nvSpPr>
        <p:spPr>
          <a:xfrm>
            <a:off x="2926080" y="2377440"/>
            <a:ext cx="7909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坡地 5~15°</a:t>
            </a:r>
          </a:p>
        </p:txBody>
      </p:sp>
      <p:sp>
        <p:nvSpPr>
          <p:cNvPr id="21" name="AGENT_SUMMARY_LINE_2"/>
          <p:cNvSpPr/>
          <p:nvPr/>
        </p:nvSpPr>
        <p:spPr>
          <a:xfrm>
            <a:off x="868680" y="3118104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GENT_SUMMARY_LABEL_2"/>
          <p:cNvSpPr txBox="1"/>
          <p:nvPr/>
        </p:nvSpPr>
        <p:spPr>
          <a:xfrm>
            <a:off x="960120" y="3227832"/>
            <a:ext cx="1828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ea="Microsoft YaHei">
                <a:solidFill>
                  <a:srgbClr val="8B0D18"/>
                </a:solidFill>
                <a:latin typeface="Microsoft YaHei"/>
              </a:rPr>
              <a:t>目标耕深</a:t>
            </a:r>
          </a:p>
        </p:txBody>
      </p:sp>
      <p:sp>
        <p:nvSpPr>
          <p:cNvPr id="23" name="AGENT_SUMMARY_VALUE_2"/>
          <p:cNvSpPr txBox="1"/>
          <p:nvPr/>
        </p:nvSpPr>
        <p:spPr>
          <a:xfrm>
            <a:off x="2926080" y="3227832"/>
            <a:ext cx="7909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30 mm、误差 ±5 mm（设计目标，未实测）</a:t>
            </a:r>
          </a:p>
        </p:txBody>
      </p:sp>
      <p:sp>
        <p:nvSpPr>
          <p:cNvPr id="24" name="AGENT_SUMMARY_LINE_3"/>
          <p:cNvSpPr/>
          <p:nvPr/>
        </p:nvSpPr>
        <p:spPr>
          <a:xfrm>
            <a:off x="868680" y="3968496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AGENT_SUMMARY_LABEL_3"/>
          <p:cNvSpPr txBox="1"/>
          <p:nvPr/>
        </p:nvSpPr>
        <p:spPr>
          <a:xfrm>
            <a:off x="960120" y="4078224"/>
            <a:ext cx="1828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ea="Microsoft YaHei">
                <a:solidFill>
                  <a:srgbClr val="8B0D18"/>
                </a:solidFill>
                <a:latin typeface="Microsoft YaHei"/>
              </a:rPr>
              <a:t>物候</a:t>
            </a:r>
          </a:p>
        </p:txBody>
      </p:sp>
      <p:sp>
        <p:nvSpPr>
          <p:cNvPr id="26" name="AGENT_SUMMARY_VALUE_3"/>
          <p:cNvSpPr txBox="1"/>
          <p:nvPr/>
        </p:nvSpPr>
        <p:spPr>
          <a:xfrm>
            <a:off x="2926080" y="4078224"/>
            <a:ext cx="7909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多年生宿根，早期冠层覆盖度低</a:t>
            </a:r>
          </a:p>
        </p:txBody>
      </p:sp>
      <p:sp>
        <p:nvSpPr>
          <p:cNvPr id="27" name="AGENT_SUMMARY_LINE_4"/>
          <p:cNvSpPr/>
          <p:nvPr/>
        </p:nvSpPr>
        <p:spPr>
          <a:xfrm>
            <a:off x="868680" y="4818888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AGENT_SUMMARY_LABEL_4"/>
          <p:cNvSpPr txBox="1"/>
          <p:nvPr/>
        </p:nvSpPr>
        <p:spPr>
          <a:xfrm>
            <a:off x="960120" y="4928616"/>
            <a:ext cx="1828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ea="Microsoft YaHei">
                <a:solidFill>
                  <a:srgbClr val="8B0D18"/>
                </a:solidFill>
                <a:latin typeface="Microsoft YaHei"/>
              </a:rPr>
              <a:t>未登记项</a:t>
            </a:r>
          </a:p>
        </p:txBody>
      </p:sp>
      <p:sp>
        <p:nvSpPr>
          <p:cNvPr id="29" name="AGENT_SUMMARY_VALUE_4"/>
          <p:cNvSpPr txBox="1"/>
          <p:nvPr/>
        </p:nvSpPr>
        <p:spPr>
          <a:xfrm>
            <a:off x="2926080" y="4928616"/>
            <a:ext cx="7909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株丛直径、杂草种名、作业次数 → 待实测</a:t>
            </a:r>
          </a:p>
        </p:txBody>
      </p:sp>
      <p:sp>
        <p:nvSpPr>
          <p:cNvPr id="30" name="AGENT_TAKEAWAY"/>
          <p:cNvSpPr txBox="1"/>
          <p:nvPr/>
        </p:nvSpPr>
        <p:spPr>
          <a:xfrm>
            <a:off x="868680" y="5989320"/>
            <a:ext cx="10195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ea="Microsoft YaHei">
                <a:solidFill>
                  <a:srgbClr val="8B0D18"/>
                </a:solidFill>
                <a:latin typeface="Microsoft YaHei"/>
              </a:rPr>
              <a:t>凡未登记的量一律标待实测，不用常识补值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GENT_NAV_SLOT_0"/>
          <p:cNvSpPr/>
          <p:nvPr/>
        </p:nvSpPr>
        <p:spPr>
          <a:xfrm>
            <a:off x="146304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GENT_NAV_LABEL_0"/>
          <p:cNvSpPr txBox="1"/>
          <p:nvPr/>
        </p:nvSpPr>
        <p:spPr>
          <a:xfrm>
            <a:off x="146304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立题与约束</a:t>
            </a:r>
          </a:p>
        </p:txBody>
      </p:sp>
      <p:sp>
        <p:nvSpPr>
          <p:cNvPr id="4" name="AGENT_NAV_SLOT_1"/>
          <p:cNvSpPr/>
          <p:nvPr/>
        </p:nvSpPr>
        <p:spPr>
          <a:xfrm>
            <a:off x="2525572" y="27432"/>
            <a:ext cx="2379268" cy="347472"/>
          </a:xfrm>
          <a:prstGeom prst="rect">
            <a:avLst/>
          </a:prstGeom>
          <a:solidFill>
            <a:srgbClr val="8B0D18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GENT_NAV_LABEL_1"/>
          <p:cNvSpPr txBox="1"/>
          <p:nvPr/>
        </p:nvSpPr>
        <p:spPr>
          <a:xfrm>
            <a:off x="2525572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 ea="Microsoft YaHei">
                <a:solidFill>
                  <a:srgbClr val="FFFFFF"/>
                </a:solidFill>
                <a:latin typeface="Microsoft YaHei"/>
              </a:rPr>
              <a:t>除草机构选型</a:t>
            </a:r>
          </a:p>
        </p:txBody>
      </p:sp>
      <p:sp>
        <p:nvSpPr>
          <p:cNvPr id="6" name="AGENT_NAV_SLOT_2"/>
          <p:cNvSpPr/>
          <p:nvPr/>
        </p:nvSpPr>
        <p:spPr>
          <a:xfrm>
            <a:off x="4904841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GENT_NAV_LABEL_2"/>
          <p:cNvSpPr txBox="1"/>
          <p:nvPr/>
        </p:nvSpPr>
        <p:spPr>
          <a:xfrm>
            <a:off x="4904841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设计与控制原理</a:t>
            </a:r>
          </a:p>
        </p:txBody>
      </p:sp>
      <p:sp>
        <p:nvSpPr>
          <p:cNvPr id="8" name="AGENT_NAV_SLOT_3"/>
          <p:cNvSpPr/>
          <p:nvPr/>
        </p:nvSpPr>
        <p:spPr>
          <a:xfrm>
            <a:off x="7284110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GENT_NAV_LABEL_3"/>
          <p:cNvSpPr txBox="1"/>
          <p:nvPr/>
        </p:nvSpPr>
        <p:spPr>
          <a:xfrm>
            <a:off x="7284110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进土深度问题</a:t>
            </a:r>
          </a:p>
        </p:txBody>
      </p:sp>
      <p:sp>
        <p:nvSpPr>
          <p:cNvPr id="10" name="AGENT_NAV_SLOT_4"/>
          <p:cNvSpPr/>
          <p:nvPr/>
        </p:nvSpPr>
        <p:spPr>
          <a:xfrm>
            <a:off x="9663379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GENT_NAV_LABEL_4"/>
          <p:cNvSpPr txBox="1"/>
          <p:nvPr/>
        </p:nvSpPr>
        <p:spPr>
          <a:xfrm>
            <a:off x="9663379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进度与下一步</a:t>
            </a:r>
          </a:p>
        </p:txBody>
      </p:sp>
      <p:sp>
        <p:nvSpPr>
          <p:cNvPr id="12" name="AGENT_FOOTER"/>
          <p:cNvSpPr txBox="1"/>
          <p:nvPr/>
        </p:nvSpPr>
        <p:spPr>
          <a:xfrm>
            <a:off x="320040" y="6510528"/>
            <a:ext cx="859536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纯视觉芍药行间除草机器人 · 组会汇报 · 2026-09-16</a:t>
            </a:r>
          </a:p>
        </p:txBody>
      </p:sp>
      <p:sp>
        <p:nvSpPr>
          <p:cNvPr id="13" name="AGENT_PAGE_NUMBER"/>
          <p:cNvSpPr txBox="1"/>
          <p:nvPr/>
        </p:nvSpPr>
        <p:spPr>
          <a:xfrm>
            <a:off x="11521440" y="6501384"/>
            <a:ext cx="256032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4</a:t>
            </a:r>
          </a:p>
        </p:txBody>
      </p:sp>
      <p:sp>
        <p:nvSpPr>
          <p:cNvPr id="14" name="AGENT_TITLE"/>
          <p:cNvSpPr txBox="1"/>
          <p:nvPr/>
        </p:nvSpPr>
        <p:spPr>
          <a:xfrm>
            <a:off x="320040" y="539496"/>
            <a:ext cx="1129284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0" ea="Microsoft YaHei">
                <a:solidFill>
                  <a:srgbClr val="8B0D18"/>
                </a:solidFill>
                <a:latin typeface="Microsoft YaHei"/>
              </a:rPr>
              <a:t>八类除草机构逐个筛，六类被排除</a:t>
            </a:r>
          </a:p>
        </p:txBody>
      </p:sp>
      <p:sp>
        <p:nvSpPr>
          <p:cNvPr id="15" name="AGENT_TEXT_PANEL"/>
          <p:cNvSpPr/>
          <p:nvPr/>
        </p:nvSpPr>
        <p:spPr>
          <a:xfrm>
            <a:off x="685800" y="1417320"/>
            <a:ext cx="10835640" cy="4434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GENT_BODY"/>
          <p:cNvSpPr txBox="1"/>
          <p:nvPr/>
        </p:nvSpPr>
        <p:spPr>
          <a:xfrm>
            <a:off x="960120" y="1664208"/>
            <a:ext cx="10287000" cy="3931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 ea="Microsoft YaHei">
                <a:solidFill>
                  <a:srgbClr val="1E1E1E"/>
                </a:solidFill>
                <a:latin typeface="Microsoft YaHei"/>
              </a:rPr>
              <a:t>1. 评价维度：通过性·伤苗风险·入土稳定性·抗堵·窄行适配·造价
2. 圆盘割刀、旋转锄：需附加驱动且扰动大，易伤宿根根系
3. 立式除草轮与梳齿轮、往复切割器：面向密植株间，窄行间通过性差
4. 激光与火焰、机械臂拔草：能耗与节拍不匹配，决策 D2 已排除
5. 化学除草：行内无选择性，零农残要求下不可用</a:t>
            </a:r>
          </a:p>
        </p:txBody>
      </p:sp>
      <p:sp>
        <p:nvSpPr>
          <p:cNvPr id="17" name="AGENT_TAKEAWAY"/>
          <p:cNvSpPr txBox="1"/>
          <p:nvPr/>
        </p:nvSpPr>
        <p:spPr>
          <a:xfrm>
            <a:off x="868680" y="5989320"/>
            <a:ext cx="10195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ea="Microsoft YaHei">
                <a:solidFill>
                  <a:srgbClr val="8B0D18"/>
                </a:solidFill>
                <a:latin typeface="Microsoft YaHei"/>
              </a:rPr>
              <a:t>属针对性检索而非系统综述，商品机型文献缺口已登记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GENT_NAV_SLOT_0"/>
          <p:cNvSpPr/>
          <p:nvPr/>
        </p:nvSpPr>
        <p:spPr>
          <a:xfrm>
            <a:off x="146304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GENT_NAV_LABEL_0"/>
          <p:cNvSpPr txBox="1"/>
          <p:nvPr/>
        </p:nvSpPr>
        <p:spPr>
          <a:xfrm>
            <a:off x="146304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立题与约束</a:t>
            </a:r>
          </a:p>
        </p:txBody>
      </p:sp>
      <p:sp>
        <p:nvSpPr>
          <p:cNvPr id="4" name="AGENT_NAV_SLOT_1"/>
          <p:cNvSpPr/>
          <p:nvPr/>
        </p:nvSpPr>
        <p:spPr>
          <a:xfrm>
            <a:off x="2525572" y="27432"/>
            <a:ext cx="2379268" cy="347472"/>
          </a:xfrm>
          <a:prstGeom prst="rect">
            <a:avLst/>
          </a:prstGeom>
          <a:solidFill>
            <a:srgbClr val="8B0D18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GENT_NAV_LABEL_1"/>
          <p:cNvSpPr txBox="1"/>
          <p:nvPr/>
        </p:nvSpPr>
        <p:spPr>
          <a:xfrm>
            <a:off x="2525572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 ea="Microsoft YaHei">
                <a:solidFill>
                  <a:srgbClr val="FFFFFF"/>
                </a:solidFill>
                <a:latin typeface="Microsoft YaHei"/>
              </a:rPr>
              <a:t>除草机构选型</a:t>
            </a:r>
          </a:p>
        </p:txBody>
      </p:sp>
      <p:sp>
        <p:nvSpPr>
          <p:cNvPr id="6" name="AGENT_NAV_SLOT_2"/>
          <p:cNvSpPr/>
          <p:nvPr/>
        </p:nvSpPr>
        <p:spPr>
          <a:xfrm>
            <a:off x="4904841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GENT_NAV_LABEL_2"/>
          <p:cNvSpPr txBox="1"/>
          <p:nvPr/>
        </p:nvSpPr>
        <p:spPr>
          <a:xfrm>
            <a:off x="4904841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设计与控制原理</a:t>
            </a:r>
          </a:p>
        </p:txBody>
      </p:sp>
      <p:sp>
        <p:nvSpPr>
          <p:cNvPr id="8" name="AGENT_NAV_SLOT_3"/>
          <p:cNvSpPr/>
          <p:nvPr/>
        </p:nvSpPr>
        <p:spPr>
          <a:xfrm>
            <a:off x="7284110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GENT_NAV_LABEL_3"/>
          <p:cNvSpPr txBox="1"/>
          <p:nvPr/>
        </p:nvSpPr>
        <p:spPr>
          <a:xfrm>
            <a:off x="7284110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进土深度问题</a:t>
            </a:r>
          </a:p>
        </p:txBody>
      </p:sp>
      <p:sp>
        <p:nvSpPr>
          <p:cNvPr id="10" name="AGENT_NAV_SLOT_4"/>
          <p:cNvSpPr/>
          <p:nvPr/>
        </p:nvSpPr>
        <p:spPr>
          <a:xfrm>
            <a:off x="9663379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GENT_NAV_LABEL_4"/>
          <p:cNvSpPr txBox="1"/>
          <p:nvPr/>
        </p:nvSpPr>
        <p:spPr>
          <a:xfrm>
            <a:off x="9663379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进度与下一步</a:t>
            </a:r>
          </a:p>
        </p:txBody>
      </p:sp>
      <p:sp>
        <p:nvSpPr>
          <p:cNvPr id="12" name="AGENT_FOOTER"/>
          <p:cNvSpPr txBox="1"/>
          <p:nvPr/>
        </p:nvSpPr>
        <p:spPr>
          <a:xfrm>
            <a:off x="320040" y="6510528"/>
            <a:ext cx="859536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纯视觉芍药行间除草机器人 · 组会汇报 · 2026-09-16</a:t>
            </a:r>
          </a:p>
        </p:txBody>
      </p:sp>
      <p:sp>
        <p:nvSpPr>
          <p:cNvPr id="13" name="AGENT_PAGE_NUMBER"/>
          <p:cNvSpPr txBox="1"/>
          <p:nvPr/>
        </p:nvSpPr>
        <p:spPr>
          <a:xfrm>
            <a:off x="11521440" y="6501384"/>
            <a:ext cx="256032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5</a:t>
            </a:r>
          </a:p>
        </p:txBody>
      </p:sp>
      <p:sp>
        <p:nvSpPr>
          <p:cNvPr id="14" name="AGENT_TITLE"/>
          <p:cNvSpPr txBox="1"/>
          <p:nvPr/>
        </p:nvSpPr>
        <p:spPr>
          <a:xfrm>
            <a:off x="320040" y="539496"/>
            <a:ext cx="1129284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0" ea="Microsoft YaHei">
                <a:solidFill>
                  <a:srgbClr val="8B0D18"/>
                </a:solidFill>
                <a:latin typeface="Microsoft YaHei"/>
              </a:rPr>
              <a:t>入选两类：鸭掌铲主选，弹齿作对比</a:t>
            </a:r>
          </a:p>
        </p:txBody>
      </p:sp>
      <p:sp>
        <p:nvSpPr>
          <p:cNvPr id="15" name="AGENT_COLUMN_HEAD_0"/>
          <p:cNvSpPr txBox="1"/>
          <p:nvPr/>
        </p:nvSpPr>
        <p:spPr>
          <a:xfrm>
            <a:off x="868680" y="1508760"/>
            <a:ext cx="47091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 ea="Microsoft YaHei">
                <a:solidFill>
                  <a:srgbClr val="8B0D18"/>
                </a:solidFill>
                <a:latin typeface="Microsoft YaHei"/>
              </a:rPr>
              <a:t>鸭掌铲 —— 主选</a:t>
            </a:r>
          </a:p>
        </p:txBody>
      </p:sp>
      <p:sp>
        <p:nvSpPr>
          <p:cNvPr id="16" name="AGENT_BODY"/>
          <p:cNvSpPr txBox="1"/>
          <p:nvPr/>
        </p:nvSpPr>
        <p:spPr>
          <a:xfrm>
            <a:off x="868680" y="1965960"/>
            <a:ext cx="4709160" cy="3383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1. 铲刃切削，切根干净
2. 结构简单，与三梁升降兼容
3. 幅宽尚未登记，需补测
4. 受力可算：铲面切削阻力模型</a:t>
            </a:r>
          </a:p>
        </p:txBody>
      </p:sp>
      <p:sp>
        <p:nvSpPr>
          <p:cNvPr id="17" name="AGENT_COLUMN_HEAD_1"/>
          <p:cNvSpPr txBox="1"/>
          <p:nvPr/>
        </p:nvSpPr>
        <p:spPr>
          <a:xfrm>
            <a:off x="6217920" y="1508760"/>
            <a:ext cx="47091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 ea="Microsoft YaHei">
                <a:solidFill>
                  <a:srgbClr val="8B0D18"/>
                </a:solidFill>
                <a:latin typeface="Microsoft YaHei"/>
              </a:rPr>
              <a:t>弹齿 —— 作对比保留</a:t>
            </a:r>
          </a:p>
        </p:txBody>
      </p:sp>
      <p:sp>
        <p:nvSpPr>
          <p:cNvPr id="18" name="AGENT_BODY"/>
          <p:cNvSpPr txBox="1"/>
          <p:nvPr/>
        </p:nvSpPr>
        <p:spPr>
          <a:xfrm>
            <a:off x="6217920" y="1965960"/>
            <a:ext cx="4709160" cy="3383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1. 峰值阻力低，抗冲击好
2. 切根深度一致性差
3. 已登记：250 mm 五齿
4. 作对照，不当主方案</a:t>
            </a:r>
          </a:p>
        </p:txBody>
      </p:sp>
      <p:sp>
        <p:nvSpPr>
          <p:cNvPr id="19" name="AGENT_TAKEAWAY"/>
          <p:cNvSpPr txBox="1"/>
          <p:nvPr/>
        </p:nvSpPr>
        <p:spPr>
          <a:xfrm>
            <a:off x="868680" y="5989320"/>
            <a:ext cx="10195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ea="Microsoft YaHei">
                <a:solidFill>
                  <a:srgbClr val="8B0D18"/>
                </a:solidFill>
                <a:latin typeface="Microsoft YaHei"/>
              </a:rPr>
              <a:t>对比前须先补铲幅，否则两把刀条件不对等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GENT_NAV_SLOT_0"/>
          <p:cNvSpPr/>
          <p:nvPr/>
        </p:nvSpPr>
        <p:spPr>
          <a:xfrm>
            <a:off x="146304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GENT_NAV_LABEL_0"/>
          <p:cNvSpPr txBox="1"/>
          <p:nvPr/>
        </p:nvSpPr>
        <p:spPr>
          <a:xfrm>
            <a:off x="146304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立题与约束</a:t>
            </a:r>
          </a:p>
        </p:txBody>
      </p:sp>
      <p:sp>
        <p:nvSpPr>
          <p:cNvPr id="4" name="AGENT_NAV_SLOT_1"/>
          <p:cNvSpPr/>
          <p:nvPr/>
        </p:nvSpPr>
        <p:spPr>
          <a:xfrm>
            <a:off x="2525572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GENT_NAV_LABEL_1"/>
          <p:cNvSpPr txBox="1"/>
          <p:nvPr/>
        </p:nvSpPr>
        <p:spPr>
          <a:xfrm>
            <a:off x="2525572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除草机构选型</a:t>
            </a:r>
          </a:p>
        </p:txBody>
      </p:sp>
      <p:sp>
        <p:nvSpPr>
          <p:cNvPr id="6" name="AGENT_NAV_SLOT_2"/>
          <p:cNvSpPr/>
          <p:nvPr/>
        </p:nvSpPr>
        <p:spPr>
          <a:xfrm>
            <a:off x="4904841" y="27432"/>
            <a:ext cx="2379268" cy="347472"/>
          </a:xfrm>
          <a:prstGeom prst="rect">
            <a:avLst/>
          </a:prstGeom>
          <a:solidFill>
            <a:srgbClr val="8B0D18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GENT_NAV_LABEL_2"/>
          <p:cNvSpPr txBox="1"/>
          <p:nvPr/>
        </p:nvSpPr>
        <p:spPr>
          <a:xfrm>
            <a:off x="4904841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 ea="Microsoft YaHei">
                <a:solidFill>
                  <a:srgbClr val="FFFFFF"/>
                </a:solidFill>
                <a:latin typeface="Microsoft YaHei"/>
              </a:rPr>
              <a:t>设计与控制原理</a:t>
            </a:r>
          </a:p>
        </p:txBody>
      </p:sp>
      <p:sp>
        <p:nvSpPr>
          <p:cNvPr id="8" name="AGENT_NAV_SLOT_3"/>
          <p:cNvSpPr/>
          <p:nvPr/>
        </p:nvSpPr>
        <p:spPr>
          <a:xfrm>
            <a:off x="7284110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GENT_NAV_LABEL_3"/>
          <p:cNvSpPr txBox="1"/>
          <p:nvPr/>
        </p:nvSpPr>
        <p:spPr>
          <a:xfrm>
            <a:off x="7284110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进土深度问题</a:t>
            </a:r>
          </a:p>
        </p:txBody>
      </p:sp>
      <p:sp>
        <p:nvSpPr>
          <p:cNvPr id="10" name="AGENT_NAV_SLOT_4"/>
          <p:cNvSpPr/>
          <p:nvPr/>
        </p:nvSpPr>
        <p:spPr>
          <a:xfrm>
            <a:off x="9663379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GENT_NAV_LABEL_4"/>
          <p:cNvSpPr txBox="1"/>
          <p:nvPr/>
        </p:nvSpPr>
        <p:spPr>
          <a:xfrm>
            <a:off x="9663379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进度与下一步</a:t>
            </a:r>
          </a:p>
        </p:txBody>
      </p:sp>
      <p:sp>
        <p:nvSpPr>
          <p:cNvPr id="12" name="AGENT_FOOTER"/>
          <p:cNvSpPr txBox="1"/>
          <p:nvPr/>
        </p:nvSpPr>
        <p:spPr>
          <a:xfrm>
            <a:off x="320040" y="6510528"/>
            <a:ext cx="859536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纯视觉芍药行间除草机器人 · 组会汇报 · 2026-09-16</a:t>
            </a:r>
          </a:p>
        </p:txBody>
      </p:sp>
      <p:sp>
        <p:nvSpPr>
          <p:cNvPr id="13" name="AGENT_PAGE_NUMBER"/>
          <p:cNvSpPr txBox="1"/>
          <p:nvPr/>
        </p:nvSpPr>
        <p:spPr>
          <a:xfrm>
            <a:off x="11521440" y="6501384"/>
            <a:ext cx="256032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6</a:t>
            </a:r>
          </a:p>
        </p:txBody>
      </p:sp>
      <p:sp>
        <p:nvSpPr>
          <p:cNvPr id="14" name="AGENT_TITLE"/>
          <p:cNvSpPr txBox="1"/>
          <p:nvPr/>
        </p:nvSpPr>
        <p:spPr>
          <a:xfrm>
            <a:off x="320040" y="539496"/>
            <a:ext cx="1129284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0" ea="Microsoft YaHei">
                <a:solidFill>
                  <a:srgbClr val="8B0D18"/>
                </a:solidFill>
                <a:latin typeface="Microsoft YaHei"/>
              </a:rPr>
              <a:t>技术路线：单一相机到刀具位移的四段链路</a:t>
            </a:r>
          </a:p>
        </p:txBody>
      </p:sp>
      <p:sp>
        <p:nvSpPr>
          <p:cNvPr id="15" name="AGENT_STEP_BOX_0"/>
          <p:cNvSpPr/>
          <p:nvPr/>
        </p:nvSpPr>
        <p:spPr>
          <a:xfrm>
            <a:off x="1051560" y="2743200"/>
            <a:ext cx="2345436" cy="9144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GENT_STEP_TEXT_0"/>
          <p:cNvSpPr txBox="1"/>
          <p:nvPr/>
        </p:nvSpPr>
        <p:spPr>
          <a:xfrm>
            <a:off x="1124712" y="2880360"/>
            <a:ext cx="219913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ea="Microsoft YaHei">
                <a:solidFill>
                  <a:srgbClr val="1E1E1E"/>
                </a:solidFill>
                <a:latin typeface="Microsoft YaHei"/>
              </a:rPr>
              <a:t>语义分割 作物墙</a:t>
            </a:r>
          </a:p>
        </p:txBody>
      </p:sp>
      <p:sp>
        <p:nvSpPr>
          <p:cNvPr id="17" name="AGENT_STEP_ARROW_0"/>
          <p:cNvSpPr txBox="1"/>
          <p:nvPr/>
        </p:nvSpPr>
        <p:spPr>
          <a:xfrm>
            <a:off x="3470148" y="2935224"/>
            <a:ext cx="164592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00" b="1" ea="Microsoft YaHei">
                <a:solidFill>
                  <a:srgbClr val="8B0D18"/>
                </a:solidFill>
                <a:latin typeface="Microsoft YaHei"/>
              </a:rPr>
              <a:t>→</a:t>
            </a:r>
          </a:p>
        </p:txBody>
      </p:sp>
      <p:sp>
        <p:nvSpPr>
          <p:cNvPr id="18" name="AGENT_STEP_BOX_1"/>
          <p:cNvSpPr/>
          <p:nvPr/>
        </p:nvSpPr>
        <p:spPr>
          <a:xfrm>
            <a:off x="3543300" y="2743200"/>
            <a:ext cx="2345436" cy="9144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GENT_STEP_TEXT_1"/>
          <p:cNvSpPr txBox="1"/>
          <p:nvPr/>
        </p:nvSpPr>
        <p:spPr>
          <a:xfrm>
            <a:off x="3616452" y="2880360"/>
            <a:ext cx="219913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ea="Microsoft YaHei">
                <a:solidFill>
                  <a:srgbClr val="1E1E1E"/>
                </a:solidFill>
                <a:latin typeface="Microsoft YaHei"/>
              </a:rPr>
              <a:t>双墙拟合 导航线</a:t>
            </a:r>
          </a:p>
        </p:txBody>
      </p:sp>
      <p:sp>
        <p:nvSpPr>
          <p:cNvPr id="20" name="AGENT_STEP_ARROW_1"/>
          <p:cNvSpPr txBox="1"/>
          <p:nvPr/>
        </p:nvSpPr>
        <p:spPr>
          <a:xfrm>
            <a:off x="5961888" y="2935224"/>
            <a:ext cx="164592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00" b="1" ea="Microsoft YaHei">
                <a:solidFill>
                  <a:srgbClr val="8B0D18"/>
                </a:solidFill>
                <a:latin typeface="Microsoft YaHei"/>
              </a:rPr>
              <a:t>→</a:t>
            </a:r>
          </a:p>
        </p:txBody>
      </p:sp>
      <p:sp>
        <p:nvSpPr>
          <p:cNvPr id="21" name="AGENT_STEP_BOX_2"/>
          <p:cNvSpPr/>
          <p:nvPr/>
        </p:nvSpPr>
        <p:spPr>
          <a:xfrm>
            <a:off x="6035040" y="2743200"/>
            <a:ext cx="2345436" cy="9144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GENT_STEP_TEXT_2"/>
          <p:cNvSpPr txBox="1"/>
          <p:nvPr/>
        </p:nvSpPr>
        <p:spPr>
          <a:xfrm>
            <a:off x="6108192" y="2880360"/>
            <a:ext cx="219913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ea="Microsoft YaHei">
                <a:solidFill>
                  <a:srgbClr val="1E1E1E"/>
                </a:solidFill>
                <a:latin typeface="Microsoft YaHei"/>
              </a:rPr>
              <a:t>横向偏差解算</a:t>
            </a:r>
          </a:p>
        </p:txBody>
      </p:sp>
      <p:sp>
        <p:nvSpPr>
          <p:cNvPr id="23" name="AGENT_STEP_ARROW_2"/>
          <p:cNvSpPr txBox="1"/>
          <p:nvPr/>
        </p:nvSpPr>
        <p:spPr>
          <a:xfrm>
            <a:off x="8453628" y="2935224"/>
            <a:ext cx="164592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00" b="1" ea="Microsoft YaHei">
                <a:solidFill>
                  <a:srgbClr val="8B0D18"/>
                </a:solidFill>
                <a:latin typeface="Microsoft YaHei"/>
              </a:rPr>
              <a:t>→</a:t>
            </a:r>
          </a:p>
        </p:txBody>
      </p:sp>
      <p:sp>
        <p:nvSpPr>
          <p:cNvPr id="24" name="AGENT_STEP_BOX_3"/>
          <p:cNvSpPr/>
          <p:nvPr/>
        </p:nvSpPr>
        <p:spPr>
          <a:xfrm>
            <a:off x="8526780" y="2743200"/>
            <a:ext cx="2345436" cy="9144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AGENT_STEP_TEXT_3"/>
          <p:cNvSpPr txBox="1"/>
          <p:nvPr/>
        </p:nvSpPr>
        <p:spPr>
          <a:xfrm>
            <a:off x="8599932" y="2880360"/>
            <a:ext cx="219913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ea="Microsoft YaHei">
                <a:solidFill>
                  <a:srgbClr val="1E1E1E"/>
                </a:solidFill>
                <a:latin typeface="Microsoft YaHei"/>
              </a:rPr>
              <a:t>底盘与中间刀执行</a:t>
            </a:r>
          </a:p>
        </p:txBody>
      </p:sp>
      <p:sp>
        <p:nvSpPr>
          <p:cNvPr id="26" name="AGENT_BODY"/>
          <p:cNvSpPr txBox="1"/>
          <p:nvPr/>
        </p:nvSpPr>
        <p:spPr>
          <a:xfrm>
            <a:off x="1005840" y="4251960"/>
            <a:ext cx="996696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1. 不依赖 RTK 与激光雷达，横向位置全部来自单目相机
2. 车端只做采集与执行，PC 集中决策</a:t>
            </a:r>
          </a:p>
        </p:txBody>
      </p:sp>
      <p:sp>
        <p:nvSpPr>
          <p:cNvPr id="27" name="AGENT_TAKEAWAY"/>
          <p:cNvSpPr txBox="1"/>
          <p:nvPr/>
        </p:nvSpPr>
        <p:spPr>
          <a:xfrm>
            <a:off x="868680" y="5989320"/>
            <a:ext cx="10195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ea="Microsoft YaHei">
                <a:solidFill>
                  <a:srgbClr val="8B0D18"/>
                </a:solidFill>
                <a:latin typeface="Microsoft YaHei"/>
              </a:rPr>
              <a:t>每一段都要能被独立量测，否则误差无法归因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GENT_NAV_SLOT_0"/>
          <p:cNvSpPr/>
          <p:nvPr/>
        </p:nvSpPr>
        <p:spPr>
          <a:xfrm>
            <a:off x="146304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GENT_NAV_LABEL_0"/>
          <p:cNvSpPr txBox="1"/>
          <p:nvPr/>
        </p:nvSpPr>
        <p:spPr>
          <a:xfrm>
            <a:off x="146304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立题与约束</a:t>
            </a:r>
          </a:p>
        </p:txBody>
      </p:sp>
      <p:sp>
        <p:nvSpPr>
          <p:cNvPr id="4" name="AGENT_NAV_SLOT_1"/>
          <p:cNvSpPr/>
          <p:nvPr/>
        </p:nvSpPr>
        <p:spPr>
          <a:xfrm>
            <a:off x="2525572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GENT_NAV_LABEL_1"/>
          <p:cNvSpPr txBox="1"/>
          <p:nvPr/>
        </p:nvSpPr>
        <p:spPr>
          <a:xfrm>
            <a:off x="2525572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除草机构选型</a:t>
            </a:r>
          </a:p>
        </p:txBody>
      </p:sp>
      <p:sp>
        <p:nvSpPr>
          <p:cNvPr id="6" name="AGENT_NAV_SLOT_2"/>
          <p:cNvSpPr/>
          <p:nvPr/>
        </p:nvSpPr>
        <p:spPr>
          <a:xfrm>
            <a:off x="4904841" y="27432"/>
            <a:ext cx="2379268" cy="347472"/>
          </a:xfrm>
          <a:prstGeom prst="rect">
            <a:avLst/>
          </a:prstGeom>
          <a:solidFill>
            <a:srgbClr val="8B0D18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GENT_NAV_LABEL_2"/>
          <p:cNvSpPr txBox="1"/>
          <p:nvPr/>
        </p:nvSpPr>
        <p:spPr>
          <a:xfrm>
            <a:off x="4904841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 ea="Microsoft YaHei">
                <a:solidFill>
                  <a:srgbClr val="FFFFFF"/>
                </a:solidFill>
                <a:latin typeface="Microsoft YaHei"/>
              </a:rPr>
              <a:t>设计与控制原理</a:t>
            </a:r>
          </a:p>
        </p:txBody>
      </p:sp>
      <p:sp>
        <p:nvSpPr>
          <p:cNvPr id="8" name="AGENT_NAV_SLOT_3"/>
          <p:cNvSpPr/>
          <p:nvPr/>
        </p:nvSpPr>
        <p:spPr>
          <a:xfrm>
            <a:off x="7284110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GENT_NAV_LABEL_3"/>
          <p:cNvSpPr txBox="1"/>
          <p:nvPr/>
        </p:nvSpPr>
        <p:spPr>
          <a:xfrm>
            <a:off x="7284110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进土深度问题</a:t>
            </a:r>
          </a:p>
        </p:txBody>
      </p:sp>
      <p:sp>
        <p:nvSpPr>
          <p:cNvPr id="10" name="AGENT_NAV_SLOT_4"/>
          <p:cNvSpPr/>
          <p:nvPr/>
        </p:nvSpPr>
        <p:spPr>
          <a:xfrm>
            <a:off x="9663379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GENT_NAV_LABEL_4"/>
          <p:cNvSpPr txBox="1"/>
          <p:nvPr/>
        </p:nvSpPr>
        <p:spPr>
          <a:xfrm>
            <a:off x="9663379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进度与下一步</a:t>
            </a:r>
          </a:p>
        </p:txBody>
      </p:sp>
      <p:sp>
        <p:nvSpPr>
          <p:cNvPr id="12" name="AGENT_FOOTER"/>
          <p:cNvSpPr txBox="1"/>
          <p:nvPr/>
        </p:nvSpPr>
        <p:spPr>
          <a:xfrm>
            <a:off x="320040" y="6510528"/>
            <a:ext cx="859536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纯视觉芍药行间除草机器人 · 组会汇报 · 2026-09-16</a:t>
            </a:r>
          </a:p>
        </p:txBody>
      </p:sp>
      <p:sp>
        <p:nvSpPr>
          <p:cNvPr id="13" name="AGENT_PAGE_NUMBER"/>
          <p:cNvSpPr txBox="1"/>
          <p:nvPr/>
        </p:nvSpPr>
        <p:spPr>
          <a:xfrm>
            <a:off x="11521440" y="6501384"/>
            <a:ext cx="256032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7</a:t>
            </a:r>
          </a:p>
        </p:txBody>
      </p:sp>
      <p:sp>
        <p:nvSpPr>
          <p:cNvPr id="14" name="AGENT_TITLE"/>
          <p:cNvSpPr txBox="1"/>
          <p:nvPr/>
        </p:nvSpPr>
        <p:spPr>
          <a:xfrm>
            <a:off x="320040" y="539496"/>
            <a:ext cx="1129284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0" ea="Microsoft YaHei">
                <a:solidFill>
                  <a:srgbClr val="8B0D18"/>
                </a:solidFill>
                <a:latin typeface="Microsoft YaHei"/>
              </a:rPr>
              <a:t>跨 4 行作业，3 条草带由 2 侧刀加 1 中间刀清除</a:t>
            </a:r>
          </a:p>
        </p:txBody>
      </p:sp>
      <p:sp>
        <p:nvSpPr>
          <p:cNvPr id="15" name="AGENT_TEXT_PANEL"/>
          <p:cNvSpPr/>
          <p:nvPr/>
        </p:nvSpPr>
        <p:spPr>
          <a:xfrm>
            <a:off x="685800" y="1417320"/>
            <a:ext cx="10835640" cy="4434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GENT_BODY"/>
          <p:cNvSpPr txBox="1"/>
          <p:nvPr/>
        </p:nvSpPr>
        <p:spPr>
          <a:xfrm>
            <a:off x="960120" y="1664208"/>
            <a:ext cx="10287000" cy="3931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 ea="Microsoft YaHei">
                <a:solidFill>
                  <a:srgbClr val="1E1E1E"/>
                </a:solidFill>
                <a:latin typeface="Microsoft YaHei"/>
              </a:rPr>
              <a:t>1. 底盘跨 4 行芍药通过，一次作业清除 3 条行间草带
2. 左右 2 把侧刀固定在刀梁上，只管进土不管横移
3. 中间 1 把刀装在滑台上，可左右横移做主动对行
4. 3 根电推杆分别管三个刀梁的升降（48 V，行程 200 mm）
5. 控制板 STM32F407ZGT6，48 V 输入经 DC-DC 出 24 V 与 12 V</a:t>
            </a:r>
          </a:p>
        </p:txBody>
      </p:sp>
      <p:sp>
        <p:nvSpPr>
          <p:cNvPr id="17" name="AGENT_TAKEAWAY"/>
          <p:cNvSpPr txBox="1"/>
          <p:nvPr/>
        </p:nvSpPr>
        <p:spPr>
          <a:xfrm>
            <a:off x="868680" y="5989320"/>
            <a:ext cx="10195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ea="Microsoft YaHei">
                <a:solidFill>
                  <a:srgbClr val="8B0D18"/>
                </a:solidFill>
                <a:latin typeface="Microsoft YaHei"/>
              </a:rPr>
              <a:t>主动对行这件事天然只发生在中间刀上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GENT_NAV_SLOT_0"/>
          <p:cNvSpPr/>
          <p:nvPr/>
        </p:nvSpPr>
        <p:spPr>
          <a:xfrm>
            <a:off x="146304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GENT_NAV_LABEL_0"/>
          <p:cNvSpPr txBox="1"/>
          <p:nvPr/>
        </p:nvSpPr>
        <p:spPr>
          <a:xfrm>
            <a:off x="146304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立题与约束</a:t>
            </a:r>
          </a:p>
        </p:txBody>
      </p:sp>
      <p:sp>
        <p:nvSpPr>
          <p:cNvPr id="4" name="AGENT_NAV_SLOT_1"/>
          <p:cNvSpPr/>
          <p:nvPr/>
        </p:nvSpPr>
        <p:spPr>
          <a:xfrm>
            <a:off x="2525572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GENT_NAV_LABEL_1"/>
          <p:cNvSpPr txBox="1"/>
          <p:nvPr/>
        </p:nvSpPr>
        <p:spPr>
          <a:xfrm>
            <a:off x="2525572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除草机构选型</a:t>
            </a:r>
          </a:p>
        </p:txBody>
      </p:sp>
      <p:sp>
        <p:nvSpPr>
          <p:cNvPr id="6" name="AGENT_NAV_SLOT_2"/>
          <p:cNvSpPr/>
          <p:nvPr/>
        </p:nvSpPr>
        <p:spPr>
          <a:xfrm>
            <a:off x="4904841" y="27432"/>
            <a:ext cx="2379268" cy="347472"/>
          </a:xfrm>
          <a:prstGeom prst="rect">
            <a:avLst/>
          </a:prstGeom>
          <a:solidFill>
            <a:srgbClr val="8B0D18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GENT_NAV_LABEL_2"/>
          <p:cNvSpPr txBox="1"/>
          <p:nvPr/>
        </p:nvSpPr>
        <p:spPr>
          <a:xfrm>
            <a:off x="4904841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 ea="Microsoft YaHei">
                <a:solidFill>
                  <a:srgbClr val="FFFFFF"/>
                </a:solidFill>
                <a:latin typeface="Microsoft YaHei"/>
              </a:rPr>
              <a:t>设计与控制原理</a:t>
            </a:r>
          </a:p>
        </p:txBody>
      </p:sp>
      <p:sp>
        <p:nvSpPr>
          <p:cNvPr id="8" name="AGENT_NAV_SLOT_3"/>
          <p:cNvSpPr/>
          <p:nvPr/>
        </p:nvSpPr>
        <p:spPr>
          <a:xfrm>
            <a:off x="7284110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GENT_NAV_LABEL_3"/>
          <p:cNvSpPr txBox="1"/>
          <p:nvPr/>
        </p:nvSpPr>
        <p:spPr>
          <a:xfrm>
            <a:off x="7284110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进土深度问题</a:t>
            </a:r>
          </a:p>
        </p:txBody>
      </p:sp>
      <p:sp>
        <p:nvSpPr>
          <p:cNvPr id="10" name="AGENT_NAV_SLOT_4"/>
          <p:cNvSpPr/>
          <p:nvPr/>
        </p:nvSpPr>
        <p:spPr>
          <a:xfrm>
            <a:off x="9663379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GENT_NAV_LABEL_4"/>
          <p:cNvSpPr txBox="1"/>
          <p:nvPr/>
        </p:nvSpPr>
        <p:spPr>
          <a:xfrm>
            <a:off x="9663379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进度与下一步</a:t>
            </a:r>
          </a:p>
        </p:txBody>
      </p:sp>
      <p:sp>
        <p:nvSpPr>
          <p:cNvPr id="12" name="AGENT_FOOTER"/>
          <p:cNvSpPr txBox="1"/>
          <p:nvPr/>
        </p:nvSpPr>
        <p:spPr>
          <a:xfrm>
            <a:off x="320040" y="6510528"/>
            <a:ext cx="859536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纯视觉芍药行间除草机器人 · 组会汇报 · 2026-09-16</a:t>
            </a:r>
          </a:p>
        </p:txBody>
      </p:sp>
      <p:sp>
        <p:nvSpPr>
          <p:cNvPr id="13" name="AGENT_PAGE_NUMBER"/>
          <p:cNvSpPr txBox="1"/>
          <p:nvPr/>
        </p:nvSpPr>
        <p:spPr>
          <a:xfrm>
            <a:off x="11521440" y="6501384"/>
            <a:ext cx="256032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8</a:t>
            </a:r>
          </a:p>
        </p:txBody>
      </p:sp>
      <p:sp>
        <p:nvSpPr>
          <p:cNvPr id="14" name="AGENT_TITLE"/>
          <p:cNvSpPr txBox="1"/>
          <p:nvPr/>
        </p:nvSpPr>
        <p:spPr>
          <a:xfrm>
            <a:off x="320040" y="539496"/>
            <a:ext cx="1129284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0" ea="Microsoft YaHei">
                <a:solidFill>
                  <a:srgbClr val="8B0D18"/>
                </a:solidFill>
                <a:latin typeface="Microsoft YaHei"/>
              </a:rPr>
              <a:t>底盘粗纠偏加刀具细对行，比只纠底盘更可行</a:t>
            </a:r>
          </a:p>
        </p:txBody>
      </p:sp>
      <p:sp>
        <p:nvSpPr>
          <p:cNvPr id="15" name="AGENT_COLUMN_HEAD_0"/>
          <p:cNvSpPr txBox="1"/>
          <p:nvPr/>
        </p:nvSpPr>
        <p:spPr>
          <a:xfrm>
            <a:off x="868680" y="1508760"/>
            <a:ext cx="47091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 ea="Microsoft YaHei">
                <a:solidFill>
                  <a:srgbClr val="8B0D18"/>
                </a:solidFill>
                <a:latin typeface="Microsoft YaHei"/>
              </a:rPr>
              <a:t>只靠底盘纠偏</a:t>
            </a:r>
          </a:p>
        </p:txBody>
      </p:sp>
      <p:sp>
        <p:nvSpPr>
          <p:cNvPr id="16" name="AGENT_BODY"/>
          <p:cNvSpPr txBox="1"/>
          <p:nvPr/>
        </p:nvSpPr>
        <p:spPr>
          <a:xfrm>
            <a:off x="868680" y="1965960"/>
            <a:ext cx="4709160" cy="3383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1. 整车惯量大、响应慢
2. 厘米级细对行会走成蛇形
3. 坡地侧滑与轮胎变形难补偿</a:t>
            </a:r>
          </a:p>
        </p:txBody>
      </p:sp>
      <p:sp>
        <p:nvSpPr>
          <p:cNvPr id="17" name="AGENT_COLUMN_HEAD_1"/>
          <p:cNvSpPr txBox="1"/>
          <p:nvPr/>
        </p:nvSpPr>
        <p:spPr>
          <a:xfrm>
            <a:off x="6217920" y="1508760"/>
            <a:ext cx="47091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 ea="Microsoft YaHei">
                <a:solidFill>
                  <a:srgbClr val="8B0D18"/>
                </a:solidFill>
                <a:latin typeface="Microsoft YaHei"/>
              </a:rPr>
              <a:t>底盘纵向 + 刀具横向</a:t>
            </a:r>
          </a:p>
        </p:txBody>
      </p:sp>
      <p:sp>
        <p:nvSpPr>
          <p:cNvPr id="18" name="AGENT_BODY"/>
          <p:cNvSpPr txBox="1"/>
          <p:nvPr/>
        </p:nvSpPr>
        <p:spPr>
          <a:xfrm>
            <a:off x="6217920" y="1965960"/>
            <a:ext cx="4709160" cy="3383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1. 底盘保持沿行，只做粗纠
2. 小惯量滑台做厘米级细对行
3. 滑台 300 mm 行程，尚未接线</a:t>
            </a:r>
          </a:p>
        </p:txBody>
      </p:sp>
      <p:sp>
        <p:nvSpPr>
          <p:cNvPr id="19" name="AGENT_TAKEAWAY"/>
          <p:cNvSpPr txBox="1"/>
          <p:nvPr/>
        </p:nvSpPr>
        <p:spPr>
          <a:xfrm>
            <a:off x="868680" y="5989320"/>
            <a:ext cx="10195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ea="Microsoft YaHei">
                <a:solidFill>
                  <a:srgbClr val="8B0D18"/>
                </a:solidFill>
                <a:latin typeface="Microsoft YaHei"/>
              </a:rPr>
              <a:t>两级分工是后续所有试验设计的组织方式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GENT_NAV_SLOT_0"/>
          <p:cNvSpPr/>
          <p:nvPr/>
        </p:nvSpPr>
        <p:spPr>
          <a:xfrm>
            <a:off x="146304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GENT_NAV_LABEL_0"/>
          <p:cNvSpPr txBox="1"/>
          <p:nvPr/>
        </p:nvSpPr>
        <p:spPr>
          <a:xfrm>
            <a:off x="146304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立题与约束</a:t>
            </a:r>
          </a:p>
        </p:txBody>
      </p:sp>
      <p:sp>
        <p:nvSpPr>
          <p:cNvPr id="4" name="AGENT_NAV_SLOT_1"/>
          <p:cNvSpPr/>
          <p:nvPr/>
        </p:nvSpPr>
        <p:spPr>
          <a:xfrm>
            <a:off x="2525572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GENT_NAV_LABEL_1"/>
          <p:cNvSpPr txBox="1"/>
          <p:nvPr/>
        </p:nvSpPr>
        <p:spPr>
          <a:xfrm>
            <a:off x="2525572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除草机构选型</a:t>
            </a:r>
          </a:p>
        </p:txBody>
      </p:sp>
      <p:sp>
        <p:nvSpPr>
          <p:cNvPr id="6" name="AGENT_NAV_SLOT_2"/>
          <p:cNvSpPr/>
          <p:nvPr/>
        </p:nvSpPr>
        <p:spPr>
          <a:xfrm>
            <a:off x="4904841" y="27432"/>
            <a:ext cx="2379268" cy="347472"/>
          </a:xfrm>
          <a:prstGeom prst="rect">
            <a:avLst/>
          </a:prstGeom>
          <a:solidFill>
            <a:srgbClr val="8B0D18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GENT_NAV_LABEL_2"/>
          <p:cNvSpPr txBox="1"/>
          <p:nvPr/>
        </p:nvSpPr>
        <p:spPr>
          <a:xfrm>
            <a:off x="4904841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 ea="Microsoft YaHei">
                <a:solidFill>
                  <a:srgbClr val="FFFFFF"/>
                </a:solidFill>
                <a:latin typeface="Microsoft YaHei"/>
              </a:rPr>
              <a:t>设计与控制原理</a:t>
            </a:r>
          </a:p>
        </p:txBody>
      </p:sp>
      <p:sp>
        <p:nvSpPr>
          <p:cNvPr id="8" name="AGENT_NAV_SLOT_3"/>
          <p:cNvSpPr/>
          <p:nvPr/>
        </p:nvSpPr>
        <p:spPr>
          <a:xfrm>
            <a:off x="7284110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GENT_NAV_LABEL_3"/>
          <p:cNvSpPr txBox="1"/>
          <p:nvPr/>
        </p:nvSpPr>
        <p:spPr>
          <a:xfrm>
            <a:off x="7284110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进土深度问题</a:t>
            </a:r>
          </a:p>
        </p:txBody>
      </p:sp>
      <p:sp>
        <p:nvSpPr>
          <p:cNvPr id="10" name="AGENT_NAV_SLOT_4"/>
          <p:cNvSpPr/>
          <p:nvPr/>
        </p:nvSpPr>
        <p:spPr>
          <a:xfrm>
            <a:off x="9663379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GENT_NAV_LABEL_4"/>
          <p:cNvSpPr txBox="1"/>
          <p:nvPr/>
        </p:nvSpPr>
        <p:spPr>
          <a:xfrm>
            <a:off x="9663379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进度与下一步</a:t>
            </a:r>
          </a:p>
        </p:txBody>
      </p:sp>
      <p:sp>
        <p:nvSpPr>
          <p:cNvPr id="12" name="AGENT_FOOTER"/>
          <p:cNvSpPr txBox="1"/>
          <p:nvPr/>
        </p:nvSpPr>
        <p:spPr>
          <a:xfrm>
            <a:off x="320040" y="6510528"/>
            <a:ext cx="859536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纯视觉芍药行间除草机器人 · 组会汇报 · 2026-09-16</a:t>
            </a:r>
          </a:p>
        </p:txBody>
      </p:sp>
      <p:sp>
        <p:nvSpPr>
          <p:cNvPr id="13" name="AGENT_PAGE_NUMBER"/>
          <p:cNvSpPr txBox="1"/>
          <p:nvPr/>
        </p:nvSpPr>
        <p:spPr>
          <a:xfrm>
            <a:off x="11521440" y="6501384"/>
            <a:ext cx="256032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9</a:t>
            </a:r>
          </a:p>
        </p:txBody>
      </p:sp>
      <p:sp>
        <p:nvSpPr>
          <p:cNvPr id="14" name="AGENT_TITLE"/>
          <p:cNvSpPr txBox="1"/>
          <p:nvPr/>
        </p:nvSpPr>
        <p:spPr>
          <a:xfrm>
            <a:off x="320040" y="539496"/>
            <a:ext cx="1129284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0" ea="Microsoft YaHei">
                <a:solidFill>
                  <a:srgbClr val="8B0D18"/>
                </a:solidFill>
                <a:latin typeface="Microsoft YaHei"/>
              </a:rPr>
              <a:t>分割选 DeepLabV3+，峰值 mIoU 0.7459</a:t>
            </a:r>
          </a:p>
        </p:txBody>
      </p:sp>
      <p:sp>
        <p:nvSpPr>
          <p:cNvPr id="15" name="AGENT_TEXT_PANEL"/>
          <p:cNvSpPr/>
          <p:nvPr/>
        </p:nvSpPr>
        <p:spPr>
          <a:xfrm>
            <a:off x="685800" y="1417320"/>
            <a:ext cx="10835640" cy="4434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GENT_BODY"/>
          <p:cNvSpPr txBox="1"/>
          <p:nvPr/>
        </p:nvSpPr>
        <p:spPr>
          <a:xfrm>
            <a:off x="960120" y="1664208"/>
            <a:ext cx="10287000" cy="3931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 ea="Microsoft YaHei">
                <a:solidFill>
                  <a:srgbClr val="1E1E1E"/>
                </a:solidFill>
                <a:latin typeface="Microsoft YaHei"/>
              </a:rPr>
              <a:t>1. 任务是二分类：作物 / 背景（背景含杂草与裸土）
2. 选 DeepLabV3+ 配 MobileNetV2：端侧算力与实时性优先
3. 不追高分辨率网络：要的是墙的位置，不是像素级轮廓
4. 训练 202 轮，验证集 mIoU 峰值 0.7459 出现在第 76 轮
5. 同批指标：dice 0.7762@78、mPA 0.8643@129、前景 IoU 0.6352</a:t>
            </a:r>
          </a:p>
        </p:txBody>
      </p:sp>
      <p:sp>
        <p:nvSpPr>
          <p:cNvPr id="17" name="AGENT_TAKEAWAY"/>
          <p:cNvSpPr txBox="1"/>
          <p:nvPr/>
        </p:nvSpPr>
        <p:spPr>
          <a:xfrm>
            <a:off x="868680" y="5989320"/>
            <a:ext cx="10195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ea="Microsoft YaHei">
                <a:solidFill>
                  <a:srgbClr val="8B0D18"/>
                </a:solidFill>
                <a:latin typeface="Microsoft YaHei"/>
              </a:rPr>
              <a:t>以上为夏季域验证集结果，秋季域指标尚未产出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GENT_NAV_SLOT_0"/>
          <p:cNvSpPr/>
          <p:nvPr/>
        </p:nvSpPr>
        <p:spPr>
          <a:xfrm>
            <a:off x="146304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GENT_NAV_LABEL_0"/>
          <p:cNvSpPr txBox="1"/>
          <p:nvPr/>
        </p:nvSpPr>
        <p:spPr>
          <a:xfrm>
            <a:off x="146304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立题与约束</a:t>
            </a:r>
          </a:p>
        </p:txBody>
      </p:sp>
      <p:sp>
        <p:nvSpPr>
          <p:cNvPr id="4" name="AGENT_NAV_SLOT_1"/>
          <p:cNvSpPr/>
          <p:nvPr/>
        </p:nvSpPr>
        <p:spPr>
          <a:xfrm>
            <a:off x="2525572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GENT_NAV_LABEL_1"/>
          <p:cNvSpPr txBox="1"/>
          <p:nvPr/>
        </p:nvSpPr>
        <p:spPr>
          <a:xfrm>
            <a:off x="2525572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除草机构选型</a:t>
            </a:r>
          </a:p>
        </p:txBody>
      </p:sp>
      <p:sp>
        <p:nvSpPr>
          <p:cNvPr id="6" name="AGENT_NAV_SLOT_2"/>
          <p:cNvSpPr/>
          <p:nvPr/>
        </p:nvSpPr>
        <p:spPr>
          <a:xfrm>
            <a:off x="4904841" y="27432"/>
            <a:ext cx="2379268" cy="347472"/>
          </a:xfrm>
          <a:prstGeom prst="rect">
            <a:avLst/>
          </a:prstGeom>
          <a:solidFill>
            <a:srgbClr val="8B0D18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GENT_NAV_LABEL_2"/>
          <p:cNvSpPr txBox="1"/>
          <p:nvPr/>
        </p:nvSpPr>
        <p:spPr>
          <a:xfrm>
            <a:off x="4904841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 ea="Microsoft YaHei">
                <a:solidFill>
                  <a:srgbClr val="FFFFFF"/>
                </a:solidFill>
                <a:latin typeface="Microsoft YaHei"/>
              </a:rPr>
              <a:t>设计与控制原理</a:t>
            </a:r>
          </a:p>
        </p:txBody>
      </p:sp>
      <p:sp>
        <p:nvSpPr>
          <p:cNvPr id="8" name="AGENT_NAV_SLOT_3"/>
          <p:cNvSpPr/>
          <p:nvPr/>
        </p:nvSpPr>
        <p:spPr>
          <a:xfrm>
            <a:off x="7284110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GENT_NAV_LABEL_3"/>
          <p:cNvSpPr txBox="1"/>
          <p:nvPr/>
        </p:nvSpPr>
        <p:spPr>
          <a:xfrm>
            <a:off x="7284110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进土深度问题</a:t>
            </a:r>
          </a:p>
        </p:txBody>
      </p:sp>
      <p:sp>
        <p:nvSpPr>
          <p:cNvPr id="10" name="AGENT_NAV_SLOT_4"/>
          <p:cNvSpPr/>
          <p:nvPr/>
        </p:nvSpPr>
        <p:spPr>
          <a:xfrm>
            <a:off x="9663379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GENT_NAV_LABEL_4"/>
          <p:cNvSpPr txBox="1"/>
          <p:nvPr/>
        </p:nvSpPr>
        <p:spPr>
          <a:xfrm>
            <a:off x="9663379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进度与下一步</a:t>
            </a:r>
          </a:p>
        </p:txBody>
      </p:sp>
      <p:sp>
        <p:nvSpPr>
          <p:cNvPr id="12" name="AGENT_FOOTER"/>
          <p:cNvSpPr txBox="1"/>
          <p:nvPr/>
        </p:nvSpPr>
        <p:spPr>
          <a:xfrm>
            <a:off x="320040" y="6510528"/>
            <a:ext cx="859536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纯视觉芍药行间除草机器人 · 组会汇报 · 2026-09-16</a:t>
            </a:r>
          </a:p>
        </p:txBody>
      </p:sp>
      <p:sp>
        <p:nvSpPr>
          <p:cNvPr id="13" name="AGENT_PAGE_NUMBER"/>
          <p:cNvSpPr txBox="1"/>
          <p:nvPr/>
        </p:nvSpPr>
        <p:spPr>
          <a:xfrm>
            <a:off x="11521440" y="6501384"/>
            <a:ext cx="256032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10</a:t>
            </a:r>
          </a:p>
        </p:txBody>
      </p:sp>
      <p:sp>
        <p:nvSpPr>
          <p:cNvPr id="14" name="AGENT_TITLE"/>
          <p:cNvSpPr txBox="1"/>
          <p:nvPr/>
        </p:nvSpPr>
        <p:spPr>
          <a:xfrm>
            <a:off x="320040" y="539496"/>
            <a:ext cx="1129284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0" ea="Microsoft YaHei">
                <a:solidFill>
                  <a:srgbClr val="8B0D18"/>
                </a:solidFill>
                <a:latin typeface="Microsoft YaHei"/>
              </a:rPr>
              <a:t>分割分数不等于能导航，评价要分三层</a:t>
            </a:r>
          </a:p>
        </p:txBody>
      </p:sp>
      <p:sp>
        <p:nvSpPr>
          <p:cNvPr id="15" name="AGENT_TEXT_PANEL"/>
          <p:cNvSpPr/>
          <p:nvPr/>
        </p:nvSpPr>
        <p:spPr>
          <a:xfrm>
            <a:off x="685800" y="1417320"/>
            <a:ext cx="10835640" cy="4434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GENT_BODY"/>
          <p:cNvSpPr txBox="1"/>
          <p:nvPr/>
        </p:nvSpPr>
        <p:spPr>
          <a:xfrm>
            <a:off x="960120" y="1664208"/>
            <a:ext cx="10287000" cy="3931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 ea="Microsoft YaHei">
                <a:solidFill>
                  <a:srgbClr val="1E1E1E"/>
                </a:solidFill>
                <a:latin typeface="Microsoft YaHei"/>
              </a:rPr>
              <a:t>1. 大片裸土分对，不保证近作物那几十像素边界准
2. 对刀具而言，少量边界像素错就可能造成明显偏移
3. 三层评价：分割指标 / 导航线误差与失效 / 田间效果
4. 真值必须独立标注，不能拿算法自己的输出当真值
5. 实际输出与失效样例：现场演示，未放入本 PPT</a:t>
            </a:r>
          </a:p>
        </p:txBody>
      </p:sp>
      <p:sp>
        <p:nvSpPr>
          <p:cNvPr id="17" name="AGENT_TAKEAWAY"/>
          <p:cNvSpPr txBox="1"/>
          <p:nvPr/>
        </p:nvSpPr>
        <p:spPr>
          <a:xfrm>
            <a:off x="868680" y="5989320"/>
            <a:ext cx="10195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ea="Microsoft YaHei">
                <a:solidFill>
                  <a:srgbClr val="8B0D18"/>
                </a:solidFill>
                <a:latin typeface="Microsoft YaHei"/>
              </a:rPr>
              <a:t>目前只有第一层有数，后两层的真值还没标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GENT_NAV_SLOT_0"/>
          <p:cNvSpPr/>
          <p:nvPr/>
        </p:nvSpPr>
        <p:spPr>
          <a:xfrm>
            <a:off x="146304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GENT_NAV_LABEL_0"/>
          <p:cNvSpPr txBox="1"/>
          <p:nvPr/>
        </p:nvSpPr>
        <p:spPr>
          <a:xfrm>
            <a:off x="146304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立题与约束</a:t>
            </a:r>
          </a:p>
        </p:txBody>
      </p:sp>
      <p:sp>
        <p:nvSpPr>
          <p:cNvPr id="4" name="AGENT_NAV_SLOT_1"/>
          <p:cNvSpPr/>
          <p:nvPr/>
        </p:nvSpPr>
        <p:spPr>
          <a:xfrm>
            <a:off x="2525572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GENT_NAV_LABEL_1"/>
          <p:cNvSpPr txBox="1"/>
          <p:nvPr/>
        </p:nvSpPr>
        <p:spPr>
          <a:xfrm>
            <a:off x="2525572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除草机构选型</a:t>
            </a:r>
          </a:p>
        </p:txBody>
      </p:sp>
      <p:sp>
        <p:nvSpPr>
          <p:cNvPr id="6" name="AGENT_NAV_SLOT_2"/>
          <p:cNvSpPr/>
          <p:nvPr/>
        </p:nvSpPr>
        <p:spPr>
          <a:xfrm>
            <a:off x="4904841" y="27432"/>
            <a:ext cx="2379268" cy="347472"/>
          </a:xfrm>
          <a:prstGeom prst="rect">
            <a:avLst/>
          </a:prstGeom>
          <a:solidFill>
            <a:srgbClr val="8B0D18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GENT_NAV_LABEL_2"/>
          <p:cNvSpPr txBox="1"/>
          <p:nvPr/>
        </p:nvSpPr>
        <p:spPr>
          <a:xfrm>
            <a:off x="4904841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 ea="Microsoft YaHei">
                <a:solidFill>
                  <a:srgbClr val="FFFFFF"/>
                </a:solidFill>
                <a:latin typeface="Microsoft YaHei"/>
              </a:rPr>
              <a:t>设计与控制原理</a:t>
            </a:r>
          </a:p>
        </p:txBody>
      </p:sp>
      <p:sp>
        <p:nvSpPr>
          <p:cNvPr id="8" name="AGENT_NAV_SLOT_3"/>
          <p:cNvSpPr/>
          <p:nvPr/>
        </p:nvSpPr>
        <p:spPr>
          <a:xfrm>
            <a:off x="7284110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GENT_NAV_LABEL_3"/>
          <p:cNvSpPr txBox="1"/>
          <p:nvPr/>
        </p:nvSpPr>
        <p:spPr>
          <a:xfrm>
            <a:off x="7284110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进土深度问题</a:t>
            </a:r>
          </a:p>
        </p:txBody>
      </p:sp>
      <p:sp>
        <p:nvSpPr>
          <p:cNvPr id="10" name="AGENT_NAV_SLOT_4"/>
          <p:cNvSpPr/>
          <p:nvPr/>
        </p:nvSpPr>
        <p:spPr>
          <a:xfrm>
            <a:off x="9663379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GENT_NAV_LABEL_4"/>
          <p:cNvSpPr txBox="1"/>
          <p:nvPr/>
        </p:nvSpPr>
        <p:spPr>
          <a:xfrm>
            <a:off x="9663379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进度与下一步</a:t>
            </a:r>
          </a:p>
        </p:txBody>
      </p:sp>
      <p:sp>
        <p:nvSpPr>
          <p:cNvPr id="12" name="AGENT_FOOTER"/>
          <p:cNvSpPr txBox="1"/>
          <p:nvPr/>
        </p:nvSpPr>
        <p:spPr>
          <a:xfrm>
            <a:off x="320040" y="6510528"/>
            <a:ext cx="859536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纯视觉芍药行间除草机器人 · 组会汇报 · 2026-09-16</a:t>
            </a:r>
          </a:p>
        </p:txBody>
      </p:sp>
      <p:sp>
        <p:nvSpPr>
          <p:cNvPr id="13" name="AGENT_PAGE_NUMBER"/>
          <p:cNvSpPr txBox="1"/>
          <p:nvPr/>
        </p:nvSpPr>
        <p:spPr>
          <a:xfrm>
            <a:off x="11521440" y="6501384"/>
            <a:ext cx="256032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11</a:t>
            </a:r>
          </a:p>
        </p:txBody>
      </p:sp>
      <p:sp>
        <p:nvSpPr>
          <p:cNvPr id="14" name="AGENT_TITLE"/>
          <p:cNvSpPr txBox="1"/>
          <p:nvPr/>
        </p:nvSpPr>
        <p:spPr>
          <a:xfrm>
            <a:off x="320040" y="539496"/>
            <a:ext cx="1129284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0" ea="Microsoft YaHei">
                <a:solidFill>
                  <a:srgbClr val="8B0D18"/>
                </a:solidFill>
                <a:latin typeface="Microsoft YaHei"/>
              </a:rPr>
              <a:t>行墙提取分远近两场，三条目标线要分开</a:t>
            </a:r>
          </a:p>
        </p:txBody>
      </p:sp>
      <p:sp>
        <p:nvSpPr>
          <p:cNvPr id="15" name="AGENT_STEP_BOX_0"/>
          <p:cNvSpPr/>
          <p:nvPr/>
        </p:nvSpPr>
        <p:spPr>
          <a:xfrm>
            <a:off x="1051560" y="2743200"/>
            <a:ext cx="1847088" cy="9144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GENT_STEP_TEXT_0"/>
          <p:cNvSpPr txBox="1"/>
          <p:nvPr/>
        </p:nvSpPr>
        <p:spPr>
          <a:xfrm>
            <a:off x="1124712" y="2880360"/>
            <a:ext cx="170078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ea="Microsoft YaHei">
                <a:solidFill>
                  <a:srgbClr val="1E1E1E"/>
                </a:solidFill>
                <a:latin typeface="Microsoft YaHei"/>
              </a:rPr>
              <a:t>去畸变</a:t>
            </a:r>
          </a:p>
        </p:txBody>
      </p:sp>
      <p:sp>
        <p:nvSpPr>
          <p:cNvPr id="17" name="AGENT_STEP_ARROW_0"/>
          <p:cNvSpPr txBox="1"/>
          <p:nvPr/>
        </p:nvSpPr>
        <p:spPr>
          <a:xfrm>
            <a:off x="2971800" y="2935224"/>
            <a:ext cx="164592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00" b="1" ea="Microsoft YaHei">
                <a:solidFill>
                  <a:srgbClr val="8B0D18"/>
                </a:solidFill>
                <a:latin typeface="Microsoft YaHei"/>
              </a:rPr>
              <a:t>→</a:t>
            </a:r>
          </a:p>
        </p:txBody>
      </p:sp>
      <p:sp>
        <p:nvSpPr>
          <p:cNvPr id="18" name="AGENT_STEP_BOX_1"/>
          <p:cNvSpPr/>
          <p:nvPr/>
        </p:nvSpPr>
        <p:spPr>
          <a:xfrm>
            <a:off x="3044952" y="2743200"/>
            <a:ext cx="1847088" cy="9144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GENT_STEP_TEXT_1"/>
          <p:cNvSpPr txBox="1"/>
          <p:nvPr/>
        </p:nvSpPr>
        <p:spPr>
          <a:xfrm>
            <a:off x="3118104" y="2880360"/>
            <a:ext cx="170078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ea="Microsoft YaHei">
                <a:solidFill>
                  <a:srgbClr val="1E1E1E"/>
                </a:solidFill>
                <a:latin typeface="Microsoft YaHei"/>
              </a:rPr>
              <a:t>IPM 投影</a:t>
            </a:r>
          </a:p>
        </p:txBody>
      </p:sp>
      <p:sp>
        <p:nvSpPr>
          <p:cNvPr id="20" name="AGENT_STEP_ARROW_1"/>
          <p:cNvSpPr txBox="1"/>
          <p:nvPr/>
        </p:nvSpPr>
        <p:spPr>
          <a:xfrm>
            <a:off x="4965192" y="2935224"/>
            <a:ext cx="164592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00" b="1" ea="Microsoft YaHei">
                <a:solidFill>
                  <a:srgbClr val="8B0D18"/>
                </a:solidFill>
                <a:latin typeface="Microsoft YaHei"/>
              </a:rPr>
              <a:t>→</a:t>
            </a:r>
          </a:p>
        </p:txBody>
      </p:sp>
      <p:sp>
        <p:nvSpPr>
          <p:cNvPr id="21" name="AGENT_STEP_BOX_2"/>
          <p:cNvSpPr/>
          <p:nvPr/>
        </p:nvSpPr>
        <p:spPr>
          <a:xfrm>
            <a:off x="5038344" y="2743200"/>
            <a:ext cx="1847088" cy="9144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GENT_STEP_TEXT_2"/>
          <p:cNvSpPr txBox="1"/>
          <p:nvPr/>
        </p:nvSpPr>
        <p:spPr>
          <a:xfrm>
            <a:off x="5111496" y="2880360"/>
            <a:ext cx="170078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ea="Microsoft YaHei">
                <a:solidFill>
                  <a:srgbClr val="1E1E1E"/>
                </a:solidFill>
                <a:latin typeface="Microsoft YaHei"/>
              </a:rPr>
              <a:t>双墙拟合</a:t>
            </a:r>
          </a:p>
        </p:txBody>
      </p:sp>
      <p:sp>
        <p:nvSpPr>
          <p:cNvPr id="23" name="AGENT_STEP_ARROW_2"/>
          <p:cNvSpPr txBox="1"/>
          <p:nvPr/>
        </p:nvSpPr>
        <p:spPr>
          <a:xfrm>
            <a:off x="6958584" y="2935224"/>
            <a:ext cx="164592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00" b="1" ea="Microsoft YaHei">
                <a:solidFill>
                  <a:srgbClr val="8B0D18"/>
                </a:solidFill>
                <a:latin typeface="Microsoft YaHei"/>
              </a:rPr>
              <a:t>→</a:t>
            </a:r>
          </a:p>
        </p:txBody>
      </p:sp>
      <p:sp>
        <p:nvSpPr>
          <p:cNvPr id="24" name="AGENT_STEP_BOX_3"/>
          <p:cNvSpPr/>
          <p:nvPr/>
        </p:nvSpPr>
        <p:spPr>
          <a:xfrm>
            <a:off x="7031736" y="2743200"/>
            <a:ext cx="1847088" cy="9144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AGENT_STEP_TEXT_3"/>
          <p:cNvSpPr txBox="1"/>
          <p:nvPr/>
        </p:nvSpPr>
        <p:spPr>
          <a:xfrm>
            <a:off x="7104888" y="2880360"/>
            <a:ext cx="170078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ea="Microsoft YaHei">
                <a:solidFill>
                  <a:srgbClr val="1E1E1E"/>
                </a:solidFill>
                <a:latin typeface="Microsoft YaHei"/>
              </a:rPr>
              <a:t>远/近场中心线</a:t>
            </a:r>
          </a:p>
        </p:txBody>
      </p:sp>
      <p:sp>
        <p:nvSpPr>
          <p:cNvPr id="26" name="AGENT_STEP_ARROW_3"/>
          <p:cNvSpPr txBox="1"/>
          <p:nvPr/>
        </p:nvSpPr>
        <p:spPr>
          <a:xfrm>
            <a:off x="8951976" y="2935224"/>
            <a:ext cx="164592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00" b="1" ea="Microsoft YaHei">
                <a:solidFill>
                  <a:srgbClr val="8B0D18"/>
                </a:solidFill>
                <a:latin typeface="Microsoft YaHei"/>
              </a:rPr>
              <a:t>→</a:t>
            </a:r>
          </a:p>
        </p:txBody>
      </p:sp>
      <p:sp>
        <p:nvSpPr>
          <p:cNvPr id="27" name="AGENT_STEP_BOX_4"/>
          <p:cNvSpPr/>
          <p:nvPr/>
        </p:nvSpPr>
        <p:spPr>
          <a:xfrm>
            <a:off x="9025128" y="2743200"/>
            <a:ext cx="1847088" cy="9144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AGENT_STEP_TEXT_4"/>
          <p:cNvSpPr txBox="1"/>
          <p:nvPr/>
        </p:nvSpPr>
        <p:spPr>
          <a:xfrm>
            <a:off x="9098280" y="2880360"/>
            <a:ext cx="170078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ea="Microsoft YaHei">
                <a:solidFill>
                  <a:srgbClr val="1E1E1E"/>
                </a:solidFill>
                <a:latin typeface="Microsoft YaHei"/>
              </a:rPr>
              <a:t>横向偏差</a:t>
            </a:r>
          </a:p>
        </p:txBody>
      </p:sp>
      <p:sp>
        <p:nvSpPr>
          <p:cNvPr id="29" name="AGENT_BODY"/>
          <p:cNvSpPr txBox="1"/>
          <p:nvPr/>
        </p:nvSpPr>
        <p:spPr>
          <a:xfrm>
            <a:off x="1005840" y="4251960"/>
            <a:ext cx="996696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1. 作物行中心 / 通道中心 / 作业带中心，三者可能不重合
2. 不重合的原因：农艺保护带、叶片伸展、刀具宽度
3. 现状：IPM 梯形与尺度仍为硬编码，低机位标定未做</a:t>
            </a:r>
          </a:p>
        </p:txBody>
      </p:sp>
      <p:sp>
        <p:nvSpPr>
          <p:cNvPr id="30" name="AGENT_TAKEAWAY"/>
          <p:cNvSpPr txBox="1"/>
          <p:nvPr/>
        </p:nvSpPr>
        <p:spPr>
          <a:xfrm>
            <a:off x="868680" y="5989320"/>
            <a:ext cx="10195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ea="Microsoft YaHei">
                <a:solidFill>
                  <a:srgbClr val="8B0D18"/>
                </a:solidFill>
                <a:latin typeface="Microsoft YaHei"/>
              </a:rPr>
              <a:t>第三条线才是刀具要走的那条，须在论文里定义清楚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GENT_NAV_SLOT_0"/>
          <p:cNvSpPr/>
          <p:nvPr/>
        </p:nvSpPr>
        <p:spPr>
          <a:xfrm>
            <a:off x="146304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GENT_NAV_LABEL_0"/>
          <p:cNvSpPr txBox="1"/>
          <p:nvPr/>
        </p:nvSpPr>
        <p:spPr>
          <a:xfrm>
            <a:off x="146304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立题与约束</a:t>
            </a:r>
          </a:p>
        </p:txBody>
      </p:sp>
      <p:sp>
        <p:nvSpPr>
          <p:cNvPr id="4" name="AGENT_NAV_SLOT_1"/>
          <p:cNvSpPr/>
          <p:nvPr/>
        </p:nvSpPr>
        <p:spPr>
          <a:xfrm>
            <a:off x="2525572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GENT_NAV_LABEL_1"/>
          <p:cNvSpPr txBox="1"/>
          <p:nvPr/>
        </p:nvSpPr>
        <p:spPr>
          <a:xfrm>
            <a:off x="2525572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除草机构选型</a:t>
            </a:r>
          </a:p>
        </p:txBody>
      </p:sp>
      <p:sp>
        <p:nvSpPr>
          <p:cNvPr id="6" name="AGENT_NAV_SLOT_2"/>
          <p:cNvSpPr/>
          <p:nvPr/>
        </p:nvSpPr>
        <p:spPr>
          <a:xfrm>
            <a:off x="4904841" y="27432"/>
            <a:ext cx="2379268" cy="347472"/>
          </a:xfrm>
          <a:prstGeom prst="rect">
            <a:avLst/>
          </a:prstGeom>
          <a:solidFill>
            <a:srgbClr val="8B0D18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GENT_NAV_LABEL_2"/>
          <p:cNvSpPr txBox="1"/>
          <p:nvPr/>
        </p:nvSpPr>
        <p:spPr>
          <a:xfrm>
            <a:off x="4904841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 ea="Microsoft YaHei">
                <a:solidFill>
                  <a:srgbClr val="FFFFFF"/>
                </a:solidFill>
                <a:latin typeface="Microsoft YaHei"/>
              </a:rPr>
              <a:t>设计与控制原理</a:t>
            </a:r>
          </a:p>
        </p:txBody>
      </p:sp>
      <p:sp>
        <p:nvSpPr>
          <p:cNvPr id="8" name="AGENT_NAV_SLOT_3"/>
          <p:cNvSpPr/>
          <p:nvPr/>
        </p:nvSpPr>
        <p:spPr>
          <a:xfrm>
            <a:off x="7284110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GENT_NAV_LABEL_3"/>
          <p:cNvSpPr txBox="1"/>
          <p:nvPr/>
        </p:nvSpPr>
        <p:spPr>
          <a:xfrm>
            <a:off x="7284110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进土深度问题</a:t>
            </a:r>
          </a:p>
        </p:txBody>
      </p:sp>
      <p:sp>
        <p:nvSpPr>
          <p:cNvPr id="10" name="AGENT_NAV_SLOT_4"/>
          <p:cNvSpPr/>
          <p:nvPr/>
        </p:nvSpPr>
        <p:spPr>
          <a:xfrm>
            <a:off x="9663379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GENT_NAV_LABEL_4"/>
          <p:cNvSpPr txBox="1"/>
          <p:nvPr/>
        </p:nvSpPr>
        <p:spPr>
          <a:xfrm>
            <a:off x="9663379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进度与下一步</a:t>
            </a:r>
          </a:p>
        </p:txBody>
      </p:sp>
      <p:sp>
        <p:nvSpPr>
          <p:cNvPr id="12" name="AGENT_FOOTER"/>
          <p:cNvSpPr txBox="1"/>
          <p:nvPr/>
        </p:nvSpPr>
        <p:spPr>
          <a:xfrm>
            <a:off x="320040" y="6510528"/>
            <a:ext cx="859536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纯视觉芍药行间除草机器人 · 组会汇报 · 2026-09-16</a:t>
            </a:r>
          </a:p>
        </p:txBody>
      </p:sp>
      <p:sp>
        <p:nvSpPr>
          <p:cNvPr id="13" name="AGENT_PAGE_NUMBER"/>
          <p:cNvSpPr txBox="1"/>
          <p:nvPr/>
        </p:nvSpPr>
        <p:spPr>
          <a:xfrm>
            <a:off x="11521440" y="6501384"/>
            <a:ext cx="256032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12</a:t>
            </a:r>
          </a:p>
        </p:txBody>
      </p:sp>
      <p:sp>
        <p:nvSpPr>
          <p:cNvPr id="14" name="AGENT_TITLE"/>
          <p:cNvSpPr txBox="1"/>
          <p:nvPr/>
        </p:nvSpPr>
        <p:spPr>
          <a:xfrm>
            <a:off x="320040" y="539496"/>
            <a:ext cx="1129284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0" ea="Microsoft YaHei">
                <a:solidFill>
                  <a:srgbClr val="8B0D18"/>
                </a:solidFill>
                <a:latin typeface="Microsoft YaHei"/>
              </a:rPr>
              <a:t>轨迹跟踪用 PD 加横向速率阻尼</a:t>
            </a:r>
          </a:p>
        </p:txBody>
      </p:sp>
      <p:sp>
        <p:nvSpPr>
          <p:cNvPr id="15" name="AGENT_TEXT_PANEL"/>
          <p:cNvSpPr/>
          <p:nvPr/>
        </p:nvSpPr>
        <p:spPr>
          <a:xfrm>
            <a:off x="685800" y="1417320"/>
            <a:ext cx="10835640" cy="4434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GENT_BODY"/>
          <p:cNvSpPr txBox="1"/>
          <p:nvPr/>
        </p:nvSpPr>
        <p:spPr>
          <a:xfrm>
            <a:off x="960120" y="1664208"/>
            <a:ext cx="10287000" cy="3931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 ea="Microsoft YaHei">
                <a:solidFill>
                  <a:srgbClr val="1E1E1E"/>
                </a:solidFill>
                <a:latin typeface="Microsoft YaHei"/>
              </a:rPr>
              <a:t>1. 控制律 PD(e, ė)：e 为横向偏差，ė 由相邻帧估计
2. 为什么加 ė：只看 e 会振荡，阻尼项用来压超调
3. 时延补偿取 e + ė·τ，不用前移量 v·τ（两者不同源）
4. 当前 AUTO 只发左右轮速，四轮转角在 AUTO 下强制回零
5. 转向几何按前轮 Ackermann + 后轮回正，属实现细节</a:t>
            </a:r>
          </a:p>
        </p:txBody>
      </p:sp>
      <p:sp>
        <p:nvSpPr>
          <p:cNvPr id="17" name="AGENT_TAKEAWAY"/>
          <p:cNvSpPr txBox="1"/>
          <p:nvPr/>
        </p:nvSpPr>
        <p:spPr>
          <a:xfrm>
            <a:off x="868680" y="5989320"/>
            <a:ext cx="10195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ea="Microsoft YaHei">
                <a:solidFill>
                  <a:srgbClr val="8B0D18"/>
                </a:solidFill>
                <a:latin typeface="Microsoft YaHei"/>
              </a:rPr>
              <a:t>差速 AUTO 的结果不能写成四轮转向自主控制已实现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GENT_NAV_SLOT_0"/>
          <p:cNvSpPr/>
          <p:nvPr/>
        </p:nvSpPr>
        <p:spPr>
          <a:xfrm>
            <a:off x="146304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GENT_NAV_LABEL_0"/>
          <p:cNvSpPr txBox="1"/>
          <p:nvPr/>
        </p:nvSpPr>
        <p:spPr>
          <a:xfrm>
            <a:off x="146304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立题与约束</a:t>
            </a:r>
          </a:p>
        </p:txBody>
      </p:sp>
      <p:sp>
        <p:nvSpPr>
          <p:cNvPr id="4" name="AGENT_NAV_SLOT_1"/>
          <p:cNvSpPr/>
          <p:nvPr/>
        </p:nvSpPr>
        <p:spPr>
          <a:xfrm>
            <a:off x="2525572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GENT_NAV_LABEL_1"/>
          <p:cNvSpPr txBox="1"/>
          <p:nvPr/>
        </p:nvSpPr>
        <p:spPr>
          <a:xfrm>
            <a:off x="2525572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除草机构选型</a:t>
            </a:r>
          </a:p>
        </p:txBody>
      </p:sp>
      <p:sp>
        <p:nvSpPr>
          <p:cNvPr id="6" name="AGENT_NAV_SLOT_2"/>
          <p:cNvSpPr/>
          <p:nvPr/>
        </p:nvSpPr>
        <p:spPr>
          <a:xfrm>
            <a:off x="4904841" y="27432"/>
            <a:ext cx="2379268" cy="347472"/>
          </a:xfrm>
          <a:prstGeom prst="rect">
            <a:avLst/>
          </a:prstGeom>
          <a:solidFill>
            <a:srgbClr val="8B0D18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GENT_NAV_LABEL_2"/>
          <p:cNvSpPr txBox="1"/>
          <p:nvPr/>
        </p:nvSpPr>
        <p:spPr>
          <a:xfrm>
            <a:off x="4904841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 ea="Microsoft YaHei">
                <a:solidFill>
                  <a:srgbClr val="FFFFFF"/>
                </a:solidFill>
                <a:latin typeface="Microsoft YaHei"/>
              </a:rPr>
              <a:t>设计与控制原理</a:t>
            </a:r>
          </a:p>
        </p:txBody>
      </p:sp>
      <p:sp>
        <p:nvSpPr>
          <p:cNvPr id="8" name="AGENT_NAV_SLOT_3"/>
          <p:cNvSpPr/>
          <p:nvPr/>
        </p:nvSpPr>
        <p:spPr>
          <a:xfrm>
            <a:off x="7284110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GENT_NAV_LABEL_3"/>
          <p:cNvSpPr txBox="1"/>
          <p:nvPr/>
        </p:nvSpPr>
        <p:spPr>
          <a:xfrm>
            <a:off x="7284110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进土深度问题</a:t>
            </a:r>
          </a:p>
        </p:txBody>
      </p:sp>
      <p:sp>
        <p:nvSpPr>
          <p:cNvPr id="10" name="AGENT_NAV_SLOT_4"/>
          <p:cNvSpPr/>
          <p:nvPr/>
        </p:nvSpPr>
        <p:spPr>
          <a:xfrm>
            <a:off x="9663379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GENT_NAV_LABEL_4"/>
          <p:cNvSpPr txBox="1"/>
          <p:nvPr/>
        </p:nvSpPr>
        <p:spPr>
          <a:xfrm>
            <a:off x="9663379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进度与下一步</a:t>
            </a:r>
          </a:p>
        </p:txBody>
      </p:sp>
      <p:sp>
        <p:nvSpPr>
          <p:cNvPr id="12" name="AGENT_FOOTER"/>
          <p:cNvSpPr txBox="1"/>
          <p:nvPr/>
        </p:nvSpPr>
        <p:spPr>
          <a:xfrm>
            <a:off x="320040" y="6510528"/>
            <a:ext cx="859536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纯视觉芍药行间除草机器人 · 组会汇报 · 2026-09-16</a:t>
            </a:r>
          </a:p>
        </p:txBody>
      </p:sp>
      <p:sp>
        <p:nvSpPr>
          <p:cNvPr id="13" name="AGENT_PAGE_NUMBER"/>
          <p:cNvSpPr txBox="1"/>
          <p:nvPr/>
        </p:nvSpPr>
        <p:spPr>
          <a:xfrm>
            <a:off x="11521440" y="6501384"/>
            <a:ext cx="256032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13</a:t>
            </a:r>
          </a:p>
        </p:txBody>
      </p:sp>
      <p:sp>
        <p:nvSpPr>
          <p:cNvPr id="14" name="AGENT_TITLE"/>
          <p:cNvSpPr txBox="1"/>
          <p:nvPr/>
        </p:nvSpPr>
        <p:spPr>
          <a:xfrm>
            <a:off x="320040" y="539496"/>
            <a:ext cx="1129284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0" ea="Microsoft YaHei">
                <a:solidFill>
                  <a:srgbClr val="8B0D18"/>
                </a:solidFill>
                <a:latin typeface="Microsoft YaHei"/>
              </a:rPr>
              <a:t>中间刀控制的关键不在参数，在误差定义</a:t>
            </a:r>
          </a:p>
        </p:txBody>
      </p:sp>
      <p:sp>
        <p:nvSpPr>
          <p:cNvPr id="15" name="AGENT_TEXT_PANEL"/>
          <p:cNvSpPr/>
          <p:nvPr/>
        </p:nvSpPr>
        <p:spPr>
          <a:xfrm>
            <a:off x="685800" y="1417320"/>
            <a:ext cx="10835640" cy="4434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GENT_BODY"/>
          <p:cNvSpPr txBox="1"/>
          <p:nvPr/>
        </p:nvSpPr>
        <p:spPr>
          <a:xfrm>
            <a:off x="960120" y="1664208"/>
            <a:ext cx="10287000" cy="3931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 ea="Microsoft YaHei">
                <a:solidFill>
                  <a:srgbClr val="1E1E1E"/>
                </a:solidFill>
                <a:latin typeface="Microsoft YaHei"/>
              </a:rPr>
              <a:t>1. 相机固连车体，滑台横移并不改变图像里的偏差量
2. 真闭环误差应为：目标刀位 − 刀位实测 q
3. 现状：主入口把图像偏差直接送进位置式 PID
4. 纯函数复现：保持 20 mm 偏差，34 s 累积至 50 mm 限幅
5. 应分开描述：视觉外环 / 位置前馈 / 伺服内环</a:t>
            </a:r>
          </a:p>
        </p:txBody>
      </p:sp>
      <p:sp>
        <p:nvSpPr>
          <p:cNvPr id="17" name="AGENT_TAKEAWAY"/>
          <p:cNvSpPr txBox="1"/>
          <p:nvPr/>
        </p:nvSpPr>
        <p:spPr>
          <a:xfrm>
            <a:off x="868680" y="5989320"/>
            <a:ext cx="10195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ea="Microsoft YaHei">
                <a:solidFill>
                  <a:srgbClr val="8B0D18"/>
                </a:solidFill>
                <a:latin typeface="Microsoft YaHei"/>
              </a:rPr>
              <a:t>误差来源讲清之前，不提主动对刀闭环已完成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GENT_NAV_SLOT_0"/>
          <p:cNvSpPr/>
          <p:nvPr/>
        </p:nvSpPr>
        <p:spPr>
          <a:xfrm>
            <a:off x="146304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GENT_NAV_LABEL_0"/>
          <p:cNvSpPr txBox="1"/>
          <p:nvPr/>
        </p:nvSpPr>
        <p:spPr>
          <a:xfrm>
            <a:off x="146304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立题与约束</a:t>
            </a:r>
          </a:p>
        </p:txBody>
      </p:sp>
      <p:sp>
        <p:nvSpPr>
          <p:cNvPr id="4" name="AGENT_NAV_SLOT_1"/>
          <p:cNvSpPr/>
          <p:nvPr/>
        </p:nvSpPr>
        <p:spPr>
          <a:xfrm>
            <a:off x="2525572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GENT_NAV_LABEL_1"/>
          <p:cNvSpPr txBox="1"/>
          <p:nvPr/>
        </p:nvSpPr>
        <p:spPr>
          <a:xfrm>
            <a:off x="2525572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除草机构选型</a:t>
            </a:r>
          </a:p>
        </p:txBody>
      </p:sp>
      <p:sp>
        <p:nvSpPr>
          <p:cNvPr id="6" name="AGENT_NAV_SLOT_2"/>
          <p:cNvSpPr/>
          <p:nvPr/>
        </p:nvSpPr>
        <p:spPr>
          <a:xfrm>
            <a:off x="4904841" y="27432"/>
            <a:ext cx="2379268" cy="347472"/>
          </a:xfrm>
          <a:prstGeom prst="rect">
            <a:avLst/>
          </a:prstGeom>
          <a:solidFill>
            <a:srgbClr val="8B0D18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GENT_NAV_LABEL_2"/>
          <p:cNvSpPr txBox="1"/>
          <p:nvPr/>
        </p:nvSpPr>
        <p:spPr>
          <a:xfrm>
            <a:off x="4904841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 ea="Microsoft YaHei">
                <a:solidFill>
                  <a:srgbClr val="FFFFFF"/>
                </a:solidFill>
                <a:latin typeface="Microsoft YaHei"/>
              </a:rPr>
              <a:t>设计与控制原理</a:t>
            </a:r>
          </a:p>
        </p:txBody>
      </p:sp>
      <p:sp>
        <p:nvSpPr>
          <p:cNvPr id="8" name="AGENT_NAV_SLOT_3"/>
          <p:cNvSpPr/>
          <p:nvPr/>
        </p:nvSpPr>
        <p:spPr>
          <a:xfrm>
            <a:off x="7284110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GENT_NAV_LABEL_3"/>
          <p:cNvSpPr txBox="1"/>
          <p:nvPr/>
        </p:nvSpPr>
        <p:spPr>
          <a:xfrm>
            <a:off x="7284110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进土深度问题</a:t>
            </a:r>
          </a:p>
        </p:txBody>
      </p:sp>
      <p:sp>
        <p:nvSpPr>
          <p:cNvPr id="10" name="AGENT_NAV_SLOT_4"/>
          <p:cNvSpPr/>
          <p:nvPr/>
        </p:nvSpPr>
        <p:spPr>
          <a:xfrm>
            <a:off x="9663379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GENT_NAV_LABEL_4"/>
          <p:cNvSpPr txBox="1"/>
          <p:nvPr/>
        </p:nvSpPr>
        <p:spPr>
          <a:xfrm>
            <a:off x="9663379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进度与下一步</a:t>
            </a:r>
          </a:p>
        </p:txBody>
      </p:sp>
      <p:sp>
        <p:nvSpPr>
          <p:cNvPr id="12" name="AGENT_FOOTER"/>
          <p:cNvSpPr txBox="1"/>
          <p:nvPr/>
        </p:nvSpPr>
        <p:spPr>
          <a:xfrm>
            <a:off x="320040" y="6510528"/>
            <a:ext cx="859536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纯视觉芍药行间除草机器人 · 组会汇报 · 2026-09-16</a:t>
            </a:r>
          </a:p>
        </p:txBody>
      </p:sp>
      <p:sp>
        <p:nvSpPr>
          <p:cNvPr id="13" name="AGENT_PAGE_NUMBER"/>
          <p:cNvSpPr txBox="1"/>
          <p:nvPr/>
        </p:nvSpPr>
        <p:spPr>
          <a:xfrm>
            <a:off x="11521440" y="6501384"/>
            <a:ext cx="256032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14</a:t>
            </a:r>
          </a:p>
        </p:txBody>
      </p:sp>
      <p:sp>
        <p:nvSpPr>
          <p:cNvPr id="14" name="AGENT_TITLE"/>
          <p:cNvSpPr txBox="1"/>
          <p:nvPr/>
        </p:nvSpPr>
        <p:spPr>
          <a:xfrm>
            <a:off x="320040" y="539496"/>
            <a:ext cx="1129284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0" ea="Microsoft YaHei">
                <a:solidFill>
                  <a:srgbClr val="8B0D18"/>
                </a:solidFill>
                <a:latin typeface="Microsoft YaHei"/>
              </a:rPr>
              <a:t>升降管三梁、横移管中间刀，两套机构</a:t>
            </a:r>
          </a:p>
        </p:txBody>
      </p:sp>
      <p:sp>
        <p:nvSpPr>
          <p:cNvPr id="15" name="AGENT_SUMMARY_LINE_0"/>
          <p:cNvSpPr/>
          <p:nvPr/>
        </p:nvSpPr>
        <p:spPr>
          <a:xfrm>
            <a:off x="868680" y="1417320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GENT_SUMMARY_LABEL_0"/>
          <p:cNvSpPr txBox="1"/>
          <p:nvPr/>
        </p:nvSpPr>
        <p:spPr>
          <a:xfrm>
            <a:off x="960120" y="1527048"/>
            <a:ext cx="1828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ea="Microsoft YaHei">
                <a:solidFill>
                  <a:srgbClr val="8B0D18"/>
                </a:solidFill>
                <a:latin typeface="Microsoft YaHei"/>
              </a:rPr>
              <a:t>升降</a:t>
            </a:r>
          </a:p>
        </p:txBody>
      </p:sp>
      <p:sp>
        <p:nvSpPr>
          <p:cNvPr id="17" name="AGENT_SUMMARY_VALUE_0"/>
          <p:cNvSpPr txBox="1"/>
          <p:nvPr/>
        </p:nvSpPr>
        <p:spPr>
          <a:xfrm>
            <a:off x="2926080" y="1527048"/>
            <a:ext cx="7909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3×电推杆 48 V／200 mm／10 mm/s／3000 N，被动进土</a:t>
            </a:r>
          </a:p>
        </p:txBody>
      </p:sp>
      <p:sp>
        <p:nvSpPr>
          <p:cNvPr id="18" name="AGENT_SUMMARY_LINE_1"/>
          <p:cNvSpPr/>
          <p:nvPr/>
        </p:nvSpPr>
        <p:spPr>
          <a:xfrm>
            <a:off x="868680" y="2267712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GENT_SUMMARY_LABEL_1"/>
          <p:cNvSpPr txBox="1"/>
          <p:nvPr/>
        </p:nvSpPr>
        <p:spPr>
          <a:xfrm>
            <a:off x="960120" y="2377440"/>
            <a:ext cx="1828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ea="Microsoft YaHei">
                <a:solidFill>
                  <a:srgbClr val="8B0D18"/>
                </a:solidFill>
                <a:latin typeface="Microsoft YaHei"/>
              </a:rPr>
              <a:t>横移</a:t>
            </a:r>
          </a:p>
        </p:txBody>
      </p:sp>
      <p:sp>
        <p:nvSpPr>
          <p:cNvPr id="20" name="AGENT_SUMMARY_VALUE_1"/>
          <p:cNvSpPr txBox="1"/>
          <p:nvPr/>
        </p:nvSpPr>
        <p:spPr>
          <a:xfrm>
            <a:off x="2926080" y="2377440"/>
            <a:ext cx="7909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48 V 直流伺服 + 300 mm 导轨 + 8 mm 导程丝杆</a:t>
            </a:r>
          </a:p>
        </p:txBody>
      </p:sp>
      <p:sp>
        <p:nvSpPr>
          <p:cNvPr id="21" name="AGENT_SUMMARY_LINE_2"/>
          <p:cNvSpPr/>
          <p:nvPr/>
        </p:nvSpPr>
        <p:spPr>
          <a:xfrm>
            <a:off x="868680" y="3118104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GENT_SUMMARY_LABEL_2"/>
          <p:cNvSpPr txBox="1"/>
          <p:nvPr/>
        </p:nvSpPr>
        <p:spPr>
          <a:xfrm>
            <a:off x="960120" y="3227832"/>
            <a:ext cx="1828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ea="Microsoft YaHei">
                <a:solidFill>
                  <a:srgbClr val="8B0D18"/>
                </a:solidFill>
                <a:latin typeface="Microsoft YaHei"/>
              </a:rPr>
              <a:t>控制形态</a:t>
            </a:r>
          </a:p>
        </p:txBody>
      </p:sp>
      <p:sp>
        <p:nvSpPr>
          <p:cNvPr id="23" name="AGENT_SUMMARY_VALUE_2"/>
          <p:cNvSpPr txBox="1"/>
          <p:nvPr/>
        </p:nvSpPr>
        <p:spPr>
          <a:xfrm>
            <a:off x="2926080" y="3227832"/>
            <a:ext cx="7909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固件为二值开关，仅提刀／落刀两态</a:t>
            </a:r>
          </a:p>
        </p:txBody>
      </p:sp>
      <p:sp>
        <p:nvSpPr>
          <p:cNvPr id="24" name="AGENT_SUMMARY_LINE_3"/>
          <p:cNvSpPr/>
          <p:nvPr/>
        </p:nvSpPr>
        <p:spPr>
          <a:xfrm>
            <a:off x="868680" y="3968496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AGENT_SUMMARY_LABEL_3"/>
          <p:cNvSpPr txBox="1"/>
          <p:nvPr/>
        </p:nvSpPr>
        <p:spPr>
          <a:xfrm>
            <a:off x="960120" y="4078224"/>
            <a:ext cx="1828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ea="Microsoft YaHei">
                <a:solidFill>
                  <a:srgbClr val="8B0D18"/>
                </a:solidFill>
                <a:latin typeface="Microsoft YaHei"/>
              </a:rPr>
              <a:t>默认态</a:t>
            </a:r>
          </a:p>
        </p:txBody>
      </p:sp>
      <p:sp>
        <p:nvSpPr>
          <p:cNvPr id="26" name="AGENT_SUMMARY_VALUE_3"/>
          <p:cNvSpPr txBox="1"/>
          <p:nvPr/>
        </p:nvSpPr>
        <p:spPr>
          <a:xfrm>
            <a:off x="2926080" y="4078224"/>
            <a:ext cx="7909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上电全提刀；急停时三梁同时提刀</a:t>
            </a:r>
          </a:p>
        </p:txBody>
      </p:sp>
      <p:sp>
        <p:nvSpPr>
          <p:cNvPr id="27" name="AGENT_SUMMARY_LINE_4"/>
          <p:cNvSpPr/>
          <p:nvPr/>
        </p:nvSpPr>
        <p:spPr>
          <a:xfrm>
            <a:off x="868680" y="4818888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AGENT_SUMMARY_LABEL_4"/>
          <p:cNvSpPr txBox="1"/>
          <p:nvPr/>
        </p:nvSpPr>
        <p:spPr>
          <a:xfrm>
            <a:off x="960120" y="4928616"/>
            <a:ext cx="1828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ea="Microsoft YaHei">
                <a:solidFill>
                  <a:srgbClr val="8B0D18"/>
                </a:solidFill>
                <a:latin typeface="Microsoft YaHei"/>
              </a:rPr>
              <a:t>待确认</a:t>
            </a:r>
          </a:p>
        </p:txBody>
      </p:sp>
      <p:sp>
        <p:nvSpPr>
          <p:cNvPr id="29" name="AGENT_SUMMARY_VALUE_4"/>
          <p:cNvSpPr txBox="1"/>
          <p:nvPr/>
        </p:nvSpPr>
        <p:spPr>
          <a:xfrm>
            <a:off x="2926080" y="4928616"/>
            <a:ext cx="7909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滑台未接线；刀梁接入待继电器板实物</a:t>
            </a:r>
          </a:p>
        </p:txBody>
      </p:sp>
      <p:sp>
        <p:nvSpPr>
          <p:cNvPr id="30" name="AGENT_TAKEAWAY"/>
          <p:cNvSpPr txBox="1"/>
          <p:nvPr/>
        </p:nvSpPr>
        <p:spPr>
          <a:xfrm>
            <a:off x="868680" y="5989320"/>
            <a:ext cx="10195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ea="Microsoft YaHei">
                <a:solidFill>
                  <a:srgbClr val="8B0D18"/>
                </a:solidFill>
                <a:latin typeface="Microsoft YaHei"/>
              </a:rPr>
              <a:t>10 mm/s 意味着全程 20 s，急停提刀时间指标要重评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GENT_NAV_SLOT_0"/>
          <p:cNvSpPr/>
          <p:nvPr/>
        </p:nvSpPr>
        <p:spPr>
          <a:xfrm>
            <a:off x="146304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GENT_NAV_LABEL_0"/>
          <p:cNvSpPr txBox="1"/>
          <p:nvPr/>
        </p:nvSpPr>
        <p:spPr>
          <a:xfrm>
            <a:off x="146304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立题与约束</a:t>
            </a:r>
          </a:p>
        </p:txBody>
      </p:sp>
      <p:sp>
        <p:nvSpPr>
          <p:cNvPr id="4" name="AGENT_NAV_SLOT_1"/>
          <p:cNvSpPr/>
          <p:nvPr/>
        </p:nvSpPr>
        <p:spPr>
          <a:xfrm>
            <a:off x="2525572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GENT_NAV_LABEL_1"/>
          <p:cNvSpPr txBox="1"/>
          <p:nvPr/>
        </p:nvSpPr>
        <p:spPr>
          <a:xfrm>
            <a:off x="2525572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除草机构选型</a:t>
            </a:r>
          </a:p>
        </p:txBody>
      </p:sp>
      <p:sp>
        <p:nvSpPr>
          <p:cNvPr id="6" name="AGENT_NAV_SLOT_2"/>
          <p:cNvSpPr/>
          <p:nvPr/>
        </p:nvSpPr>
        <p:spPr>
          <a:xfrm>
            <a:off x="4904841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GENT_NAV_LABEL_2"/>
          <p:cNvSpPr txBox="1"/>
          <p:nvPr/>
        </p:nvSpPr>
        <p:spPr>
          <a:xfrm>
            <a:off x="4904841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设计与控制原理</a:t>
            </a:r>
          </a:p>
        </p:txBody>
      </p:sp>
      <p:sp>
        <p:nvSpPr>
          <p:cNvPr id="8" name="AGENT_NAV_SLOT_3"/>
          <p:cNvSpPr/>
          <p:nvPr/>
        </p:nvSpPr>
        <p:spPr>
          <a:xfrm>
            <a:off x="7284110" y="27432"/>
            <a:ext cx="2379268" cy="347472"/>
          </a:xfrm>
          <a:prstGeom prst="rect">
            <a:avLst/>
          </a:prstGeom>
          <a:solidFill>
            <a:srgbClr val="8B0D18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GENT_NAV_LABEL_3"/>
          <p:cNvSpPr txBox="1"/>
          <p:nvPr/>
        </p:nvSpPr>
        <p:spPr>
          <a:xfrm>
            <a:off x="7284110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 ea="Microsoft YaHei">
                <a:solidFill>
                  <a:srgbClr val="FFFFFF"/>
                </a:solidFill>
                <a:latin typeface="Microsoft YaHei"/>
              </a:rPr>
              <a:t>进土深度问题</a:t>
            </a:r>
          </a:p>
        </p:txBody>
      </p:sp>
      <p:sp>
        <p:nvSpPr>
          <p:cNvPr id="10" name="AGENT_NAV_SLOT_4"/>
          <p:cNvSpPr/>
          <p:nvPr/>
        </p:nvSpPr>
        <p:spPr>
          <a:xfrm>
            <a:off x="9663379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GENT_NAV_LABEL_4"/>
          <p:cNvSpPr txBox="1"/>
          <p:nvPr/>
        </p:nvSpPr>
        <p:spPr>
          <a:xfrm>
            <a:off x="9663379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进度与下一步</a:t>
            </a:r>
          </a:p>
        </p:txBody>
      </p:sp>
      <p:sp>
        <p:nvSpPr>
          <p:cNvPr id="12" name="AGENT_FOOTER"/>
          <p:cNvSpPr txBox="1"/>
          <p:nvPr/>
        </p:nvSpPr>
        <p:spPr>
          <a:xfrm>
            <a:off x="320040" y="6510528"/>
            <a:ext cx="859536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纯视觉芍药行间除草机器人 · 组会汇报 · 2026-09-16</a:t>
            </a:r>
          </a:p>
        </p:txBody>
      </p:sp>
      <p:sp>
        <p:nvSpPr>
          <p:cNvPr id="13" name="AGENT_PAGE_NUMBER"/>
          <p:cNvSpPr txBox="1"/>
          <p:nvPr/>
        </p:nvSpPr>
        <p:spPr>
          <a:xfrm>
            <a:off x="11521440" y="6501384"/>
            <a:ext cx="256032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15</a:t>
            </a:r>
          </a:p>
        </p:txBody>
      </p:sp>
      <p:sp>
        <p:nvSpPr>
          <p:cNvPr id="14" name="AGENT_TITLE"/>
          <p:cNvSpPr txBox="1"/>
          <p:nvPr/>
        </p:nvSpPr>
        <p:spPr>
          <a:xfrm>
            <a:off x="320040" y="539496"/>
            <a:ext cx="1129284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0" ea="Microsoft YaHei">
                <a:solidFill>
                  <a:srgbClr val="8B0D18"/>
                </a:solidFill>
                <a:latin typeface="Microsoft YaHei"/>
              </a:rPr>
              <a:t>开放问题：进土深度目前没有可用反馈</a:t>
            </a:r>
          </a:p>
        </p:txBody>
      </p:sp>
      <p:sp>
        <p:nvSpPr>
          <p:cNvPr id="15" name="AGENT_TEXT_PANEL"/>
          <p:cNvSpPr/>
          <p:nvPr/>
        </p:nvSpPr>
        <p:spPr>
          <a:xfrm>
            <a:off x="685800" y="1417320"/>
            <a:ext cx="10835640" cy="4434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GENT_BODY"/>
          <p:cNvSpPr txBox="1"/>
          <p:nvPr/>
        </p:nvSpPr>
        <p:spPr>
          <a:xfrm>
            <a:off x="960120" y="1664208"/>
            <a:ext cx="10287000" cy="3931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 ea="Microsoft YaHei">
                <a:solidFill>
                  <a:srgbClr val="1E1E1E"/>
                </a:solidFill>
                <a:latin typeface="Microsoft YaHei"/>
              </a:rPr>
              <a:t>1. 电推杆只有供电与方向控制，无任何位置反馈通路登记
2. 协议 TOOL 帧只含横向偏移与升降位，没有深度字段
3. 板上三个限位是滑台防撞，不参与定深
4. 现有硬件下唯一可用量是时间：10 mm/s、全程 20 s
5. 后果：入土深度不能闭环，也给不出实测值</a:t>
            </a:r>
          </a:p>
        </p:txBody>
      </p:sp>
      <p:sp>
        <p:nvSpPr>
          <p:cNvPr id="17" name="AGENT_TAKEAWAY"/>
          <p:cNvSpPr txBox="1"/>
          <p:nvPr/>
        </p:nvSpPr>
        <p:spPr>
          <a:xfrm>
            <a:off x="868680" y="5989320"/>
            <a:ext cx="10195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ea="Microsoft YaHei">
                <a:solidFill>
                  <a:srgbClr val="8B0D18"/>
                </a:solidFill>
                <a:latin typeface="Microsoft YaHei"/>
              </a:rPr>
              <a:t>这直接影响春季能否解释除草率与伤苗率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GENT_NAV_SLOT_0"/>
          <p:cNvSpPr/>
          <p:nvPr/>
        </p:nvSpPr>
        <p:spPr>
          <a:xfrm>
            <a:off x="146304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GENT_NAV_LABEL_0"/>
          <p:cNvSpPr txBox="1"/>
          <p:nvPr/>
        </p:nvSpPr>
        <p:spPr>
          <a:xfrm>
            <a:off x="146304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立题与约束</a:t>
            </a:r>
          </a:p>
        </p:txBody>
      </p:sp>
      <p:sp>
        <p:nvSpPr>
          <p:cNvPr id="4" name="AGENT_NAV_SLOT_1"/>
          <p:cNvSpPr/>
          <p:nvPr/>
        </p:nvSpPr>
        <p:spPr>
          <a:xfrm>
            <a:off x="2525572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GENT_NAV_LABEL_1"/>
          <p:cNvSpPr txBox="1"/>
          <p:nvPr/>
        </p:nvSpPr>
        <p:spPr>
          <a:xfrm>
            <a:off x="2525572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除草机构选型</a:t>
            </a:r>
          </a:p>
        </p:txBody>
      </p:sp>
      <p:sp>
        <p:nvSpPr>
          <p:cNvPr id="6" name="AGENT_NAV_SLOT_2"/>
          <p:cNvSpPr/>
          <p:nvPr/>
        </p:nvSpPr>
        <p:spPr>
          <a:xfrm>
            <a:off x="4904841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GENT_NAV_LABEL_2"/>
          <p:cNvSpPr txBox="1"/>
          <p:nvPr/>
        </p:nvSpPr>
        <p:spPr>
          <a:xfrm>
            <a:off x="4904841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设计与控制原理</a:t>
            </a:r>
          </a:p>
        </p:txBody>
      </p:sp>
      <p:sp>
        <p:nvSpPr>
          <p:cNvPr id="8" name="AGENT_NAV_SLOT_3"/>
          <p:cNvSpPr/>
          <p:nvPr/>
        </p:nvSpPr>
        <p:spPr>
          <a:xfrm>
            <a:off x="7284110" y="27432"/>
            <a:ext cx="2379268" cy="347472"/>
          </a:xfrm>
          <a:prstGeom prst="rect">
            <a:avLst/>
          </a:prstGeom>
          <a:solidFill>
            <a:srgbClr val="8B0D18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GENT_NAV_LABEL_3"/>
          <p:cNvSpPr txBox="1"/>
          <p:nvPr/>
        </p:nvSpPr>
        <p:spPr>
          <a:xfrm>
            <a:off x="7284110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 ea="Microsoft YaHei">
                <a:solidFill>
                  <a:srgbClr val="FFFFFF"/>
                </a:solidFill>
                <a:latin typeface="Microsoft YaHei"/>
              </a:rPr>
              <a:t>进土深度问题</a:t>
            </a:r>
          </a:p>
        </p:txBody>
      </p:sp>
      <p:sp>
        <p:nvSpPr>
          <p:cNvPr id="10" name="AGENT_NAV_SLOT_4"/>
          <p:cNvSpPr/>
          <p:nvPr/>
        </p:nvSpPr>
        <p:spPr>
          <a:xfrm>
            <a:off x="9663379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GENT_NAV_LABEL_4"/>
          <p:cNvSpPr txBox="1"/>
          <p:nvPr/>
        </p:nvSpPr>
        <p:spPr>
          <a:xfrm>
            <a:off x="9663379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进度与下一步</a:t>
            </a:r>
          </a:p>
        </p:txBody>
      </p:sp>
      <p:sp>
        <p:nvSpPr>
          <p:cNvPr id="12" name="AGENT_FOOTER"/>
          <p:cNvSpPr txBox="1"/>
          <p:nvPr/>
        </p:nvSpPr>
        <p:spPr>
          <a:xfrm>
            <a:off x="320040" y="6510528"/>
            <a:ext cx="859536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纯视觉芍药行间除草机器人 · 组会汇报 · 2026-09-16</a:t>
            </a:r>
          </a:p>
        </p:txBody>
      </p:sp>
      <p:sp>
        <p:nvSpPr>
          <p:cNvPr id="13" name="AGENT_PAGE_NUMBER"/>
          <p:cNvSpPr txBox="1"/>
          <p:nvPr/>
        </p:nvSpPr>
        <p:spPr>
          <a:xfrm>
            <a:off x="11521440" y="6501384"/>
            <a:ext cx="256032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16</a:t>
            </a:r>
          </a:p>
        </p:txBody>
      </p:sp>
      <p:sp>
        <p:nvSpPr>
          <p:cNvPr id="14" name="AGENT_TITLE"/>
          <p:cNvSpPr txBox="1"/>
          <p:nvPr/>
        </p:nvSpPr>
        <p:spPr>
          <a:xfrm>
            <a:off x="320040" y="539496"/>
            <a:ext cx="1129284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0" ea="Microsoft YaHei">
                <a:solidFill>
                  <a:srgbClr val="8B0D18"/>
                </a:solidFill>
                <a:latin typeface="Microsoft YaHei"/>
              </a:rPr>
              <a:t>三条候选解法，倾向先用限深轮机械定深</a:t>
            </a:r>
          </a:p>
        </p:txBody>
      </p:sp>
      <p:sp>
        <p:nvSpPr>
          <p:cNvPr id="15" name="AGENT_SUMMARY_LINE_0"/>
          <p:cNvSpPr/>
          <p:nvPr/>
        </p:nvSpPr>
        <p:spPr>
          <a:xfrm>
            <a:off x="868680" y="1417320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GENT_SUMMARY_LABEL_0"/>
          <p:cNvSpPr txBox="1"/>
          <p:nvPr/>
        </p:nvSpPr>
        <p:spPr>
          <a:xfrm>
            <a:off x="960120" y="1527048"/>
            <a:ext cx="182880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ea="Microsoft YaHei">
                <a:solidFill>
                  <a:srgbClr val="8B0D18"/>
                </a:solidFill>
                <a:latin typeface="Microsoft YaHei"/>
              </a:rPr>
              <a:t>① 外置行程测量</a:t>
            </a:r>
          </a:p>
        </p:txBody>
      </p:sp>
      <p:sp>
        <p:nvSpPr>
          <p:cNvPr id="17" name="AGENT_SUMMARY_VALUE_0"/>
          <p:cNvSpPr txBox="1"/>
          <p:nvPr/>
        </p:nvSpPr>
        <p:spPr>
          <a:xfrm>
            <a:off x="2926080" y="1527048"/>
            <a:ext cx="790956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拉线位移计／电位计／标尺读数，改动最大</a:t>
            </a:r>
          </a:p>
        </p:txBody>
      </p:sp>
      <p:sp>
        <p:nvSpPr>
          <p:cNvPr id="18" name="AGENT_SUMMARY_LINE_1"/>
          <p:cNvSpPr/>
          <p:nvPr/>
        </p:nvSpPr>
        <p:spPr>
          <a:xfrm>
            <a:off x="868680" y="2480310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GENT_SUMMARY_LABEL_1"/>
          <p:cNvSpPr txBox="1"/>
          <p:nvPr/>
        </p:nvSpPr>
        <p:spPr>
          <a:xfrm>
            <a:off x="960120" y="2590038"/>
            <a:ext cx="182880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ea="Microsoft YaHei">
                <a:solidFill>
                  <a:srgbClr val="8B0D18"/>
                </a:solidFill>
                <a:latin typeface="Microsoft YaHei"/>
              </a:rPr>
              <a:t>② 时间推算</a:t>
            </a:r>
          </a:p>
        </p:txBody>
      </p:sp>
      <p:sp>
        <p:nvSpPr>
          <p:cNvPr id="20" name="AGENT_SUMMARY_VALUE_1"/>
          <p:cNvSpPr txBox="1"/>
          <p:nvPr/>
        </p:nvSpPr>
        <p:spPr>
          <a:xfrm>
            <a:off x="2926080" y="2590038"/>
            <a:ext cx="790956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t×10 mm/s，须先实测重复定位能否达 ±5 mm</a:t>
            </a:r>
          </a:p>
        </p:txBody>
      </p:sp>
      <p:sp>
        <p:nvSpPr>
          <p:cNvPr id="21" name="AGENT_SUMMARY_LINE_2"/>
          <p:cNvSpPr/>
          <p:nvPr/>
        </p:nvSpPr>
        <p:spPr>
          <a:xfrm>
            <a:off x="868680" y="3543300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GENT_SUMMARY_LABEL_2"/>
          <p:cNvSpPr txBox="1"/>
          <p:nvPr/>
        </p:nvSpPr>
        <p:spPr>
          <a:xfrm>
            <a:off x="960120" y="3653028"/>
            <a:ext cx="182880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ea="Microsoft YaHei">
                <a:solidFill>
                  <a:srgbClr val="8B0D18"/>
                </a:solidFill>
                <a:latin typeface="Microsoft YaHei"/>
              </a:rPr>
              <a:t>③ 限深轮定深</a:t>
            </a:r>
          </a:p>
        </p:txBody>
      </p:sp>
      <p:sp>
        <p:nvSpPr>
          <p:cNvPr id="23" name="AGENT_SUMMARY_VALUE_2"/>
          <p:cNvSpPr txBox="1"/>
          <p:nvPr/>
        </p:nvSpPr>
        <p:spPr>
          <a:xfrm>
            <a:off x="2926080" y="3653028"/>
            <a:ext cx="790956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机械保证深度，推杆只管升降；改动最小可先上田（默认）</a:t>
            </a:r>
          </a:p>
        </p:txBody>
      </p:sp>
      <p:sp>
        <p:nvSpPr>
          <p:cNvPr id="24" name="AGENT_SUMMARY_LINE_3"/>
          <p:cNvSpPr/>
          <p:nvPr/>
        </p:nvSpPr>
        <p:spPr>
          <a:xfrm>
            <a:off x="868680" y="4606290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AGENT_SUMMARY_LABEL_3"/>
          <p:cNvSpPr txBox="1"/>
          <p:nvPr/>
        </p:nvSpPr>
        <p:spPr>
          <a:xfrm>
            <a:off x="960120" y="4716018"/>
            <a:ext cx="182880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ea="Microsoft YaHei">
                <a:solidFill>
                  <a:srgbClr val="8B0D18"/>
                </a:solidFill>
                <a:latin typeface="Microsoft YaHei"/>
              </a:rPr>
              <a:t>判定依据</a:t>
            </a:r>
          </a:p>
        </p:txBody>
      </p:sp>
      <p:sp>
        <p:nvSpPr>
          <p:cNvPr id="26" name="AGENT_SUMMARY_VALUE_3"/>
          <p:cNvSpPr txBox="1"/>
          <p:nvPr/>
        </p:nvSpPr>
        <p:spPr>
          <a:xfrm>
            <a:off x="2926080" y="4716018"/>
            <a:ext cx="790956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决策 D6：台架达不到 ±5 mm 再加深度反馈</a:t>
            </a:r>
          </a:p>
        </p:txBody>
      </p:sp>
      <p:sp>
        <p:nvSpPr>
          <p:cNvPr id="27" name="AGENT_TAKEAWAY"/>
          <p:cNvSpPr txBox="1"/>
          <p:nvPr/>
        </p:nvSpPr>
        <p:spPr>
          <a:xfrm>
            <a:off x="868680" y="5989320"/>
            <a:ext cx="10195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ea="Microsoft YaHei">
                <a:solidFill>
                  <a:srgbClr val="8B0D18"/>
                </a:solidFill>
                <a:latin typeface="Microsoft YaHei"/>
              </a:rPr>
              <a:t>请组会给意见：走③作默认，还是必须一步到位上①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GENT_NAV_SLOT_0"/>
          <p:cNvSpPr/>
          <p:nvPr/>
        </p:nvSpPr>
        <p:spPr>
          <a:xfrm>
            <a:off x="146304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GENT_NAV_LABEL_0"/>
          <p:cNvSpPr txBox="1"/>
          <p:nvPr/>
        </p:nvSpPr>
        <p:spPr>
          <a:xfrm>
            <a:off x="146304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立题与约束</a:t>
            </a:r>
          </a:p>
        </p:txBody>
      </p:sp>
      <p:sp>
        <p:nvSpPr>
          <p:cNvPr id="4" name="AGENT_NAV_SLOT_1"/>
          <p:cNvSpPr/>
          <p:nvPr/>
        </p:nvSpPr>
        <p:spPr>
          <a:xfrm>
            <a:off x="2525572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GENT_NAV_LABEL_1"/>
          <p:cNvSpPr txBox="1"/>
          <p:nvPr/>
        </p:nvSpPr>
        <p:spPr>
          <a:xfrm>
            <a:off x="2525572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除草机构选型</a:t>
            </a:r>
          </a:p>
        </p:txBody>
      </p:sp>
      <p:sp>
        <p:nvSpPr>
          <p:cNvPr id="6" name="AGENT_NAV_SLOT_2"/>
          <p:cNvSpPr/>
          <p:nvPr/>
        </p:nvSpPr>
        <p:spPr>
          <a:xfrm>
            <a:off x="4904841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GENT_NAV_LABEL_2"/>
          <p:cNvSpPr txBox="1"/>
          <p:nvPr/>
        </p:nvSpPr>
        <p:spPr>
          <a:xfrm>
            <a:off x="4904841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设计与控制原理</a:t>
            </a:r>
          </a:p>
        </p:txBody>
      </p:sp>
      <p:sp>
        <p:nvSpPr>
          <p:cNvPr id="8" name="AGENT_NAV_SLOT_3"/>
          <p:cNvSpPr/>
          <p:nvPr/>
        </p:nvSpPr>
        <p:spPr>
          <a:xfrm>
            <a:off x="7284110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GENT_NAV_LABEL_3"/>
          <p:cNvSpPr txBox="1"/>
          <p:nvPr/>
        </p:nvSpPr>
        <p:spPr>
          <a:xfrm>
            <a:off x="7284110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进土深度问题</a:t>
            </a:r>
          </a:p>
        </p:txBody>
      </p:sp>
      <p:sp>
        <p:nvSpPr>
          <p:cNvPr id="10" name="AGENT_NAV_SLOT_4"/>
          <p:cNvSpPr/>
          <p:nvPr/>
        </p:nvSpPr>
        <p:spPr>
          <a:xfrm>
            <a:off x="9663379" y="27432"/>
            <a:ext cx="2379268" cy="347472"/>
          </a:xfrm>
          <a:prstGeom prst="rect">
            <a:avLst/>
          </a:prstGeom>
          <a:solidFill>
            <a:srgbClr val="8B0D18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GENT_NAV_LABEL_4"/>
          <p:cNvSpPr txBox="1"/>
          <p:nvPr/>
        </p:nvSpPr>
        <p:spPr>
          <a:xfrm>
            <a:off x="9663379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 ea="Microsoft YaHei">
                <a:solidFill>
                  <a:srgbClr val="FFFFFF"/>
                </a:solidFill>
                <a:latin typeface="Microsoft YaHei"/>
              </a:rPr>
              <a:t>进度与下一步</a:t>
            </a:r>
          </a:p>
        </p:txBody>
      </p:sp>
      <p:sp>
        <p:nvSpPr>
          <p:cNvPr id="12" name="AGENT_FOOTER"/>
          <p:cNvSpPr txBox="1"/>
          <p:nvPr/>
        </p:nvSpPr>
        <p:spPr>
          <a:xfrm>
            <a:off x="320040" y="6510528"/>
            <a:ext cx="859536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纯视觉芍药行间除草机器人 · 组会汇报 · 2026-09-16</a:t>
            </a:r>
          </a:p>
        </p:txBody>
      </p:sp>
      <p:sp>
        <p:nvSpPr>
          <p:cNvPr id="13" name="AGENT_PAGE_NUMBER"/>
          <p:cNvSpPr txBox="1"/>
          <p:nvPr/>
        </p:nvSpPr>
        <p:spPr>
          <a:xfrm>
            <a:off x="11521440" y="6501384"/>
            <a:ext cx="256032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17</a:t>
            </a:r>
          </a:p>
        </p:txBody>
      </p:sp>
      <p:sp>
        <p:nvSpPr>
          <p:cNvPr id="14" name="AGENT_TITLE"/>
          <p:cNvSpPr txBox="1"/>
          <p:nvPr/>
        </p:nvSpPr>
        <p:spPr>
          <a:xfrm>
            <a:off x="320040" y="539496"/>
            <a:ext cx="1129284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0" ea="Microsoft YaHei">
                <a:solidFill>
                  <a:srgbClr val="8B0D18"/>
                </a:solidFill>
                <a:latin typeface="Microsoft YaHei"/>
              </a:rPr>
              <a:t>进度按验证门讲，不按完成度百分比讲</a:t>
            </a:r>
          </a:p>
        </p:txBody>
      </p:sp>
      <p:sp>
        <p:nvSpPr>
          <p:cNvPr id="15" name="AGENT_SUMMARY_LINE_0"/>
          <p:cNvSpPr/>
          <p:nvPr/>
        </p:nvSpPr>
        <p:spPr>
          <a:xfrm>
            <a:off x="868680" y="1417320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GENT_SUMMARY_LABEL_0"/>
          <p:cNvSpPr txBox="1"/>
          <p:nvPr/>
        </p:nvSpPr>
        <p:spPr>
          <a:xfrm>
            <a:off x="960120" y="1527048"/>
            <a:ext cx="1828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ea="Microsoft YaHei">
                <a:solidFill>
                  <a:srgbClr val="8B0D18"/>
                </a:solidFill>
                <a:latin typeface="Microsoft YaHei"/>
              </a:rPr>
              <a:t>已完成</a:t>
            </a:r>
          </a:p>
        </p:txBody>
      </p:sp>
      <p:sp>
        <p:nvSpPr>
          <p:cNvPr id="17" name="AGENT_SUMMARY_VALUE_0"/>
          <p:cNvSpPr txBox="1"/>
          <p:nvPr/>
        </p:nvSpPr>
        <p:spPr>
          <a:xfrm>
            <a:off x="2926080" y="1527048"/>
            <a:ext cx="7909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设计定义、代码实现、固件可复现编译 0 错误</a:t>
            </a:r>
          </a:p>
        </p:txBody>
      </p:sp>
      <p:sp>
        <p:nvSpPr>
          <p:cNvPr id="18" name="AGENT_SUMMARY_LINE_1"/>
          <p:cNvSpPr/>
          <p:nvPr/>
        </p:nvSpPr>
        <p:spPr>
          <a:xfrm>
            <a:off x="868680" y="2267712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GENT_SUMMARY_LABEL_1"/>
          <p:cNvSpPr txBox="1"/>
          <p:nvPr/>
        </p:nvSpPr>
        <p:spPr>
          <a:xfrm>
            <a:off x="960120" y="2377440"/>
            <a:ext cx="1828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ea="Microsoft YaHei">
                <a:solidFill>
                  <a:srgbClr val="8B0D18"/>
                </a:solidFill>
                <a:latin typeface="Microsoft YaHei"/>
              </a:rPr>
              <a:t>卡在哪</a:t>
            </a:r>
          </a:p>
        </p:txBody>
      </p:sp>
      <p:sp>
        <p:nvSpPr>
          <p:cNvPr id="20" name="AGENT_SUMMARY_VALUE_1"/>
          <p:cNvSpPr txBox="1"/>
          <p:nvPr/>
        </p:nvSpPr>
        <p:spPr>
          <a:xfrm>
            <a:off x="2926080" y="2377440"/>
            <a:ext cx="7909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烧录→对拍→安全实测是串行门槛，不是没做</a:t>
            </a:r>
          </a:p>
        </p:txBody>
      </p:sp>
      <p:sp>
        <p:nvSpPr>
          <p:cNvPr id="21" name="AGENT_SUMMARY_LINE_2"/>
          <p:cNvSpPr/>
          <p:nvPr/>
        </p:nvSpPr>
        <p:spPr>
          <a:xfrm>
            <a:off x="868680" y="3118104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GENT_SUMMARY_LABEL_2"/>
          <p:cNvSpPr txBox="1"/>
          <p:nvPr/>
        </p:nvSpPr>
        <p:spPr>
          <a:xfrm>
            <a:off x="960120" y="3227832"/>
            <a:ext cx="1828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ea="Microsoft YaHei">
                <a:solidFill>
                  <a:srgbClr val="8B0D18"/>
                </a:solidFill>
                <a:latin typeface="Microsoft YaHei"/>
              </a:rPr>
              <a:t>本周期死线</a:t>
            </a:r>
          </a:p>
        </p:txBody>
      </p:sp>
      <p:sp>
        <p:nvSpPr>
          <p:cNvPr id="23" name="AGENT_SUMMARY_VALUE_2"/>
          <p:cNvSpPr txBox="1"/>
          <p:nvPr/>
        </p:nvSpPr>
        <p:spPr>
          <a:xfrm>
            <a:off x="2926080" y="3227832"/>
            <a:ext cx="7909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10 月中前秋季窗口：采集 + 自主沿行预实验</a:t>
            </a:r>
          </a:p>
        </p:txBody>
      </p:sp>
      <p:sp>
        <p:nvSpPr>
          <p:cNvPr id="24" name="AGENT_SUMMARY_LINE_3"/>
          <p:cNvSpPr/>
          <p:nvPr/>
        </p:nvSpPr>
        <p:spPr>
          <a:xfrm>
            <a:off x="868680" y="3968496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AGENT_SUMMARY_LABEL_3"/>
          <p:cNvSpPr txBox="1"/>
          <p:nvPr/>
        </p:nvSpPr>
        <p:spPr>
          <a:xfrm>
            <a:off x="960120" y="4078224"/>
            <a:ext cx="1828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ea="Microsoft YaHei">
                <a:solidFill>
                  <a:srgbClr val="8B0D18"/>
                </a:solidFill>
                <a:latin typeface="Microsoft YaHei"/>
              </a:rPr>
              <a:t>秋季做</a:t>
            </a:r>
          </a:p>
        </p:txBody>
      </p:sp>
      <p:sp>
        <p:nvSpPr>
          <p:cNvPr id="26" name="AGENT_SUMMARY_VALUE_3"/>
          <p:cNvSpPr txBox="1"/>
          <p:nvPr/>
        </p:nvSpPr>
        <p:spPr>
          <a:xfrm>
            <a:off x="2926080" y="4078224"/>
            <a:ext cx="7909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刀抬起空跑，只测沿行偏差与失效记录</a:t>
            </a:r>
          </a:p>
        </p:txBody>
      </p:sp>
      <p:sp>
        <p:nvSpPr>
          <p:cNvPr id="27" name="AGENT_SUMMARY_LINE_4"/>
          <p:cNvSpPr/>
          <p:nvPr/>
        </p:nvSpPr>
        <p:spPr>
          <a:xfrm>
            <a:off x="868680" y="4818888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AGENT_SUMMARY_LABEL_4"/>
          <p:cNvSpPr txBox="1"/>
          <p:nvPr/>
        </p:nvSpPr>
        <p:spPr>
          <a:xfrm>
            <a:off x="960120" y="4928616"/>
            <a:ext cx="1828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ea="Microsoft YaHei">
                <a:solidFill>
                  <a:srgbClr val="8B0D18"/>
                </a:solidFill>
                <a:latin typeface="Microsoft YaHei"/>
              </a:rPr>
              <a:t>春季做</a:t>
            </a:r>
          </a:p>
        </p:txBody>
      </p:sp>
      <p:sp>
        <p:nvSpPr>
          <p:cNvPr id="29" name="AGENT_SUMMARY_VALUE_4"/>
          <p:cNvSpPr txBox="1"/>
          <p:nvPr/>
        </p:nvSpPr>
        <p:spPr>
          <a:xfrm>
            <a:off x="2926080" y="4928616"/>
            <a:ext cx="7909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刀控接入、主动刀对固定刀、除草率与伤苗率</a:t>
            </a:r>
          </a:p>
        </p:txBody>
      </p:sp>
      <p:sp>
        <p:nvSpPr>
          <p:cNvPr id="30" name="AGENT_TAKEAWAY"/>
          <p:cNvSpPr txBox="1"/>
          <p:nvPr/>
        </p:nvSpPr>
        <p:spPr>
          <a:xfrm>
            <a:off x="868680" y="5989320"/>
            <a:ext cx="10195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ea="Microsoft YaHei">
                <a:solidFill>
                  <a:srgbClr val="8B0D18"/>
                </a:solidFill>
                <a:latin typeface="Microsoft YaHei"/>
              </a:rPr>
              <a:t>禁止实车 AUTO 与带动力接线的门槛，目前仍未解除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GENT_CLOSING"/>
          <p:cNvSpPr txBox="1"/>
          <p:nvPr/>
        </p:nvSpPr>
        <p:spPr>
          <a:xfrm>
            <a:off x="868680" y="2697480"/>
            <a:ext cx="10451592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400" b="0" ea="Microsoft YaHei">
                <a:solidFill>
                  <a:srgbClr val="1E1E1E"/>
                </a:solidFill>
                <a:latin typeface="Microsoft YaHei"/>
              </a:rPr>
              <a:t>汇报完毕，敬请批评指正！</a:t>
            </a:r>
          </a:p>
        </p:txBody>
      </p:sp>
      <p:sp>
        <p:nvSpPr>
          <p:cNvPr id="3" name="AGENT_CLOSING_META"/>
          <p:cNvSpPr txBox="1"/>
          <p:nvPr/>
        </p:nvSpPr>
        <p:spPr>
          <a:xfrm>
            <a:off x="1828800" y="3977639"/>
            <a:ext cx="8503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ea="Microsoft YaHei">
                <a:solidFill>
                  <a:srgbClr val="696969"/>
                </a:solidFill>
                <a:latin typeface="Microsoft YaHei"/>
              </a:rPr>
              <a:t>讨论：① 进土深度走哪条路　② 鸭掌铲幅宽何时补测
③ 春季田块需书面确认　｜　全部依据与台账在仓库可查</a:t>
            </a:r>
          </a:p>
        </p:txBody>
      </p:sp>
      <p:sp>
        <p:nvSpPr>
          <p:cNvPr id="4" name="AGENT_CLOSING_BOTTOM_BAND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